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1: COVER
Say: "My name is Dhimy Jean. I'm a computer science student at BMCC in New York, and I built DHIMIX AI — an explainable AI music intelligence platform that I'm going to walk you through today.
This is not a demo. This is a deployed, production-grade system built from scratch — from a Python CLI algorithm to a full Next.js SaaS platform with cloud streaming and live AI confidence scoring.
I scored 110% on the final project — 22 out of 20 — through CodePath's AI110 program. And the story of how this got built is as interesting as the system itself."
KEY POINTS TO HIT:
• Your name, school, program
• 110% score — say it with confidence, not bragging
• "Not a demo" — this is live and deployed
• Set up the story before the technical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2: THE PROBLEM
Say: "Every recommendation system I've ever seen has the same problem. It gives you a result and says nothing else. No explanation. No confidence level. No reasoning.
And here's what happens when AI gives you answers without explaining itself — people stop trusting it. The insight is there, but it never lands.
That's the problem DHIMIX AI was designed to solve from day one. Not just 'what should I listen to?' but 'why this song, how confident are you, and what evidence supports this choice?'"
KEY POINTS TO HIT:
• Black box AI is a trust problem, not a technical problem
• Three failure modes: no explanation, no confidence, no trust
• Frame your solution as explainability-first from the beginning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3: THE SOLUTION
Say: "DHIMIX AI gives every single recommendation four layers of reasoning.
First, an AI score — a number like 8.2 or 6.5 that represents the composite match quality. Second, a confidence tier — High, Medium, or Low — with a visual progress bar showing the percentage. Third, evidence tags — KB1, KB5, R2 — that trace exactly which knowledge base signals and retrieval sources contributed to the match. And fourth, a 'Why this song?' panel that opens up and gives you the reasoning in plain English.
This is what it means to build explainability into the architecture. Every recommendation can be questioned. Every recommendation can be understood."
KEY POINTS TO HIT:
• Four layers, name all four
• "Every recommendation can be questioned and understood"
• The principle: explainability is not added on top, it's designed in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4: EVOLUTION
Say: "This project didn't start as a SaaS platform. It started as a Python command-line program for a class.
Phase one was BMCC — OOP, algorithms, data structures. The foundations. Phase two was CodePath AI110 — where I built the original CLI recommender and scored 22 out of 20. Phase three was when I started working with AI agents in autonomous implementation mode. Phase four is the live production platform you're seeing today.
The important thing is nothing was thrown away. The Python scoring engine from the CLI is still running inside the platform. The confidence scoring from AI110 is still the same algorithm. Every phase built on the one before it."
KEY POINTS TO HIT:
• Linear progression, each phase has a purpose
• "Nothing was thrown away" — shows engineering continuity
• The CLI algorithm is still inside the production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5: ARCHITECTURE
Say: "The system has six layers, each with a specific job.
User input flows into retrieval — where we query the cloud library of 53 tracks and find candidates. Those candidates go through the scoring engine, which calculates a composite score using weighted features. Then the confidence engine evaluates how certain we are about each result. The explainability layer generates the reasoning. And the streaming layer serves the actual audio from Cloudflare R2.
Every layer is observable. Every layer has logs. Every layer can fail gracefully. That's what makes this a system and not just a script."
KEY POINTS TO HIT:
• Six discrete layers with clear responsibilities
• Each layer is observable and can fail gracefully
• Data flows one direction, each layer adds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6: ALGORITHM
Say: "The scoring formula is a weighted linear combination over four features, minus a diversity penalty.
Genre is weighted highest at 0.35 because it's the strongest predictor of what someone actually wants to hear. Mood and energy are each 0.25. Acoustic preference adds 0.10. And there's a RAG boost from our knowledge base when the retrieval evidence supports the recommendation.
I used three specific mathematical functions. Jaccard similarity for genre — that's set theory, measuring the overlap between genre sets. A Gaussian kernel for energy — that creates a smooth proximity curve instead of binary matching. And a retrieval-augmented evidence boost from our knowledge base.
These weren't random choices. Each one was calibrated through empirical testing."
KEY POINTS TO HIT:
• Name the weights and explain why genre is highest
• Name the three math concepts: Jaccard, Gaussian, RAG
• "Empirically calibrated" — tested, not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7: CONFIDENCE
Say: "One of the most important decisions in this system was separating score from confidence.
A song can have a high composite score and still have low confidence — if the retrieval pool was shallow, if the preference signals were sparse, if the system wasn't sure. These are different things and they tell the user different things.
The confidence formula combines three factors: coverage — how many candidates we found in retrieval; signal — how aligned the pool was with the user's preferences; and specificity — how complete the user's input was.
We measured the average confidence across our four test profiles at 0.599. That's not a failure — that's honest. The system is telling you exactly how certain it is."
KEY POINTS TO HIT:
• Score ≠ confidence — this distinction is the key insight
• Three factors in the formula, name them
• 0.599 average is honesty, not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8: RAG / KNOWLEDGE BASE
Say: "The system implements a lightweight RAG pattern — Retrieval-Augmented Generation. Before scoring, songs are augmented with context notes from a six-entry knowledge base.
Each KB note has semantic tags. When a song's context note matches the user's preference profile, a confidence boost is applied. KB1 is about genre familiarity — pop and indie-pop perform well for upbeat requests. KB2 is about focus listening — lofi plus moderate energy for study contexts. KB3 through KB6 cover intensity, acoustic preference, dance profiles, and diversity.
This is the retrieval layer you see in the AI Insights screen as weight distributions and evidence tags. It's what makes KB1 and KB5 show up on your recommendation card."
KEY POINTS TO HIT:
• RAG = retrieval before generation, not pure generation
• Each KB note has a specific behavioral rule
• This is what the evidence tags on the recommendation cards represent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9: RELIABILITY
Say: "I ran four pytest tests — all passed. I ran four profile evaluations — all passed. Average confidence 0.599. Zero crashes on bad input.
But the most important test was the adversarial profile. I gave the system lofi genre, intense mood, and maximum energy. These inputs are internally contradictory — lofi is inherently low energy, and I set energy to 1.0.
A naive system would crash, return nothing, or produce random output. DHIMIX AI returned stable, coherent recommendations with non-zero confidence scores.
That's what weighted scoring with retrieval evidence does — it provides enough signal stability to hold together even when the inputs are in conflict. That's what I mean by production reliability."
KEY POINTS TO HIT:
• Name the contradiction: lofi + intense + max energy
• The result was stable, not crashed
• Explain why: weighted scoring provides signal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10: LIVE PLATFORM
Say: "This is what the platform looks like when it's running. Four status indicators at the top: Cloud Library Connected, R2 Streaming Active, 53 Tracks Indexed, AI Engine Active. These aren't decorative — they're real-time telemetry.
Six major sections. The Discover Dashboard where you input your preferences and get ranked recommendations with confidence scores. AI Insights where you can see the scoring strategies and weight distributions. Analytics with live session telemetry. Profile and history with your session data. Settings with six AI atmosphere themes. And the streaming layer connecting everything to Cloudflare R2.
By the time someone gets their first recommendation, the system has already logged their session, retrieved candidates, scored them, calculated confidence, attached explanations, and prepared the signed URL for streaming."
KEY POINTS TO HIT:
• Status indicators are real telemetry, not decoration
• Walk through the six sections briefly
• Describe the full pipeline that runs for one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11: TECH STACK
Say: "Four categories. Frontend is Next.js 14 with React 18, TypeScript — which makes up 78% of the codebase — TailwindCSS, and Framer Motion for the animations. Backend is Python with FastAPI serving the API layer. Infrastructure is Cloudflare R2 for cloud storage, Vercel for deployment, Docker for local development, and GitHub for CI/CD. And the AI systems layer is what we've been discussing — retrieval, scoring, RAG, confidence, and explainability.
TypeScript at 78% is the number I'm most proud of from a code quality standpoint. That means the entire frontend is type-safe. Every API contract is typed. That's what allowed Claude to operate autonomously without breaking the system — because there was a type layer enforcing the contracts."
KEY POINTS TO HIT:
• TypeScript 78% is the quality signal
• Four categories map to four engineering responsibilities
• The type layer is what enabled safe autonomous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12: AI-ASSISTED ENGINEERING
Say: "I want to be completely honest about how this was built. I used Claude Code in autonomous implementation mode. Over 100 tool operations. That's real.
But here's the distinction that matters: there's a difference between AI writing code and an engineer directing AI toward a coherent product vision. These are not the same thing.
AI handled the scaffolding, the boilerplate, the first-pass implementations. It ran builds, checked types, fixed lint errors. It was incredibly effective at implementation.
What stayed human: every architectural decision. The scoring weight calibration. The explainability philosophy. The product direction. And critically — I rejected AI outputs that didn't meet the standard. The system works because an engineer supervised it, not because AI built it."
KEY POINTS TO HIT:
• Be honest about using AI tools — don't hide it
• The distinction: implementation vs architecture
• "I rejected outputs that didn't meet the standard" — this is engineering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13: THE SHIFT
Say: "The single thing that made this work was changing how I thought about prompting.
Early in the project I would say things like 'build a page.' That produces mediocre results at speed. You get something that looks right but has no coherence, no architecture, no design intent.
The shift was from asking to directing. 'Operate as a senior product engineer. Execute incrementally with production-grade standards. Verify build, lint, and type safety after each phase.'
That's not a prompt. That's an engineering contract. And it changes everything.
The engineer's job is not to ask AI for outputs. It is to direct AI toward outcomes."
KEY POINTS TO HIT:
• Quote both prompts — they're memorable
• "Asking vs directing" is the key distinction
• This is a transferable lesson about working with AI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14: THE PEOPLE
Say: "Engineering is never built alone, and I want to acknowledge the people who made this possible.
Tamica Fairley at CUNY 2X Tech transformed how I see myself as an engineer. She redirected my path from student completing assignments to engineer building systems that matter.
Jason Wodicka from Amazon and CodePath AI110 fundamentally changed how I think about AI tools. The lesson wasn't about any specific technology — it was about remaining excellent regardless of how the tools evolve.
TeLisa Daughtry connected me to my Walkspan internship, where I built a computer vision prototype for sidewalk crack detection that the CEO said exceeded her expectations.
And the BMCC faculty — Prof. Yan, Dr. Byron, Prof. Azhar — built the foundations that every line of code in this system stands on."
KEY POINTS TO HIT:
• Name each person and their specific contribution
• Tamica's impact was psychological, not technical
• Jason's lesson: excellence regardless of tools
• BMCC faculty built the CS foundations the algorithms run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15: OTHER PROJECTS
Say: "Two other projects worth knowing about.
BridgeAI was built for the CUNY AI Innovation Challenge — we were runner-up in the software track. It helps CUNY students find scholarships, benefits, and support programs through AI-assisted profile matching and deterministic eligibility logic. I worked on the full-stack engineering: typed API contracts, health checks, Playwright E2E testing, Docker workflows.
Walkspan AI was my professional internship. The CEO Bernardita Calinao described a vision for sidewalk crack detection using computer vision. There was no spec, no team, no existing codebase. I built a DeepLabV3 semantic segmentation pipeline from scratch, processed 237 image-mask pairs, achieved 46.4% IoU and 59% F1, and delivered a full technical report with an NSF-aligned proposal. She said it exceeded her expectations.
Both projects reinforced the same lesson: the hard part isn't building the model. It's making the output useful to a real person."
KEY POINTS TO HIT:
• BridgeAI: civic impact, CUNY students, runner-up
• Walkspan: built from nothing, CEO's exact words
• Both reinforce: hard part is output for real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16: LESSONS
Say: "Four lessons that I'll carry into every project from here.
First: reliability is designed in, not tested in. You can't add fallback behavior and confidence scoring at the end. They have to be part of the architecture from the beginning.
Second: AI amplifies judgment, not replaces it. The engineers who will thrive are not the ones who use AI tools most — they're the ones who use them with the most intention and clarity.
Third: constraints force better decisions. Single engineer, small dataset, compressed timeline — these constraints produced a system that prioritizes explainability over opacity, clarity over complexity. Constraints are not obstacles, they're design inputs.
Fourth: trust is built through transparency. A system that shows its work earns more trust than one that delivers answers from nowhere."
KEY POINTS TO HIT:
• Four lessons, each with a short version and a long version
• Practice saying the short version alone — it's quotable
• These are transferable, not project-specific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17: FUTURE OF ENGINEERING
Say: "I want to address something directly. A lot of people are worried that AI will replace software engineers. I think that's the wrong frame.
What's happening is the engineer's role is evolving from implementer to orchestrator. From writing every line to architecting systems and supervising autonomous execution. From prompting for output to prompting for engineering behavior.
The engineers who will be left behind are not the ones who don't know how to code. They're the ones who think access to AI tools is a substitute for engineering judgment.
The core foundations of computer science — the algorithms, the data structures, the systems thinking — those become more important, not less. Because someone has to know when the AI is wrong."
KEY POINTS TO HIT:
• Reframe the AI fear: it's evolution, not replacement
• "Implementer to orchestrator" is the shift
• Core CS foundations become MORE important
• "Someone has to know when the AI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18: ROADMAP
Say: "Three high-priority items on the roadmap.
Spotify OAuth — real playback integration so every recommendation can be immediately listened to. Vector embedding retrieval — moving from rule-based scoring to semantic similarity so the system can understand meaning, not just tags. And AI reasoning chains — a full chain-of-thought explanation mode where the system can show you every step of its reasoning.
The collaborative filtering layer and user accounts are medium priority — they require user data to be meaningful, so they come after the core intelligence layer is stronger.
And confidence calibration through user feedback — that's the closing loop. When users tell the system whether a recommendation was right, the confidence model improves."
KEY POINTS TO HIT:
• Three high-priority items, name the specific value of each
• Vector embeddings = semantic understanding, not just tags
• Confidence calibration closes the feedback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19: NUMBERS
Say: "Let me put the key numbers on one slide.
22 out of 20 on CodePath AI110 — 110%, honor grade. Over 100 autonomous AI tool operations in the frontend build. 4 out of 4 test profiles passed. 53 tracks indexed in the cloud library. 78% TypeScript coverage across the frontend codebase. 0.599 average confidence — measured, not estimated. 46.4% IoU on the Walkspan computer vision pipeline. And 2,000-plus customers on the platform I founded and engineered.
These aren't vanity metrics. Each one represents a specific engineering decision made deliberately."
KEY POINTS TO HIT:
• Say each number with a one-sentence explanation
• "Measured, not estimated" for the confidence score
• "Each one represents a specific decision" — connects numbers to engineering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NOTES — SLIDE 20: CLOSING
Say: "To close: this project represents something specific to me. It's not a demo. It's not a school assignment that I dressed up nicely. It's a production-grade AI system that I built from a Python algorithm to a deployed platform — with explainability at every layer, confidence scoring on every output, and real cloud streaming.
The principle I want to leave you with: explainability is not a feature. It is architecture. When you design a system, the question isn't 'should I add explainability?' The question is 'how does this system show its work?'
I'm Dhimy Jean. You can find me on GitHub at dhimysoft. I'd love to talk."
KEY POINTS TO HIT:
• Close with the core principle — say it clearly
• "Not a demo" — this is live
• Leave them with one memorable line
• Smile, make eye contact, pause before saying your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1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C3AED"/>
          </a:solidFill>
          <a:ln w="12700">
            <a:solidFill>
              <a:srgbClr val="7C3AED"/>
            </a:solidFill>
            <a:prstDash val="solid"/>
          </a:ln>
        </p:spPr>
      </p:sp>
      <p:sp>
        <p:nvSpPr>
          <p:cNvPr id="3" name="Shape 1"/>
          <p:cNvSpPr/>
          <p:nvPr/>
        </p:nvSpPr>
        <p:spPr>
          <a:xfrm>
            <a:off x="5029200" y="-914400"/>
            <a:ext cx="5486400" cy="5486400"/>
          </a:xfrm>
          <a:prstGeom prst="ellipse">
            <a:avLst/>
          </a:prstGeom>
          <a:solidFill>
            <a:srgbClr val="7C3AED">
              <a:alpha val="12000"/>
            </a:srgbClr>
          </a:solidFill>
          <a:ln w="12700">
            <a:solidFill>
              <a:srgbClr val="7C3AED">
                <a:alpha val="12000"/>
              </a:srgbClr>
            </a:solidFill>
            <a:prstDash val="solid"/>
          </a:ln>
        </p:spPr>
      </p:sp>
      <p:sp>
        <p:nvSpPr>
          <p:cNvPr id="4" name="Shape 2"/>
          <p:cNvSpPr/>
          <p:nvPr/>
        </p:nvSpPr>
        <p:spPr>
          <a:xfrm>
            <a:off x="548640" y="457200"/>
            <a:ext cx="2093976" cy="256032"/>
          </a:xfrm>
          <a:prstGeom prst="roundRect">
            <a:avLst>
              <a:gd name="adj" fmla="val 14286"/>
            </a:avLst>
          </a:prstGeom>
          <a:solidFill>
            <a:srgbClr val="7C3AED">
              <a:alpha val="80000"/>
            </a:srgbClr>
          </a:solidFill>
          <a:ln w="12700">
            <a:solidFill>
              <a:srgbClr val="7C3AED"/>
            </a:solidFill>
            <a:prstDash val="solid"/>
          </a:ln>
        </p:spPr>
      </p:sp>
      <p:sp>
        <p:nvSpPr>
          <p:cNvPr id="5" name="Text 3"/>
          <p:cNvSpPr/>
          <p:nvPr/>
        </p:nvSpPr>
        <p:spPr>
          <a:xfrm>
            <a:off x="548640" y="457200"/>
            <a:ext cx="2093976" cy="256032"/>
          </a:xfrm>
          <a:prstGeom prst="rect">
            <a:avLst/>
          </a:prstGeom>
          <a:noFill/>
          <a:ln/>
        </p:spPr>
        <p:txBody>
          <a:bodyPr wrap="square" lIns="0" tIns="0" rIns="0" bIns="0" rtlCol="0" anchor="ctr"/>
          <a:lstStyle/>
          <a:p>
            <a:pPr algn="ctr" indent="0" marL="0">
              <a:buNone/>
            </a:pPr>
            <a:r>
              <a:rPr lang="en-US" sz="900" b="1" dirty="0">
                <a:solidFill>
                  <a:srgbClr val="FFFFFF"/>
                </a:solidFill>
              </a:rPr>
              <a:t>AI SYSTEMS ENGINEERING</a:t>
            </a:r>
            <a:endParaRPr lang="en-US" sz="900" dirty="0"/>
          </a:p>
        </p:txBody>
      </p:sp>
      <p:sp>
        <p:nvSpPr>
          <p:cNvPr id="6" name="Text 4"/>
          <p:cNvSpPr/>
          <p:nvPr/>
        </p:nvSpPr>
        <p:spPr>
          <a:xfrm>
            <a:off x="457200" y="914400"/>
            <a:ext cx="5486400" cy="1188720"/>
          </a:xfrm>
          <a:prstGeom prst="rect">
            <a:avLst/>
          </a:prstGeom>
          <a:noFill/>
          <a:ln/>
        </p:spPr>
        <p:txBody>
          <a:bodyPr wrap="square" rtlCol="0" anchor="ctr"/>
          <a:lstStyle/>
          <a:p>
            <a:pPr indent="0" marL="0">
              <a:buNone/>
            </a:pPr>
            <a:r>
              <a:rPr lang="en-US" sz="5800" b="1" dirty="0">
                <a:solidFill>
                  <a:srgbClr val="FFFFFF"/>
                </a:solidFill>
                <a:latin typeface="Calibri" pitchFamily="34" charset="0"/>
                <a:ea typeface="Calibri" pitchFamily="34" charset="-122"/>
                <a:cs typeface="Calibri" pitchFamily="34" charset="-120"/>
              </a:rPr>
              <a:t>DHIMIX AI</a:t>
            </a:r>
            <a:endParaRPr lang="en-US" sz="5800" dirty="0"/>
          </a:p>
        </p:txBody>
      </p:sp>
      <p:sp>
        <p:nvSpPr>
          <p:cNvPr id="7" name="Text 5"/>
          <p:cNvSpPr/>
          <p:nvPr/>
        </p:nvSpPr>
        <p:spPr>
          <a:xfrm>
            <a:off x="457200" y="2011680"/>
            <a:ext cx="6400800" cy="457200"/>
          </a:xfrm>
          <a:prstGeom prst="rect">
            <a:avLst/>
          </a:prstGeom>
          <a:noFill/>
          <a:ln/>
        </p:spPr>
        <p:txBody>
          <a:bodyPr wrap="square" rtlCol="0" anchor="ctr"/>
          <a:lstStyle/>
          <a:p>
            <a:pPr indent="0" marL="0">
              <a:buNone/>
            </a:pPr>
            <a:r>
              <a:rPr lang="en-US" sz="1800" i="1" dirty="0">
                <a:solidFill>
                  <a:srgbClr val="DDD6FE"/>
                </a:solidFill>
              </a:rPr>
              <a:t>Engineering Intelligence Through Systems</a:t>
            </a:r>
            <a:endParaRPr lang="en-US" sz="1800" dirty="0"/>
          </a:p>
        </p:txBody>
      </p:sp>
      <p:sp>
        <p:nvSpPr>
          <p:cNvPr id="8" name="Shape 6"/>
          <p:cNvSpPr/>
          <p:nvPr/>
        </p:nvSpPr>
        <p:spPr>
          <a:xfrm>
            <a:off x="457200" y="2606040"/>
            <a:ext cx="3200400" cy="27432"/>
          </a:xfrm>
          <a:prstGeom prst="rect">
            <a:avLst/>
          </a:prstGeom>
          <a:solidFill>
            <a:srgbClr val="06B6D4"/>
          </a:solidFill>
          <a:ln w="12700">
            <a:solidFill>
              <a:srgbClr val="06B6D4"/>
            </a:solidFill>
            <a:prstDash val="solid"/>
          </a:ln>
        </p:spPr>
      </p:sp>
      <p:sp>
        <p:nvSpPr>
          <p:cNvPr id="9" name="Text 7"/>
          <p:cNvSpPr/>
          <p:nvPr/>
        </p:nvSpPr>
        <p:spPr>
          <a:xfrm>
            <a:off x="457200" y="2834640"/>
            <a:ext cx="6400800" cy="320040"/>
          </a:xfrm>
          <a:prstGeom prst="rect">
            <a:avLst/>
          </a:prstGeom>
          <a:noFill/>
          <a:ln/>
        </p:spPr>
        <p:txBody>
          <a:bodyPr wrap="square" rtlCol="0" anchor="ctr"/>
          <a:lstStyle/>
          <a:p>
            <a:pPr indent="0" marL="0">
              <a:buNone/>
            </a:pPr>
            <a:r>
              <a:rPr lang="en-US" sz="1300" dirty="0">
                <a:solidFill>
                  <a:srgbClr val="94A3B8"/>
                </a:solidFill>
              </a:rPr>
              <a:t>Dhimy Jean  ·  BMCC Computer Science  ·  CodePath AI110</a:t>
            </a:r>
            <a:endParaRPr lang="en-US" sz="1300" dirty="0"/>
          </a:p>
        </p:txBody>
      </p:sp>
      <p:sp>
        <p:nvSpPr>
          <p:cNvPr id="10" name="Text 8"/>
          <p:cNvSpPr/>
          <p:nvPr/>
        </p:nvSpPr>
        <p:spPr>
          <a:xfrm>
            <a:off x="457200" y="3200400"/>
            <a:ext cx="4572000" cy="274320"/>
          </a:xfrm>
          <a:prstGeom prst="rect">
            <a:avLst/>
          </a:prstGeom>
          <a:noFill/>
          <a:ln/>
        </p:spPr>
        <p:txBody>
          <a:bodyPr wrap="square" rtlCol="0" anchor="ctr"/>
          <a:lstStyle/>
          <a:p>
            <a:pPr indent="0" marL="0">
              <a:buNone/>
            </a:pPr>
            <a:r>
              <a:rPr lang="en-US" sz="1100" b="1" dirty="0">
                <a:solidFill>
                  <a:srgbClr val="F59E0B"/>
                </a:solidFill>
              </a:rPr>
              <a:t>Score: 22/20 — 110%  ·  Spring 2026</a:t>
            </a:r>
            <a:endParaRPr lang="en-US" sz="1100" dirty="0"/>
          </a:p>
        </p:txBody>
      </p:sp>
      <p:sp>
        <p:nvSpPr>
          <p:cNvPr id="11" name="Shape 9"/>
          <p:cNvSpPr/>
          <p:nvPr/>
        </p:nvSpPr>
        <p:spPr>
          <a:xfrm>
            <a:off x="7132320" y="1097280"/>
            <a:ext cx="1051560" cy="256032"/>
          </a:xfrm>
          <a:prstGeom prst="roundRect">
            <a:avLst>
              <a:gd name="adj" fmla="val 14286"/>
            </a:avLst>
          </a:prstGeom>
          <a:solidFill>
            <a:srgbClr val="1E1B4B">
              <a:alpha val="80000"/>
            </a:srgbClr>
          </a:solidFill>
          <a:ln w="12700">
            <a:solidFill>
              <a:srgbClr val="1E1B4B"/>
            </a:solidFill>
            <a:prstDash val="solid"/>
          </a:ln>
        </p:spPr>
      </p:sp>
      <p:sp>
        <p:nvSpPr>
          <p:cNvPr id="12" name="Text 10"/>
          <p:cNvSpPr/>
          <p:nvPr/>
        </p:nvSpPr>
        <p:spPr>
          <a:xfrm>
            <a:off x="7132320" y="1097280"/>
            <a:ext cx="1051560" cy="256032"/>
          </a:xfrm>
          <a:prstGeom prst="rect">
            <a:avLst/>
          </a:prstGeom>
          <a:noFill/>
          <a:ln/>
        </p:spPr>
        <p:txBody>
          <a:bodyPr wrap="square" lIns="0" tIns="0" rIns="0" bIns="0" rtlCol="0" anchor="ctr"/>
          <a:lstStyle/>
          <a:p>
            <a:pPr algn="ctr" indent="0" marL="0">
              <a:buNone/>
            </a:pPr>
            <a:r>
              <a:rPr lang="en-US" sz="900" b="1" dirty="0">
                <a:solidFill>
                  <a:srgbClr val="DDD6FE"/>
                </a:solidFill>
              </a:rPr>
              <a:t>Next.js 14</a:t>
            </a:r>
            <a:endParaRPr lang="en-US" sz="900" dirty="0"/>
          </a:p>
        </p:txBody>
      </p:sp>
      <p:sp>
        <p:nvSpPr>
          <p:cNvPr id="13" name="Shape 11"/>
          <p:cNvSpPr/>
          <p:nvPr/>
        </p:nvSpPr>
        <p:spPr>
          <a:xfrm>
            <a:off x="7132320" y="1600200"/>
            <a:ext cx="1051560" cy="256032"/>
          </a:xfrm>
          <a:prstGeom prst="roundRect">
            <a:avLst>
              <a:gd name="adj" fmla="val 14286"/>
            </a:avLst>
          </a:prstGeom>
          <a:solidFill>
            <a:srgbClr val="1E1B4B">
              <a:alpha val="80000"/>
            </a:srgbClr>
          </a:solidFill>
          <a:ln w="12700">
            <a:solidFill>
              <a:srgbClr val="1E1B4B"/>
            </a:solidFill>
            <a:prstDash val="solid"/>
          </a:ln>
        </p:spPr>
      </p:sp>
      <p:sp>
        <p:nvSpPr>
          <p:cNvPr id="14" name="Text 12"/>
          <p:cNvSpPr/>
          <p:nvPr/>
        </p:nvSpPr>
        <p:spPr>
          <a:xfrm>
            <a:off x="7132320" y="1600200"/>
            <a:ext cx="1051560" cy="256032"/>
          </a:xfrm>
          <a:prstGeom prst="rect">
            <a:avLst/>
          </a:prstGeom>
          <a:noFill/>
          <a:ln/>
        </p:spPr>
        <p:txBody>
          <a:bodyPr wrap="square" lIns="0" tIns="0" rIns="0" bIns="0" rtlCol="0" anchor="ctr"/>
          <a:lstStyle/>
          <a:p>
            <a:pPr algn="ctr" indent="0" marL="0">
              <a:buNone/>
            </a:pPr>
            <a:r>
              <a:rPr lang="en-US" sz="900" b="1" dirty="0">
                <a:solidFill>
                  <a:srgbClr val="DDD6FE"/>
                </a:solidFill>
              </a:rPr>
              <a:t>TypeScript</a:t>
            </a:r>
            <a:endParaRPr lang="en-US" sz="900" dirty="0"/>
          </a:p>
        </p:txBody>
      </p:sp>
      <p:sp>
        <p:nvSpPr>
          <p:cNvPr id="15" name="Shape 13"/>
          <p:cNvSpPr/>
          <p:nvPr/>
        </p:nvSpPr>
        <p:spPr>
          <a:xfrm>
            <a:off x="7132320" y="2103120"/>
            <a:ext cx="704088" cy="256032"/>
          </a:xfrm>
          <a:prstGeom prst="roundRect">
            <a:avLst>
              <a:gd name="adj" fmla="val 14286"/>
            </a:avLst>
          </a:prstGeom>
          <a:solidFill>
            <a:srgbClr val="1E1B4B">
              <a:alpha val="80000"/>
            </a:srgbClr>
          </a:solidFill>
          <a:ln w="12700">
            <a:solidFill>
              <a:srgbClr val="1E1B4B"/>
            </a:solidFill>
            <a:prstDash val="solid"/>
          </a:ln>
        </p:spPr>
      </p:sp>
      <p:sp>
        <p:nvSpPr>
          <p:cNvPr id="16" name="Text 14"/>
          <p:cNvSpPr/>
          <p:nvPr/>
        </p:nvSpPr>
        <p:spPr>
          <a:xfrm>
            <a:off x="7132320" y="2103120"/>
            <a:ext cx="704088" cy="256032"/>
          </a:xfrm>
          <a:prstGeom prst="rect">
            <a:avLst/>
          </a:prstGeom>
          <a:noFill/>
          <a:ln/>
        </p:spPr>
        <p:txBody>
          <a:bodyPr wrap="square" lIns="0" tIns="0" rIns="0" bIns="0" rtlCol="0" anchor="ctr"/>
          <a:lstStyle/>
          <a:p>
            <a:pPr algn="ctr" indent="0" marL="0">
              <a:buNone/>
            </a:pPr>
            <a:r>
              <a:rPr lang="en-US" sz="900" b="1" dirty="0">
                <a:solidFill>
                  <a:srgbClr val="DDD6FE"/>
                </a:solidFill>
              </a:rPr>
              <a:t>Python</a:t>
            </a:r>
            <a:endParaRPr lang="en-US" sz="900" dirty="0"/>
          </a:p>
        </p:txBody>
      </p:sp>
      <p:sp>
        <p:nvSpPr>
          <p:cNvPr id="17" name="Shape 15"/>
          <p:cNvSpPr/>
          <p:nvPr/>
        </p:nvSpPr>
        <p:spPr>
          <a:xfrm>
            <a:off x="7132320" y="2606040"/>
            <a:ext cx="790956" cy="256032"/>
          </a:xfrm>
          <a:prstGeom prst="roundRect">
            <a:avLst>
              <a:gd name="adj" fmla="val 14286"/>
            </a:avLst>
          </a:prstGeom>
          <a:solidFill>
            <a:srgbClr val="1E1B4B">
              <a:alpha val="80000"/>
            </a:srgbClr>
          </a:solidFill>
          <a:ln w="12700">
            <a:solidFill>
              <a:srgbClr val="1E1B4B"/>
            </a:solidFill>
            <a:prstDash val="solid"/>
          </a:ln>
        </p:spPr>
      </p:sp>
      <p:sp>
        <p:nvSpPr>
          <p:cNvPr id="18" name="Text 16"/>
          <p:cNvSpPr/>
          <p:nvPr/>
        </p:nvSpPr>
        <p:spPr>
          <a:xfrm>
            <a:off x="7132320" y="2606040"/>
            <a:ext cx="790956" cy="256032"/>
          </a:xfrm>
          <a:prstGeom prst="rect">
            <a:avLst/>
          </a:prstGeom>
          <a:noFill/>
          <a:ln/>
        </p:spPr>
        <p:txBody>
          <a:bodyPr wrap="square" lIns="0" tIns="0" rIns="0" bIns="0" rtlCol="0" anchor="ctr"/>
          <a:lstStyle/>
          <a:p>
            <a:pPr algn="ctr" indent="0" marL="0">
              <a:buNone/>
            </a:pPr>
            <a:r>
              <a:rPr lang="en-US" sz="900" b="1" dirty="0">
                <a:solidFill>
                  <a:srgbClr val="DDD6FE"/>
                </a:solidFill>
              </a:rPr>
              <a:t>FastAPI</a:t>
            </a:r>
            <a:endParaRPr lang="en-US" sz="900" dirty="0"/>
          </a:p>
        </p:txBody>
      </p:sp>
      <p:sp>
        <p:nvSpPr>
          <p:cNvPr id="19" name="Shape 17"/>
          <p:cNvSpPr/>
          <p:nvPr/>
        </p:nvSpPr>
        <p:spPr>
          <a:xfrm>
            <a:off x="7132320" y="3108960"/>
            <a:ext cx="1312164" cy="256032"/>
          </a:xfrm>
          <a:prstGeom prst="roundRect">
            <a:avLst>
              <a:gd name="adj" fmla="val 14286"/>
            </a:avLst>
          </a:prstGeom>
          <a:solidFill>
            <a:srgbClr val="1E1B4B">
              <a:alpha val="80000"/>
            </a:srgbClr>
          </a:solidFill>
          <a:ln w="12700">
            <a:solidFill>
              <a:srgbClr val="1E1B4B"/>
            </a:solidFill>
            <a:prstDash val="solid"/>
          </a:ln>
        </p:spPr>
      </p:sp>
      <p:sp>
        <p:nvSpPr>
          <p:cNvPr id="20" name="Text 18"/>
          <p:cNvSpPr/>
          <p:nvPr/>
        </p:nvSpPr>
        <p:spPr>
          <a:xfrm>
            <a:off x="7132320" y="3108960"/>
            <a:ext cx="1312164" cy="256032"/>
          </a:xfrm>
          <a:prstGeom prst="rect">
            <a:avLst/>
          </a:prstGeom>
          <a:noFill/>
          <a:ln/>
        </p:spPr>
        <p:txBody>
          <a:bodyPr wrap="square" lIns="0" tIns="0" rIns="0" bIns="0" rtlCol="0" anchor="ctr"/>
          <a:lstStyle/>
          <a:p>
            <a:pPr algn="ctr" indent="0" marL="0">
              <a:buNone/>
            </a:pPr>
            <a:r>
              <a:rPr lang="en-US" sz="900" b="1" dirty="0">
                <a:solidFill>
                  <a:srgbClr val="DDD6FE"/>
                </a:solidFill>
              </a:rPr>
              <a:t>Cloudflare R2</a:t>
            </a:r>
            <a:endParaRPr lang="en-US" sz="900" dirty="0"/>
          </a:p>
        </p:txBody>
      </p:sp>
      <p:sp>
        <p:nvSpPr>
          <p:cNvPr id="21" name="Shape 19"/>
          <p:cNvSpPr/>
          <p:nvPr/>
        </p:nvSpPr>
        <p:spPr>
          <a:xfrm>
            <a:off x="7132320" y="3611880"/>
            <a:ext cx="704088" cy="256032"/>
          </a:xfrm>
          <a:prstGeom prst="roundRect">
            <a:avLst>
              <a:gd name="adj" fmla="val 14286"/>
            </a:avLst>
          </a:prstGeom>
          <a:solidFill>
            <a:srgbClr val="1E1B4B">
              <a:alpha val="80000"/>
            </a:srgbClr>
          </a:solidFill>
          <a:ln w="12700">
            <a:solidFill>
              <a:srgbClr val="1E1B4B"/>
            </a:solidFill>
            <a:prstDash val="solid"/>
          </a:ln>
        </p:spPr>
      </p:sp>
      <p:sp>
        <p:nvSpPr>
          <p:cNvPr id="22" name="Text 20"/>
          <p:cNvSpPr/>
          <p:nvPr/>
        </p:nvSpPr>
        <p:spPr>
          <a:xfrm>
            <a:off x="7132320" y="3611880"/>
            <a:ext cx="704088" cy="256032"/>
          </a:xfrm>
          <a:prstGeom prst="rect">
            <a:avLst/>
          </a:prstGeom>
          <a:noFill/>
          <a:ln/>
        </p:spPr>
        <p:txBody>
          <a:bodyPr wrap="square" lIns="0" tIns="0" rIns="0" bIns="0" rtlCol="0" anchor="ctr"/>
          <a:lstStyle/>
          <a:p>
            <a:pPr algn="ctr" indent="0" marL="0">
              <a:buNone/>
            </a:pPr>
            <a:r>
              <a:rPr lang="en-US" sz="900" b="1" dirty="0">
                <a:solidFill>
                  <a:srgbClr val="DDD6FE"/>
                </a:solidFill>
              </a:rPr>
              <a:t>Vercel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2</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Problem With AI Recommendations</a:t>
            </a:r>
            <a:endParaRPr lang="en-US" sz="3000" dirty="0"/>
          </a:p>
        </p:txBody>
      </p:sp>
      <p:sp>
        <p:nvSpPr>
          <p:cNvPr id="4" name="Shape 2"/>
          <p:cNvSpPr/>
          <p:nvPr/>
        </p:nvSpPr>
        <p:spPr>
          <a:xfrm>
            <a:off x="457200" y="1005840"/>
            <a:ext cx="8229600" cy="146304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5" name="Text 3"/>
          <p:cNvSpPr/>
          <p:nvPr/>
        </p:nvSpPr>
        <p:spPr>
          <a:xfrm>
            <a:off x="640080" y="1097280"/>
            <a:ext cx="7863840" cy="1280160"/>
          </a:xfrm>
          <a:prstGeom prst="rect">
            <a:avLst/>
          </a:prstGeom>
          <a:noFill/>
          <a:ln/>
        </p:spPr>
        <p:txBody>
          <a:bodyPr wrap="square" rtlCol="0" anchor="ctr"/>
          <a:lstStyle/>
          <a:p>
            <a:pPr algn="ctr" indent="0" marL="0">
              <a:buNone/>
            </a:pPr>
            <a:r>
              <a:rPr lang="en-US" sz="1800" i="1" dirty="0">
                <a:solidFill>
                  <a:srgbClr val="DDD6FE"/>
                </a:solidFill>
              </a:rPr>
              <a:t>"Here is your recommendation."</a:t>
            </a:r>
            <a:endParaRPr lang="en-US" sz="1800" dirty="0"/>
          </a:p>
          <a:p>
            <a:pPr algn="ctr" indent="0" marL="0">
              <a:buNone/>
            </a:pPr>
            <a:endParaRPr lang="en-US" sz="1800" dirty="0"/>
          </a:p>
          <a:p>
            <a:pPr algn="ctr" indent="0" marL="0">
              <a:buNone/>
            </a:pPr>
            <a:r>
              <a:rPr lang="en-US" sz="1800" i="1" dirty="0">
                <a:solidFill>
                  <a:srgbClr val="DDD6FE"/>
                </a:solidFill>
              </a:rPr>
              <a:t>— Every recommendation system ever built</a:t>
            </a:r>
            <a:endParaRPr lang="en-US" sz="1800" dirty="0"/>
          </a:p>
        </p:txBody>
      </p:sp>
      <p:sp>
        <p:nvSpPr>
          <p:cNvPr id="6" name="Shape 4"/>
          <p:cNvSpPr/>
          <p:nvPr/>
        </p:nvSpPr>
        <p:spPr>
          <a:xfrm>
            <a:off x="457200" y="2743200"/>
            <a:ext cx="2560320" cy="1645920"/>
          </a:xfrm>
          <a:prstGeom prst="rect">
            <a:avLst/>
          </a:prstGeom>
          <a:solidFill>
            <a:srgbClr val="1A1A2E"/>
          </a:solidFill>
          <a:ln w="12700">
            <a:solidFill>
              <a:srgbClr val="EF4444"/>
            </a:solidFill>
            <a:prstDash val="solid"/>
          </a:ln>
          <a:effectLst>
            <a:outerShdw sx="100000" sy="100000" kx="0" ky="0" algn="bl" rotWithShape="0" blurRad="152400" dist="50800" dir="8100000">
              <a:srgbClr val="000000">
                <a:alpha val="30000"/>
              </a:srgbClr>
            </a:outerShdw>
          </a:effectLst>
        </p:spPr>
      </p:sp>
      <p:sp>
        <p:nvSpPr>
          <p:cNvPr id="7" name="Shape 5"/>
          <p:cNvSpPr/>
          <p:nvPr/>
        </p:nvSpPr>
        <p:spPr>
          <a:xfrm>
            <a:off x="457200" y="2743200"/>
            <a:ext cx="54864" cy="1645920"/>
          </a:xfrm>
          <a:prstGeom prst="rect">
            <a:avLst/>
          </a:prstGeom>
          <a:solidFill>
            <a:srgbClr val="EF4444"/>
          </a:solidFill>
          <a:ln w="12700">
            <a:solidFill>
              <a:srgbClr val="EF4444"/>
            </a:solidFill>
            <a:prstDash val="solid"/>
          </a:ln>
        </p:spPr>
      </p:sp>
      <p:sp>
        <p:nvSpPr>
          <p:cNvPr id="8" name="Text 6"/>
          <p:cNvSpPr/>
          <p:nvPr/>
        </p:nvSpPr>
        <p:spPr>
          <a:xfrm>
            <a:off x="594360" y="2852928"/>
            <a:ext cx="2377440" cy="274320"/>
          </a:xfrm>
          <a:prstGeom prst="rect">
            <a:avLst/>
          </a:prstGeom>
          <a:noFill/>
          <a:ln/>
        </p:spPr>
        <p:txBody>
          <a:bodyPr wrap="square" lIns="0" tIns="0" rIns="0" bIns="0" rtlCol="0" anchor="ctr"/>
          <a:lstStyle/>
          <a:p>
            <a:pPr indent="0" marL="0">
              <a:buNone/>
            </a:pPr>
            <a:r>
              <a:rPr lang="en-US" sz="1100" b="1" dirty="0">
                <a:solidFill>
                  <a:srgbClr val="FFFFFF"/>
                </a:solidFill>
              </a:rPr>
              <a:t>No Explanation</a:t>
            </a:r>
            <a:endParaRPr lang="en-US" sz="1100" dirty="0"/>
          </a:p>
        </p:txBody>
      </p:sp>
      <p:sp>
        <p:nvSpPr>
          <p:cNvPr id="9" name="Text 7"/>
          <p:cNvSpPr/>
          <p:nvPr/>
        </p:nvSpPr>
        <p:spPr>
          <a:xfrm>
            <a:off x="594360" y="3163824"/>
            <a:ext cx="2331720" cy="1143000"/>
          </a:xfrm>
          <a:prstGeom prst="rect">
            <a:avLst/>
          </a:prstGeom>
          <a:noFill/>
          <a:ln/>
        </p:spPr>
        <p:txBody>
          <a:bodyPr wrap="square" lIns="0" tIns="0" rIns="0" bIns="0" rtlCol="0" anchor="ctr"/>
          <a:lstStyle/>
          <a:p>
            <a:pPr indent="0" marL="0">
              <a:buNone/>
            </a:pPr>
            <a:r>
              <a:rPr lang="en-US" sz="950" dirty="0">
                <a:solidFill>
                  <a:srgbClr val="CBD5E1"/>
                </a:solidFill>
              </a:rPr>
              <a:t>You get a result but never understand why the system chose it.</a:t>
            </a:r>
            <a:endParaRPr lang="en-US" sz="950" dirty="0"/>
          </a:p>
        </p:txBody>
      </p:sp>
      <p:sp>
        <p:nvSpPr>
          <p:cNvPr id="10" name="Shape 8"/>
          <p:cNvSpPr/>
          <p:nvPr/>
        </p:nvSpPr>
        <p:spPr>
          <a:xfrm>
            <a:off x="3291840" y="2743200"/>
            <a:ext cx="2560320" cy="1645920"/>
          </a:xfrm>
          <a:prstGeom prst="rect">
            <a:avLst/>
          </a:prstGeom>
          <a:solidFill>
            <a:srgbClr val="1A1A2E"/>
          </a:solidFill>
          <a:ln w="12700">
            <a:solidFill>
              <a:srgbClr val="F59E0B"/>
            </a:solidFill>
            <a:prstDash val="solid"/>
          </a:ln>
          <a:effectLst>
            <a:outerShdw sx="100000" sy="100000" kx="0" ky="0" algn="bl" rotWithShape="0" blurRad="152400" dist="50800" dir="8100000">
              <a:srgbClr val="000000">
                <a:alpha val="30000"/>
              </a:srgbClr>
            </a:outerShdw>
          </a:effectLst>
        </p:spPr>
      </p:sp>
      <p:sp>
        <p:nvSpPr>
          <p:cNvPr id="11" name="Shape 9"/>
          <p:cNvSpPr/>
          <p:nvPr/>
        </p:nvSpPr>
        <p:spPr>
          <a:xfrm>
            <a:off x="3291840" y="2743200"/>
            <a:ext cx="54864" cy="1645920"/>
          </a:xfrm>
          <a:prstGeom prst="rect">
            <a:avLst/>
          </a:prstGeom>
          <a:solidFill>
            <a:srgbClr val="F59E0B"/>
          </a:solidFill>
          <a:ln w="12700">
            <a:solidFill>
              <a:srgbClr val="F59E0B"/>
            </a:solidFill>
            <a:prstDash val="solid"/>
          </a:ln>
        </p:spPr>
      </p:sp>
      <p:sp>
        <p:nvSpPr>
          <p:cNvPr id="12" name="Text 10"/>
          <p:cNvSpPr/>
          <p:nvPr/>
        </p:nvSpPr>
        <p:spPr>
          <a:xfrm>
            <a:off x="3429000" y="2852928"/>
            <a:ext cx="2377440" cy="274320"/>
          </a:xfrm>
          <a:prstGeom prst="rect">
            <a:avLst/>
          </a:prstGeom>
          <a:noFill/>
          <a:ln/>
        </p:spPr>
        <p:txBody>
          <a:bodyPr wrap="square" lIns="0" tIns="0" rIns="0" bIns="0" rtlCol="0" anchor="ctr"/>
          <a:lstStyle/>
          <a:p>
            <a:pPr indent="0" marL="0">
              <a:buNone/>
            </a:pPr>
            <a:r>
              <a:rPr lang="en-US" sz="1100" b="1" dirty="0">
                <a:solidFill>
                  <a:srgbClr val="FFFFFF"/>
                </a:solidFill>
              </a:rPr>
              <a:t>No Confidence</a:t>
            </a:r>
            <a:endParaRPr lang="en-US" sz="1100" dirty="0"/>
          </a:p>
        </p:txBody>
      </p:sp>
      <p:sp>
        <p:nvSpPr>
          <p:cNvPr id="13" name="Text 11"/>
          <p:cNvSpPr/>
          <p:nvPr/>
        </p:nvSpPr>
        <p:spPr>
          <a:xfrm>
            <a:off x="3429000" y="3163824"/>
            <a:ext cx="2331720" cy="1143000"/>
          </a:xfrm>
          <a:prstGeom prst="rect">
            <a:avLst/>
          </a:prstGeom>
          <a:noFill/>
          <a:ln/>
        </p:spPr>
        <p:txBody>
          <a:bodyPr wrap="square" lIns="0" tIns="0" rIns="0" bIns="0" rtlCol="0" anchor="ctr"/>
          <a:lstStyle/>
          <a:p>
            <a:pPr indent="0" marL="0">
              <a:buNone/>
            </a:pPr>
            <a:r>
              <a:rPr lang="en-US" sz="950" dirty="0">
                <a:solidFill>
                  <a:srgbClr val="CBD5E1"/>
                </a:solidFill>
              </a:rPr>
              <a:t>Is this a strong match or a desperate guess? You have no way to know.</a:t>
            </a:r>
            <a:endParaRPr lang="en-US" sz="950" dirty="0"/>
          </a:p>
        </p:txBody>
      </p:sp>
      <p:sp>
        <p:nvSpPr>
          <p:cNvPr id="14" name="Shape 12"/>
          <p:cNvSpPr/>
          <p:nvPr/>
        </p:nvSpPr>
        <p:spPr>
          <a:xfrm>
            <a:off x="6126480" y="2743200"/>
            <a:ext cx="2560320" cy="164592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15" name="Shape 13"/>
          <p:cNvSpPr/>
          <p:nvPr/>
        </p:nvSpPr>
        <p:spPr>
          <a:xfrm>
            <a:off x="6126480" y="2743200"/>
            <a:ext cx="54864" cy="1645920"/>
          </a:xfrm>
          <a:prstGeom prst="rect">
            <a:avLst/>
          </a:prstGeom>
          <a:solidFill>
            <a:srgbClr val="06B6D4"/>
          </a:solidFill>
          <a:ln w="12700">
            <a:solidFill>
              <a:srgbClr val="06B6D4"/>
            </a:solidFill>
            <a:prstDash val="solid"/>
          </a:ln>
        </p:spPr>
      </p:sp>
      <p:sp>
        <p:nvSpPr>
          <p:cNvPr id="16" name="Text 14"/>
          <p:cNvSpPr/>
          <p:nvPr/>
        </p:nvSpPr>
        <p:spPr>
          <a:xfrm>
            <a:off x="6263640" y="2852928"/>
            <a:ext cx="2377440" cy="274320"/>
          </a:xfrm>
          <a:prstGeom prst="rect">
            <a:avLst/>
          </a:prstGeom>
          <a:noFill/>
          <a:ln/>
        </p:spPr>
        <p:txBody>
          <a:bodyPr wrap="square" lIns="0" tIns="0" rIns="0" bIns="0" rtlCol="0" anchor="ctr"/>
          <a:lstStyle/>
          <a:p>
            <a:pPr indent="0" marL="0">
              <a:buNone/>
            </a:pPr>
            <a:r>
              <a:rPr lang="en-US" sz="1100" b="1" dirty="0">
                <a:solidFill>
                  <a:srgbClr val="FFFFFF"/>
                </a:solidFill>
              </a:rPr>
              <a:t>No Trust</a:t>
            </a:r>
            <a:endParaRPr lang="en-US" sz="1100" dirty="0"/>
          </a:p>
        </p:txBody>
      </p:sp>
      <p:sp>
        <p:nvSpPr>
          <p:cNvPr id="17" name="Text 15"/>
          <p:cNvSpPr/>
          <p:nvPr/>
        </p:nvSpPr>
        <p:spPr>
          <a:xfrm>
            <a:off x="6263640" y="3163824"/>
            <a:ext cx="2331720" cy="1143000"/>
          </a:xfrm>
          <a:prstGeom prst="rect">
            <a:avLst/>
          </a:prstGeom>
          <a:noFill/>
          <a:ln/>
        </p:spPr>
        <p:txBody>
          <a:bodyPr wrap="square" lIns="0" tIns="0" rIns="0" bIns="0" rtlCol="0" anchor="ctr"/>
          <a:lstStyle/>
          <a:p>
            <a:pPr indent="0" marL="0">
              <a:buNone/>
            </a:pPr>
            <a:r>
              <a:rPr lang="en-US" sz="950" dirty="0">
                <a:solidFill>
                  <a:srgbClr val="CBD5E1"/>
                </a:solidFill>
              </a:rPr>
              <a:t>When AI gives you answers without reasoning, people stop using it.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3</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Solution: Explainability as Architecture</a:t>
            </a:r>
            <a:endParaRPr lang="en-US" sz="30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600" i="1" dirty="0">
                <a:solidFill>
                  <a:srgbClr val="DDD6FE"/>
                </a:solidFill>
              </a:rPr>
              <a:t>Explainability is not a feature. It is architecture.</a:t>
            </a:r>
            <a:endParaRPr lang="en-US" sz="1600" dirty="0"/>
          </a:p>
        </p:txBody>
      </p:sp>
      <p:sp>
        <p:nvSpPr>
          <p:cNvPr id="5" name="Shape 3"/>
          <p:cNvSpPr/>
          <p:nvPr/>
        </p:nvSpPr>
        <p:spPr>
          <a:xfrm>
            <a:off x="457200" y="1417320"/>
            <a:ext cx="2011680" cy="329184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6" name="Shape 4"/>
          <p:cNvSpPr/>
          <p:nvPr/>
        </p:nvSpPr>
        <p:spPr>
          <a:xfrm>
            <a:off x="457200" y="1417320"/>
            <a:ext cx="2011680" cy="54864"/>
          </a:xfrm>
          <a:prstGeom prst="rect">
            <a:avLst/>
          </a:prstGeom>
          <a:solidFill>
            <a:srgbClr val="7C3AED"/>
          </a:solidFill>
          <a:ln w="12700">
            <a:solidFill>
              <a:srgbClr val="7C3AED"/>
            </a:solidFill>
            <a:prstDash val="solid"/>
          </a:ln>
        </p:spPr>
      </p:sp>
      <p:sp>
        <p:nvSpPr>
          <p:cNvPr id="7" name="Text 5"/>
          <p:cNvSpPr/>
          <p:nvPr/>
        </p:nvSpPr>
        <p:spPr>
          <a:xfrm>
            <a:off x="548640" y="1508760"/>
            <a:ext cx="1828800" cy="320040"/>
          </a:xfrm>
          <a:prstGeom prst="rect">
            <a:avLst/>
          </a:prstGeom>
          <a:noFill/>
          <a:ln/>
        </p:spPr>
        <p:txBody>
          <a:bodyPr wrap="square" lIns="0" tIns="0" rIns="0" bIns="0" rtlCol="0" anchor="ctr"/>
          <a:lstStyle/>
          <a:p>
            <a:pPr indent="0" marL="0">
              <a:buNone/>
            </a:pPr>
            <a:r>
              <a:rPr lang="en-US" sz="1200" b="1" dirty="0">
                <a:solidFill>
                  <a:srgbClr val="FFFFFF"/>
                </a:solidFill>
              </a:rPr>
              <a:t>AI Score</a:t>
            </a:r>
            <a:endParaRPr lang="en-US" sz="1200" dirty="0"/>
          </a:p>
        </p:txBody>
      </p:sp>
      <p:sp>
        <p:nvSpPr>
          <p:cNvPr id="8" name="Text 6"/>
          <p:cNvSpPr/>
          <p:nvPr/>
        </p:nvSpPr>
        <p:spPr>
          <a:xfrm>
            <a:off x="548640" y="1920240"/>
            <a:ext cx="1828800" cy="640080"/>
          </a:xfrm>
          <a:prstGeom prst="rect">
            <a:avLst/>
          </a:prstGeom>
          <a:noFill/>
          <a:ln/>
        </p:spPr>
        <p:txBody>
          <a:bodyPr wrap="square" lIns="0" tIns="0" rIns="0" bIns="0" rtlCol="0" anchor="ctr"/>
          <a:lstStyle/>
          <a:p>
            <a:pPr algn="ctr" indent="0" marL="0">
              <a:buNone/>
            </a:pPr>
            <a:r>
              <a:rPr lang="en-US" sz="2800" b="1" dirty="0">
                <a:solidFill>
                  <a:srgbClr val="7C3AED"/>
                </a:solidFill>
              </a:rPr>
              <a:t>8.2</a:t>
            </a:r>
            <a:endParaRPr lang="en-US" sz="2800" dirty="0"/>
          </a:p>
        </p:txBody>
      </p:sp>
      <p:sp>
        <p:nvSpPr>
          <p:cNvPr id="9" name="Text 7"/>
          <p:cNvSpPr/>
          <p:nvPr/>
        </p:nvSpPr>
        <p:spPr>
          <a:xfrm>
            <a:off x="548640" y="2651760"/>
            <a:ext cx="1828800" cy="1737360"/>
          </a:xfrm>
          <a:prstGeom prst="rect">
            <a:avLst/>
          </a:prstGeom>
          <a:noFill/>
          <a:ln/>
        </p:spPr>
        <p:txBody>
          <a:bodyPr wrap="square" lIns="0" tIns="0" rIns="0" bIns="0" rtlCol="0" anchor="ctr"/>
          <a:lstStyle/>
          <a:p>
            <a:pPr indent="0" marL="0">
              <a:buNone/>
            </a:pPr>
            <a:r>
              <a:rPr lang="en-US" sz="950" dirty="0">
                <a:solidFill>
                  <a:srgbClr val="CBD5E1"/>
                </a:solidFill>
              </a:rPr>
              <a:t>Composite numerical score</a:t>
            </a:r>
            <a:endParaRPr lang="en-US" sz="950" dirty="0"/>
          </a:p>
          <a:p>
            <a:pPr indent="0" marL="0">
              <a:buNone/>
            </a:pPr>
            <a:r>
              <a:rPr lang="en-US" sz="950" dirty="0">
                <a:solidFill>
                  <a:srgbClr val="CBD5E1"/>
                </a:solidFill>
              </a:rPr>
              <a:t>for every recommendation</a:t>
            </a:r>
            <a:endParaRPr lang="en-US" sz="950" dirty="0"/>
          </a:p>
        </p:txBody>
      </p:sp>
      <p:sp>
        <p:nvSpPr>
          <p:cNvPr id="10" name="Shape 8"/>
          <p:cNvSpPr/>
          <p:nvPr/>
        </p:nvSpPr>
        <p:spPr>
          <a:xfrm>
            <a:off x="2606040" y="1417320"/>
            <a:ext cx="2011680" cy="329184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11" name="Shape 9"/>
          <p:cNvSpPr/>
          <p:nvPr/>
        </p:nvSpPr>
        <p:spPr>
          <a:xfrm>
            <a:off x="2606040" y="1417320"/>
            <a:ext cx="2011680" cy="54864"/>
          </a:xfrm>
          <a:prstGeom prst="rect">
            <a:avLst/>
          </a:prstGeom>
          <a:solidFill>
            <a:srgbClr val="06B6D4"/>
          </a:solidFill>
          <a:ln w="12700">
            <a:solidFill>
              <a:srgbClr val="06B6D4"/>
            </a:solidFill>
            <a:prstDash val="solid"/>
          </a:ln>
        </p:spPr>
      </p:sp>
      <p:sp>
        <p:nvSpPr>
          <p:cNvPr id="12" name="Text 10"/>
          <p:cNvSpPr/>
          <p:nvPr/>
        </p:nvSpPr>
        <p:spPr>
          <a:xfrm>
            <a:off x="2697480" y="1508760"/>
            <a:ext cx="1828800" cy="320040"/>
          </a:xfrm>
          <a:prstGeom prst="rect">
            <a:avLst/>
          </a:prstGeom>
          <a:noFill/>
          <a:ln/>
        </p:spPr>
        <p:txBody>
          <a:bodyPr wrap="square" lIns="0" tIns="0" rIns="0" bIns="0" rtlCol="0" anchor="ctr"/>
          <a:lstStyle/>
          <a:p>
            <a:pPr indent="0" marL="0">
              <a:buNone/>
            </a:pPr>
            <a:r>
              <a:rPr lang="en-US" sz="1200" b="1" dirty="0">
                <a:solidFill>
                  <a:srgbClr val="FFFFFF"/>
                </a:solidFill>
              </a:rPr>
              <a:t>Confidence</a:t>
            </a:r>
            <a:endParaRPr lang="en-US" sz="1200" dirty="0"/>
          </a:p>
        </p:txBody>
      </p:sp>
      <p:sp>
        <p:nvSpPr>
          <p:cNvPr id="13" name="Text 11"/>
          <p:cNvSpPr/>
          <p:nvPr/>
        </p:nvSpPr>
        <p:spPr>
          <a:xfrm>
            <a:off x="2697480" y="1920240"/>
            <a:ext cx="1828800" cy="640080"/>
          </a:xfrm>
          <a:prstGeom prst="rect">
            <a:avLst/>
          </a:prstGeom>
          <a:noFill/>
          <a:ln/>
        </p:spPr>
        <p:txBody>
          <a:bodyPr wrap="square" lIns="0" tIns="0" rIns="0" bIns="0" rtlCol="0" anchor="ctr"/>
          <a:lstStyle/>
          <a:p>
            <a:pPr algn="ctr" indent="0" marL="0">
              <a:buNone/>
            </a:pPr>
            <a:r>
              <a:rPr lang="en-US" sz="2800" b="1" dirty="0">
                <a:solidFill>
                  <a:srgbClr val="06B6D4"/>
                </a:solidFill>
              </a:rPr>
              <a:t>80%</a:t>
            </a:r>
            <a:endParaRPr lang="en-US" sz="2800" dirty="0"/>
          </a:p>
        </p:txBody>
      </p:sp>
      <p:sp>
        <p:nvSpPr>
          <p:cNvPr id="14" name="Text 12"/>
          <p:cNvSpPr/>
          <p:nvPr/>
        </p:nvSpPr>
        <p:spPr>
          <a:xfrm>
            <a:off x="2697480" y="2651760"/>
            <a:ext cx="1828800" cy="1737360"/>
          </a:xfrm>
          <a:prstGeom prst="rect">
            <a:avLst/>
          </a:prstGeom>
          <a:noFill/>
          <a:ln/>
        </p:spPr>
        <p:txBody>
          <a:bodyPr wrap="square" lIns="0" tIns="0" rIns="0" bIns="0" rtlCol="0" anchor="ctr"/>
          <a:lstStyle/>
          <a:p>
            <a:pPr indent="0" marL="0">
              <a:buNone/>
            </a:pPr>
            <a:r>
              <a:rPr lang="en-US" sz="950" dirty="0">
                <a:solidFill>
                  <a:srgbClr val="CBD5E1"/>
                </a:solidFill>
              </a:rPr>
              <a:t>High / Medium / Low tier</a:t>
            </a:r>
            <a:endParaRPr lang="en-US" sz="950" dirty="0"/>
          </a:p>
          <a:p>
            <a:pPr indent="0" marL="0">
              <a:buNone/>
            </a:pPr>
            <a:r>
              <a:rPr lang="en-US" sz="950" dirty="0">
                <a:solidFill>
                  <a:srgbClr val="CBD5E1"/>
                </a:solidFill>
              </a:rPr>
              <a:t>with visual progress bar</a:t>
            </a:r>
            <a:endParaRPr lang="en-US" sz="950" dirty="0"/>
          </a:p>
        </p:txBody>
      </p:sp>
      <p:sp>
        <p:nvSpPr>
          <p:cNvPr id="15" name="Shape 13"/>
          <p:cNvSpPr/>
          <p:nvPr/>
        </p:nvSpPr>
        <p:spPr>
          <a:xfrm>
            <a:off x="4754880" y="1417320"/>
            <a:ext cx="2011680" cy="3291840"/>
          </a:xfrm>
          <a:prstGeom prst="rect">
            <a:avLst/>
          </a:prstGeom>
          <a:solidFill>
            <a:srgbClr val="1A1A2E"/>
          </a:solidFill>
          <a:ln w="12700">
            <a:solidFill>
              <a:srgbClr val="F59E0B"/>
            </a:solidFill>
            <a:prstDash val="solid"/>
          </a:ln>
          <a:effectLst>
            <a:outerShdw sx="100000" sy="100000" kx="0" ky="0" algn="bl" rotWithShape="0" blurRad="152400" dist="50800" dir="8100000">
              <a:srgbClr val="000000">
                <a:alpha val="30000"/>
              </a:srgbClr>
            </a:outerShdw>
          </a:effectLst>
        </p:spPr>
      </p:sp>
      <p:sp>
        <p:nvSpPr>
          <p:cNvPr id="16" name="Shape 14"/>
          <p:cNvSpPr/>
          <p:nvPr/>
        </p:nvSpPr>
        <p:spPr>
          <a:xfrm>
            <a:off x="4754880" y="1417320"/>
            <a:ext cx="2011680" cy="54864"/>
          </a:xfrm>
          <a:prstGeom prst="rect">
            <a:avLst/>
          </a:prstGeom>
          <a:solidFill>
            <a:srgbClr val="F59E0B"/>
          </a:solidFill>
          <a:ln w="12700">
            <a:solidFill>
              <a:srgbClr val="F59E0B"/>
            </a:solidFill>
            <a:prstDash val="solid"/>
          </a:ln>
        </p:spPr>
      </p:sp>
      <p:sp>
        <p:nvSpPr>
          <p:cNvPr id="17" name="Text 15"/>
          <p:cNvSpPr/>
          <p:nvPr/>
        </p:nvSpPr>
        <p:spPr>
          <a:xfrm>
            <a:off x="4846320" y="1508760"/>
            <a:ext cx="1828800" cy="320040"/>
          </a:xfrm>
          <a:prstGeom prst="rect">
            <a:avLst/>
          </a:prstGeom>
          <a:noFill/>
          <a:ln/>
        </p:spPr>
        <p:txBody>
          <a:bodyPr wrap="square" lIns="0" tIns="0" rIns="0" bIns="0" rtlCol="0" anchor="ctr"/>
          <a:lstStyle/>
          <a:p>
            <a:pPr indent="0" marL="0">
              <a:buNone/>
            </a:pPr>
            <a:r>
              <a:rPr lang="en-US" sz="1200" b="1" dirty="0">
                <a:solidFill>
                  <a:srgbClr val="FFFFFF"/>
                </a:solidFill>
              </a:rPr>
              <a:t>Evidence Tags</a:t>
            </a:r>
            <a:endParaRPr lang="en-US" sz="1200" dirty="0"/>
          </a:p>
        </p:txBody>
      </p:sp>
      <p:sp>
        <p:nvSpPr>
          <p:cNvPr id="18" name="Text 16"/>
          <p:cNvSpPr/>
          <p:nvPr/>
        </p:nvSpPr>
        <p:spPr>
          <a:xfrm>
            <a:off x="4846320" y="1920240"/>
            <a:ext cx="1828800" cy="640080"/>
          </a:xfrm>
          <a:prstGeom prst="rect">
            <a:avLst/>
          </a:prstGeom>
          <a:noFill/>
          <a:ln/>
        </p:spPr>
        <p:txBody>
          <a:bodyPr wrap="square" lIns="0" tIns="0" rIns="0" bIns="0" rtlCol="0" anchor="ctr"/>
          <a:lstStyle/>
          <a:p>
            <a:pPr algn="ctr" indent="0" marL="0">
              <a:buNone/>
            </a:pPr>
            <a:r>
              <a:rPr lang="en-US" sz="2800" b="1" dirty="0">
                <a:solidFill>
                  <a:srgbClr val="F59E0B"/>
                </a:solidFill>
              </a:rPr>
              <a:t>KB1 KB5 R2</a:t>
            </a:r>
            <a:endParaRPr lang="en-US" sz="2800" dirty="0"/>
          </a:p>
        </p:txBody>
      </p:sp>
      <p:sp>
        <p:nvSpPr>
          <p:cNvPr id="19" name="Text 17"/>
          <p:cNvSpPr/>
          <p:nvPr/>
        </p:nvSpPr>
        <p:spPr>
          <a:xfrm>
            <a:off x="4846320" y="2651760"/>
            <a:ext cx="1828800" cy="1737360"/>
          </a:xfrm>
          <a:prstGeom prst="rect">
            <a:avLst/>
          </a:prstGeom>
          <a:noFill/>
          <a:ln/>
        </p:spPr>
        <p:txBody>
          <a:bodyPr wrap="square" lIns="0" tIns="0" rIns="0" bIns="0" rtlCol="0" anchor="ctr"/>
          <a:lstStyle/>
          <a:p>
            <a:pPr indent="0" marL="0">
              <a:buNone/>
            </a:pPr>
            <a:r>
              <a:rPr lang="en-US" sz="950" dirty="0">
                <a:solidFill>
                  <a:srgbClr val="CBD5E1"/>
                </a:solidFill>
              </a:rPr>
              <a:t>Which knowledge base signals</a:t>
            </a:r>
            <a:endParaRPr lang="en-US" sz="950" dirty="0"/>
          </a:p>
          <a:p>
            <a:pPr indent="0" marL="0">
              <a:buNone/>
            </a:pPr>
            <a:r>
              <a:rPr lang="en-US" sz="950" dirty="0">
                <a:solidFill>
                  <a:srgbClr val="CBD5E1"/>
                </a:solidFill>
              </a:rPr>
              <a:t>drove this match</a:t>
            </a:r>
            <a:endParaRPr lang="en-US" sz="950" dirty="0"/>
          </a:p>
        </p:txBody>
      </p:sp>
      <p:sp>
        <p:nvSpPr>
          <p:cNvPr id="20" name="Shape 18"/>
          <p:cNvSpPr/>
          <p:nvPr/>
        </p:nvSpPr>
        <p:spPr>
          <a:xfrm>
            <a:off x="6903720" y="1417320"/>
            <a:ext cx="2011680" cy="329184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21" name="Shape 19"/>
          <p:cNvSpPr/>
          <p:nvPr/>
        </p:nvSpPr>
        <p:spPr>
          <a:xfrm>
            <a:off x="6903720" y="1417320"/>
            <a:ext cx="2011680" cy="54864"/>
          </a:xfrm>
          <a:prstGeom prst="rect">
            <a:avLst/>
          </a:prstGeom>
          <a:solidFill>
            <a:srgbClr val="10B981"/>
          </a:solidFill>
          <a:ln w="12700">
            <a:solidFill>
              <a:srgbClr val="10B981"/>
            </a:solidFill>
            <a:prstDash val="solid"/>
          </a:ln>
        </p:spPr>
      </p:sp>
      <p:sp>
        <p:nvSpPr>
          <p:cNvPr id="22" name="Text 20"/>
          <p:cNvSpPr/>
          <p:nvPr/>
        </p:nvSpPr>
        <p:spPr>
          <a:xfrm>
            <a:off x="6995160" y="1508760"/>
            <a:ext cx="1828800" cy="320040"/>
          </a:xfrm>
          <a:prstGeom prst="rect">
            <a:avLst/>
          </a:prstGeom>
          <a:noFill/>
          <a:ln/>
        </p:spPr>
        <p:txBody>
          <a:bodyPr wrap="square" lIns="0" tIns="0" rIns="0" bIns="0" rtlCol="0" anchor="ctr"/>
          <a:lstStyle/>
          <a:p>
            <a:pPr indent="0" marL="0">
              <a:buNone/>
            </a:pPr>
            <a:r>
              <a:rPr lang="en-US" sz="1200" b="1" dirty="0">
                <a:solidFill>
                  <a:srgbClr val="FFFFFF"/>
                </a:solidFill>
              </a:rPr>
              <a:t>Why This?</a:t>
            </a:r>
            <a:endParaRPr lang="en-US" sz="1200" dirty="0"/>
          </a:p>
        </p:txBody>
      </p:sp>
      <p:sp>
        <p:nvSpPr>
          <p:cNvPr id="23" name="Text 21"/>
          <p:cNvSpPr/>
          <p:nvPr/>
        </p:nvSpPr>
        <p:spPr>
          <a:xfrm>
            <a:off x="6995160" y="1920240"/>
            <a:ext cx="1828800" cy="640080"/>
          </a:xfrm>
          <a:prstGeom prst="rect">
            <a:avLst/>
          </a:prstGeom>
          <a:noFill/>
          <a:ln/>
        </p:spPr>
        <p:txBody>
          <a:bodyPr wrap="square" lIns="0" tIns="0" rIns="0" bIns="0" rtlCol="0" anchor="ctr"/>
          <a:lstStyle/>
          <a:p>
            <a:pPr algn="ctr" indent="0" marL="0">
              <a:buNone/>
            </a:pPr>
            <a:r>
              <a:rPr lang="en-US" sz="2800" b="1" dirty="0">
                <a:solidFill>
                  <a:srgbClr val="10B981"/>
                </a:solidFill>
              </a:rPr>
              <a:t>Expandable</a:t>
            </a:r>
            <a:endParaRPr lang="en-US" sz="2800" dirty="0"/>
          </a:p>
        </p:txBody>
      </p:sp>
      <p:sp>
        <p:nvSpPr>
          <p:cNvPr id="24" name="Text 22"/>
          <p:cNvSpPr/>
          <p:nvPr/>
        </p:nvSpPr>
        <p:spPr>
          <a:xfrm>
            <a:off x="6995160" y="2651760"/>
            <a:ext cx="1828800" cy="1737360"/>
          </a:xfrm>
          <a:prstGeom prst="rect">
            <a:avLst/>
          </a:prstGeom>
          <a:noFill/>
          <a:ln/>
        </p:spPr>
        <p:txBody>
          <a:bodyPr wrap="square" lIns="0" tIns="0" rIns="0" bIns="0" rtlCol="0" anchor="ctr"/>
          <a:lstStyle/>
          <a:p>
            <a:pPr indent="0" marL="0">
              <a:buNone/>
            </a:pPr>
            <a:r>
              <a:rPr lang="en-US" sz="950" dirty="0">
                <a:solidFill>
                  <a:srgbClr val="CBD5E1"/>
                </a:solidFill>
              </a:rPr>
              <a:t>Human-readable reasoning</a:t>
            </a:r>
            <a:endParaRPr lang="en-US" sz="950" dirty="0"/>
          </a:p>
          <a:p>
            <a:pPr indent="0" marL="0">
              <a:buNone/>
            </a:pPr>
            <a:r>
              <a:rPr lang="en-US" sz="950" dirty="0">
                <a:solidFill>
                  <a:srgbClr val="CBD5E1"/>
                </a:solidFill>
              </a:rPr>
              <a:t>from the scoring pipeline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4</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From CLI to Production Platform</a:t>
            </a:r>
            <a:endParaRPr lang="en-US" sz="3000" dirty="0"/>
          </a:p>
        </p:txBody>
      </p:sp>
      <p:sp>
        <p:nvSpPr>
          <p:cNvPr id="4" name="Shape 2"/>
          <p:cNvSpPr/>
          <p:nvPr/>
        </p:nvSpPr>
        <p:spPr>
          <a:xfrm>
            <a:off x="1143000" y="1188720"/>
            <a:ext cx="640080" cy="640080"/>
          </a:xfrm>
          <a:prstGeom prst="ellipse">
            <a:avLst/>
          </a:prstGeom>
          <a:solidFill>
            <a:srgbClr val="94A3B8"/>
          </a:solidFill>
          <a:ln w="12700">
            <a:solidFill>
              <a:srgbClr val="94A3B8"/>
            </a:solidFill>
            <a:prstDash val="solid"/>
          </a:ln>
          <a:effectLst>
            <a:outerShdw sx="100000" sy="100000" kx="0" ky="0" algn="bl" rotWithShape="0" blurRad="152400" dist="50800" dir="8100000">
              <a:srgbClr val="000000">
                <a:alpha val="30000"/>
              </a:srgbClr>
            </a:outerShdw>
          </a:effectLst>
        </p:spPr>
      </p:sp>
      <p:sp>
        <p:nvSpPr>
          <p:cNvPr id="5" name="Text 3"/>
          <p:cNvSpPr/>
          <p:nvPr/>
        </p:nvSpPr>
        <p:spPr>
          <a:xfrm>
            <a:off x="114300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Shape 4"/>
          <p:cNvSpPr/>
          <p:nvPr/>
        </p:nvSpPr>
        <p:spPr>
          <a:xfrm>
            <a:off x="1828800" y="1508760"/>
            <a:ext cx="777240" cy="0"/>
          </a:xfrm>
          <a:prstGeom prst="line">
            <a:avLst/>
          </a:prstGeom>
          <a:noFill/>
          <a:ln w="12700">
            <a:solidFill>
              <a:srgbClr val="94A3B8"/>
            </a:solidFill>
            <a:prstDash val="dash"/>
          </a:ln>
        </p:spPr>
      </p:sp>
      <p:sp>
        <p:nvSpPr>
          <p:cNvPr id="7" name="Shape 5"/>
          <p:cNvSpPr/>
          <p:nvPr/>
        </p:nvSpPr>
        <p:spPr>
          <a:xfrm>
            <a:off x="457200" y="2011680"/>
            <a:ext cx="2011680" cy="1645920"/>
          </a:xfrm>
          <a:prstGeom prst="rect">
            <a:avLst/>
          </a:prstGeom>
          <a:solidFill>
            <a:srgbClr val="1A1A2E"/>
          </a:solidFill>
          <a:ln w="12700">
            <a:solidFill>
              <a:srgbClr val="94A3B8"/>
            </a:solidFill>
            <a:prstDash val="solid"/>
          </a:ln>
          <a:effectLst>
            <a:outerShdw sx="100000" sy="100000" kx="0" ky="0" algn="bl" rotWithShape="0" blurRad="152400" dist="50800" dir="8100000">
              <a:srgbClr val="000000">
                <a:alpha val="30000"/>
              </a:srgbClr>
            </a:outerShdw>
          </a:effectLst>
        </p:spPr>
      </p:sp>
      <p:sp>
        <p:nvSpPr>
          <p:cNvPr id="8" name="Shape 6"/>
          <p:cNvSpPr/>
          <p:nvPr/>
        </p:nvSpPr>
        <p:spPr>
          <a:xfrm>
            <a:off x="457200" y="2011680"/>
            <a:ext cx="2011680" cy="45720"/>
          </a:xfrm>
          <a:prstGeom prst="rect">
            <a:avLst/>
          </a:prstGeom>
          <a:solidFill>
            <a:srgbClr val="94A3B8"/>
          </a:solidFill>
          <a:ln w="12700">
            <a:solidFill>
              <a:srgbClr val="94A3B8"/>
            </a:solidFill>
            <a:prstDash val="solid"/>
          </a:ln>
        </p:spPr>
      </p:sp>
      <p:sp>
        <p:nvSpPr>
          <p:cNvPr id="9" name="Text 7"/>
          <p:cNvSpPr/>
          <p:nvPr/>
        </p:nvSpPr>
        <p:spPr>
          <a:xfrm>
            <a:off x="548640" y="2084832"/>
            <a:ext cx="1828800" cy="320040"/>
          </a:xfrm>
          <a:prstGeom prst="rect">
            <a:avLst/>
          </a:prstGeom>
          <a:noFill/>
          <a:ln/>
        </p:spPr>
        <p:txBody>
          <a:bodyPr wrap="square" lIns="0" tIns="0" rIns="0" bIns="0" rtlCol="0" anchor="ctr"/>
          <a:lstStyle/>
          <a:p>
            <a:pPr indent="0" marL="0">
              <a:buNone/>
            </a:pPr>
            <a:r>
              <a:rPr lang="en-US" sz="1100" b="1" dirty="0">
                <a:solidFill>
                  <a:srgbClr val="FFFFFF"/>
                </a:solidFill>
              </a:rPr>
              <a:t>BMCC CS</a:t>
            </a:r>
            <a:endParaRPr lang="en-US" sz="1100" dirty="0"/>
          </a:p>
        </p:txBody>
      </p:sp>
      <p:sp>
        <p:nvSpPr>
          <p:cNvPr id="10" name="Text 8"/>
          <p:cNvSpPr/>
          <p:nvPr/>
        </p:nvSpPr>
        <p:spPr>
          <a:xfrm>
            <a:off x="548640" y="2468880"/>
            <a:ext cx="1828800" cy="1097280"/>
          </a:xfrm>
          <a:prstGeom prst="rect">
            <a:avLst/>
          </a:prstGeom>
          <a:noFill/>
          <a:ln/>
        </p:spPr>
        <p:txBody>
          <a:bodyPr wrap="square" lIns="0" tIns="0" rIns="0" bIns="0" rtlCol="0" anchor="ctr"/>
          <a:lstStyle/>
          <a:p>
            <a:pPr indent="0" marL="0">
              <a:buNone/>
            </a:pPr>
            <a:r>
              <a:rPr lang="en-US" sz="950" dirty="0">
                <a:solidFill>
                  <a:srgbClr val="CBD5E1"/>
                </a:solidFill>
              </a:rPr>
              <a:t>OOP · Algorithms</a:t>
            </a:r>
            <a:endParaRPr lang="en-US" sz="950" dirty="0"/>
          </a:p>
          <a:p>
            <a:pPr indent="0" marL="0">
              <a:buNone/>
            </a:pPr>
            <a:r>
              <a:rPr lang="en-US" sz="950" dirty="0">
                <a:solidFill>
                  <a:srgbClr val="CBD5E1"/>
                </a:solidFill>
              </a:rPr>
              <a:t>Data Structures</a:t>
            </a:r>
            <a:endParaRPr lang="en-US" sz="950" dirty="0"/>
          </a:p>
        </p:txBody>
      </p:sp>
      <p:sp>
        <p:nvSpPr>
          <p:cNvPr id="11" name="Shape 9"/>
          <p:cNvSpPr/>
          <p:nvPr/>
        </p:nvSpPr>
        <p:spPr>
          <a:xfrm>
            <a:off x="3291840" y="1188720"/>
            <a:ext cx="640080" cy="640080"/>
          </a:xfrm>
          <a:prstGeom prst="ellipse">
            <a:avLst/>
          </a:prstGeom>
          <a:solidFill>
            <a:srgbClr val="7C3AED"/>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12" name="Text 10"/>
          <p:cNvSpPr/>
          <p:nvPr/>
        </p:nvSpPr>
        <p:spPr>
          <a:xfrm>
            <a:off x="329184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Shape 11"/>
          <p:cNvSpPr/>
          <p:nvPr/>
        </p:nvSpPr>
        <p:spPr>
          <a:xfrm>
            <a:off x="3977640" y="1508760"/>
            <a:ext cx="777240" cy="0"/>
          </a:xfrm>
          <a:prstGeom prst="line">
            <a:avLst/>
          </a:prstGeom>
          <a:noFill/>
          <a:ln w="12700">
            <a:solidFill>
              <a:srgbClr val="94A3B8"/>
            </a:solidFill>
            <a:prstDash val="dash"/>
          </a:ln>
        </p:spPr>
      </p:sp>
      <p:sp>
        <p:nvSpPr>
          <p:cNvPr id="14" name="Shape 12"/>
          <p:cNvSpPr/>
          <p:nvPr/>
        </p:nvSpPr>
        <p:spPr>
          <a:xfrm>
            <a:off x="2606040" y="2011680"/>
            <a:ext cx="2011680" cy="164592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15" name="Shape 13"/>
          <p:cNvSpPr/>
          <p:nvPr/>
        </p:nvSpPr>
        <p:spPr>
          <a:xfrm>
            <a:off x="2606040" y="2011680"/>
            <a:ext cx="2011680" cy="45720"/>
          </a:xfrm>
          <a:prstGeom prst="rect">
            <a:avLst/>
          </a:prstGeom>
          <a:solidFill>
            <a:srgbClr val="7C3AED"/>
          </a:solidFill>
          <a:ln w="12700">
            <a:solidFill>
              <a:srgbClr val="7C3AED"/>
            </a:solidFill>
            <a:prstDash val="solid"/>
          </a:ln>
        </p:spPr>
      </p:sp>
      <p:sp>
        <p:nvSpPr>
          <p:cNvPr id="16" name="Text 14"/>
          <p:cNvSpPr/>
          <p:nvPr/>
        </p:nvSpPr>
        <p:spPr>
          <a:xfrm>
            <a:off x="2697480" y="2084832"/>
            <a:ext cx="1828800" cy="320040"/>
          </a:xfrm>
          <a:prstGeom prst="rect">
            <a:avLst/>
          </a:prstGeom>
          <a:noFill/>
          <a:ln/>
        </p:spPr>
        <p:txBody>
          <a:bodyPr wrap="square" lIns="0" tIns="0" rIns="0" bIns="0" rtlCol="0" anchor="ctr"/>
          <a:lstStyle/>
          <a:p>
            <a:pPr indent="0" marL="0">
              <a:buNone/>
            </a:pPr>
            <a:r>
              <a:rPr lang="en-US" sz="1100" b="1" dirty="0">
                <a:solidFill>
                  <a:srgbClr val="FFFFFF"/>
                </a:solidFill>
              </a:rPr>
              <a:t>CodePath AI110</a:t>
            </a:r>
            <a:endParaRPr lang="en-US" sz="1100" dirty="0"/>
          </a:p>
        </p:txBody>
      </p:sp>
      <p:sp>
        <p:nvSpPr>
          <p:cNvPr id="17" name="Text 15"/>
          <p:cNvSpPr/>
          <p:nvPr/>
        </p:nvSpPr>
        <p:spPr>
          <a:xfrm>
            <a:off x="2697480" y="2468880"/>
            <a:ext cx="1828800" cy="1097280"/>
          </a:xfrm>
          <a:prstGeom prst="rect">
            <a:avLst/>
          </a:prstGeom>
          <a:noFill/>
          <a:ln/>
        </p:spPr>
        <p:txBody>
          <a:bodyPr wrap="square" lIns="0" tIns="0" rIns="0" bIns="0" rtlCol="0" anchor="ctr"/>
          <a:lstStyle/>
          <a:p>
            <a:pPr indent="0" marL="0">
              <a:buNone/>
            </a:pPr>
            <a:r>
              <a:rPr lang="en-US" sz="950" dirty="0">
                <a:solidFill>
                  <a:srgbClr val="CBD5E1"/>
                </a:solidFill>
              </a:rPr>
              <a:t>CLI Recommender</a:t>
            </a:r>
            <a:endParaRPr lang="en-US" sz="950" dirty="0"/>
          </a:p>
          <a:p>
            <a:pPr indent="0" marL="0">
              <a:buNone/>
            </a:pPr>
            <a:r>
              <a:rPr lang="en-US" sz="950" dirty="0">
                <a:solidFill>
                  <a:srgbClr val="CBD5E1"/>
                </a:solidFill>
              </a:rPr>
              <a:t>22/20 · 110%</a:t>
            </a:r>
            <a:endParaRPr lang="en-US" sz="950" dirty="0"/>
          </a:p>
        </p:txBody>
      </p:sp>
      <p:sp>
        <p:nvSpPr>
          <p:cNvPr id="18" name="Shape 16"/>
          <p:cNvSpPr/>
          <p:nvPr/>
        </p:nvSpPr>
        <p:spPr>
          <a:xfrm>
            <a:off x="5440680" y="1188720"/>
            <a:ext cx="640080" cy="640080"/>
          </a:xfrm>
          <a:prstGeom prst="ellipse">
            <a:avLst/>
          </a:prstGeom>
          <a:solidFill>
            <a:srgbClr val="06B6D4"/>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19" name="Text 17"/>
          <p:cNvSpPr/>
          <p:nvPr/>
        </p:nvSpPr>
        <p:spPr>
          <a:xfrm>
            <a:off x="544068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0" name="Shape 18"/>
          <p:cNvSpPr/>
          <p:nvPr/>
        </p:nvSpPr>
        <p:spPr>
          <a:xfrm>
            <a:off x="6126480" y="1508760"/>
            <a:ext cx="777240" cy="0"/>
          </a:xfrm>
          <a:prstGeom prst="line">
            <a:avLst/>
          </a:prstGeom>
          <a:noFill/>
          <a:ln w="12700">
            <a:solidFill>
              <a:srgbClr val="94A3B8"/>
            </a:solidFill>
            <a:prstDash val="dash"/>
          </a:ln>
        </p:spPr>
      </p:sp>
      <p:sp>
        <p:nvSpPr>
          <p:cNvPr id="21" name="Shape 19"/>
          <p:cNvSpPr/>
          <p:nvPr/>
        </p:nvSpPr>
        <p:spPr>
          <a:xfrm>
            <a:off x="4754880" y="2011680"/>
            <a:ext cx="2011680" cy="164592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22" name="Shape 20"/>
          <p:cNvSpPr/>
          <p:nvPr/>
        </p:nvSpPr>
        <p:spPr>
          <a:xfrm>
            <a:off x="4754880" y="2011680"/>
            <a:ext cx="2011680" cy="45720"/>
          </a:xfrm>
          <a:prstGeom prst="rect">
            <a:avLst/>
          </a:prstGeom>
          <a:solidFill>
            <a:srgbClr val="06B6D4"/>
          </a:solidFill>
          <a:ln w="12700">
            <a:solidFill>
              <a:srgbClr val="06B6D4"/>
            </a:solidFill>
            <a:prstDash val="solid"/>
          </a:ln>
        </p:spPr>
      </p:sp>
      <p:sp>
        <p:nvSpPr>
          <p:cNvPr id="23" name="Text 21"/>
          <p:cNvSpPr/>
          <p:nvPr/>
        </p:nvSpPr>
        <p:spPr>
          <a:xfrm>
            <a:off x="4846320" y="2084832"/>
            <a:ext cx="1828800" cy="320040"/>
          </a:xfrm>
          <a:prstGeom prst="rect">
            <a:avLst/>
          </a:prstGeom>
          <a:noFill/>
          <a:ln/>
        </p:spPr>
        <p:txBody>
          <a:bodyPr wrap="square" lIns="0" tIns="0" rIns="0" bIns="0" rtlCol="0" anchor="ctr"/>
          <a:lstStyle/>
          <a:p>
            <a:pPr indent="0" marL="0">
              <a:buNone/>
            </a:pPr>
            <a:r>
              <a:rPr lang="en-US" sz="1100" b="1" dirty="0">
                <a:solidFill>
                  <a:srgbClr val="FFFFFF"/>
                </a:solidFill>
              </a:rPr>
              <a:t>AI Agents</a:t>
            </a:r>
            <a:endParaRPr lang="en-US" sz="1100" dirty="0"/>
          </a:p>
        </p:txBody>
      </p:sp>
      <p:sp>
        <p:nvSpPr>
          <p:cNvPr id="24" name="Text 22"/>
          <p:cNvSpPr/>
          <p:nvPr/>
        </p:nvSpPr>
        <p:spPr>
          <a:xfrm>
            <a:off x="4846320" y="2468880"/>
            <a:ext cx="1828800" cy="1097280"/>
          </a:xfrm>
          <a:prstGeom prst="rect">
            <a:avLst/>
          </a:prstGeom>
          <a:noFill/>
          <a:ln/>
        </p:spPr>
        <p:txBody>
          <a:bodyPr wrap="square" lIns="0" tIns="0" rIns="0" bIns="0" rtlCol="0" anchor="ctr"/>
          <a:lstStyle/>
          <a:p>
            <a:pPr indent="0" marL="0">
              <a:buNone/>
            </a:pPr>
            <a:r>
              <a:rPr lang="en-US" sz="950" dirty="0">
                <a:solidFill>
                  <a:srgbClr val="CBD5E1"/>
                </a:solidFill>
              </a:rPr>
              <a:t>Autonomous</a:t>
            </a:r>
            <a:endParaRPr lang="en-US" sz="950" dirty="0"/>
          </a:p>
          <a:p>
            <a:pPr indent="0" marL="0">
              <a:buNone/>
            </a:pPr>
            <a:r>
              <a:rPr lang="en-US" sz="950" dirty="0">
                <a:solidFill>
                  <a:srgbClr val="CBD5E1"/>
                </a:solidFill>
              </a:rPr>
              <a:t>Implementation</a:t>
            </a:r>
            <a:endParaRPr lang="en-US" sz="950" dirty="0"/>
          </a:p>
        </p:txBody>
      </p:sp>
      <p:sp>
        <p:nvSpPr>
          <p:cNvPr id="25" name="Shape 23"/>
          <p:cNvSpPr/>
          <p:nvPr/>
        </p:nvSpPr>
        <p:spPr>
          <a:xfrm>
            <a:off x="7589520" y="1188720"/>
            <a:ext cx="640080" cy="640080"/>
          </a:xfrm>
          <a:prstGeom prst="ellipse">
            <a:avLst/>
          </a:prstGeom>
          <a:solidFill>
            <a:srgbClr val="10B981"/>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26" name="Text 24"/>
          <p:cNvSpPr/>
          <p:nvPr/>
        </p:nvSpPr>
        <p:spPr>
          <a:xfrm>
            <a:off x="758952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7" name="Shape 25"/>
          <p:cNvSpPr/>
          <p:nvPr/>
        </p:nvSpPr>
        <p:spPr>
          <a:xfrm>
            <a:off x="6903720" y="2011680"/>
            <a:ext cx="2011680" cy="164592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28" name="Shape 26"/>
          <p:cNvSpPr/>
          <p:nvPr/>
        </p:nvSpPr>
        <p:spPr>
          <a:xfrm>
            <a:off x="6903720" y="2011680"/>
            <a:ext cx="2011680" cy="45720"/>
          </a:xfrm>
          <a:prstGeom prst="rect">
            <a:avLst/>
          </a:prstGeom>
          <a:solidFill>
            <a:srgbClr val="10B981"/>
          </a:solidFill>
          <a:ln w="12700">
            <a:solidFill>
              <a:srgbClr val="10B981"/>
            </a:solidFill>
            <a:prstDash val="solid"/>
          </a:ln>
        </p:spPr>
      </p:sp>
      <p:sp>
        <p:nvSpPr>
          <p:cNvPr id="29" name="Text 27"/>
          <p:cNvSpPr/>
          <p:nvPr/>
        </p:nvSpPr>
        <p:spPr>
          <a:xfrm>
            <a:off x="6995160" y="2084832"/>
            <a:ext cx="1828800" cy="320040"/>
          </a:xfrm>
          <a:prstGeom prst="rect">
            <a:avLst/>
          </a:prstGeom>
          <a:noFill/>
          <a:ln/>
        </p:spPr>
        <p:txBody>
          <a:bodyPr wrap="square" lIns="0" tIns="0" rIns="0" bIns="0" rtlCol="0" anchor="ctr"/>
          <a:lstStyle/>
          <a:p>
            <a:pPr indent="0" marL="0">
              <a:buNone/>
            </a:pPr>
            <a:r>
              <a:rPr lang="en-US" sz="1100" b="1" dirty="0">
                <a:solidFill>
                  <a:srgbClr val="FFFFFF"/>
                </a:solidFill>
              </a:rPr>
              <a:t>Production</a:t>
            </a:r>
            <a:endParaRPr lang="en-US" sz="1100" dirty="0"/>
          </a:p>
        </p:txBody>
      </p:sp>
      <p:sp>
        <p:nvSpPr>
          <p:cNvPr id="30" name="Text 28"/>
          <p:cNvSpPr/>
          <p:nvPr/>
        </p:nvSpPr>
        <p:spPr>
          <a:xfrm>
            <a:off x="6995160" y="2468880"/>
            <a:ext cx="1828800" cy="1097280"/>
          </a:xfrm>
          <a:prstGeom prst="rect">
            <a:avLst/>
          </a:prstGeom>
          <a:noFill/>
          <a:ln/>
        </p:spPr>
        <p:txBody>
          <a:bodyPr wrap="square" lIns="0" tIns="0" rIns="0" bIns="0" rtlCol="0" anchor="ctr"/>
          <a:lstStyle/>
          <a:p>
            <a:pPr indent="0" marL="0">
              <a:buNone/>
            </a:pPr>
            <a:r>
              <a:rPr lang="en-US" sz="950" dirty="0">
                <a:solidFill>
                  <a:srgbClr val="CBD5E1"/>
                </a:solidFill>
              </a:rPr>
              <a:t>Next.js + R2</a:t>
            </a:r>
            <a:endParaRPr lang="en-US" sz="950" dirty="0"/>
          </a:p>
          <a:p>
            <a:pPr indent="0" marL="0">
              <a:buNone/>
            </a:pPr>
            <a:r>
              <a:rPr lang="en-US" sz="950" dirty="0">
                <a:solidFill>
                  <a:srgbClr val="CBD5E1"/>
                </a:solidFill>
              </a:rPr>
              <a:t>Live Platform</a:t>
            </a:r>
            <a:endParaRPr lang="en-US" sz="950" dirty="0"/>
          </a:p>
        </p:txBody>
      </p:sp>
      <p:sp>
        <p:nvSpPr>
          <p:cNvPr id="31" name="Text 29"/>
          <p:cNvSpPr/>
          <p:nvPr/>
        </p:nvSpPr>
        <p:spPr>
          <a:xfrm>
            <a:off x="457200" y="4114800"/>
            <a:ext cx="8229600" cy="365760"/>
          </a:xfrm>
          <a:prstGeom prst="rect">
            <a:avLst/>
          </a:prstGeom>
          <a:noFill/>
          <a:ln/>
        </p:spPr>
        <p:txBody>
          <a:bodyPr wrap="square" rtlCol="0" anchor="ctr"/>
          <a:lstStyle/>
          <a:p>
            <a:pPr algn="ctr" indent="0" marL="0">
              <a:buNone/>
            </a:pPr>
            <a:r>
              <a:rPr lang="en-US" sz="1200" i="1" dirty="0">
                <a:solidFill>
                  <a:srgbClr val="DDD6FE"/>
                </a:solidFill>
              </a:rPr>
              <a:t>Every phase built on the one before it. Nothing was thrown away.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5</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System Architecture</a:t>
            </a:r>
            <a:endParaRPr lang="en-US" sz="3000" dirty="0"/>
          </a:p>
        </p:txBody>
      </p:sp>
      <p:sp>
        <p:nvSpPr>
          <p:cNvPr id="4" name="Shape 2"/>
          <p:cNvSpPr/>
          <p:nvPr/>
        </p:nvSpPr>
        <p:spPr>
          <a:xfrm>
            <a:off x="457200" y="1005840"/>
            <a:ext cx="1371600" cy="502920"/>
          </a:xfrm>
          <a:prstGeom prst="rect">
            <a:avLst/>
          </a:prstGeom>
          <a:solidFill>
            <a:srgbClr val="94A3B8">
              <a:alpha val="85000"/>
            </a:srgbClr>
          </a:solidFill>
          <a:ln w="12700">
            <a:solidFill>
              <a:srgbClr val="94A3B8"/>
            </a:solidFill>
            <a:prstDash val="solid"/>
          </a:ln>
        </p:spPr>
      </p:sp>
      <p:sp>
        <p:nvSpPr>
          <p:cNvPr id="5" name="Text 3"/>
          <p:cNvSpPr/>
          <p:nvPr/>
        </p:nvSpPr>
        <p:spPr>
          <a:xfrm>
            <a:off x="457200" y="1005840"/>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USER INPUT</a:t>
            </a:r>
            <a:endParaRPr lang="en-US" sz="900" dirty="0"/>
          </a:p>
        </p:txBody>
      </p:sp>
      <p:sp>
        <p:nvSpPr>
          <p:cNvPr id="6" name="Shape 4"/>
          <p:cNvSpPr/>
          <p:nvPr/>
        </p:nvSpPr>
        <p:spPr>
          <a:xfrm>
            <a:off x="1920240" y="1097280"/>
            <a:ext cx="6766560" cy="320040"/>
          </a:xfrm>
          <a:prstGeom prst="rect">
            <a:avLst/>
          </a:prstGeom>
          <a:solidFill>
            <a:srgbClr val="1A1A2E"/>
          </a:solidFill>
          <a:ln w="12700">
            <a:solidFill>
              <a:srgbClr val="94A3B8"/>
            </a:solidFill>
            <a:prstDash val="solid"/>
          </a:ln>
        </p:spPr>
      </p:sp>
      <p:sp>
        <p:nvSpPr>
          <p:cNvPr id="7" name="Text 5"/>
          <p:cNvSpPr/>
          <p:nvPr/>
        </p:nvSpPr>
        <p:spPr>
          <a:xfrm>
            <a:off x="2011680" y="1097280"/>
            <a:ext cx="6583680" cy="320040"/>
          </a:xfrm>
          <a:prstGeom prst="rect">
            <a:avLst/>
          </a:prstGeom>
          <a:noFill/>
          <a:ln/>
        </p:spPr>
        <p:txBody>
          <a:bodyPr wrap="square" lIns="0" tIns="0" rIns="0" bIns="0" rtlCol="0" anchor="ctr"/>
          <a:lstStyle/>
          <a:p>
            <a:pPr indent="0" marL="0">
              <a:buNone/>
            </a:pPr>
            <a:r>
              <a:rPr lang="en-US" sz="1000" dirty="0">
                <a:solidFill>
                  <a:srgbClr val="CBD5E1"/>
                </a:solidFill>
              </a:rPr>
              <a:t>Mood · Genre · Energy · Scoring Mode</a:t>
            </a:r>
            <a:endParaRPr lang="en-US" sz="1000" dirty="0"/>
          </a:p>
        </p:txBody>
      </p:sp>
      <p:sp>
        <p:nvSpPr>
          <p:cNvPr id="8" name="Shape 6"/>
          <p:cNvSpPr/>
          <p:nvPr/>
        </p:nvSpPr>
        <p:spPr>
          <a:xfrm>
            <a:off x="1088136" y="1554480"/>
            <a:ext cx="109728" cy="109728"/>
          </a:xfrm>
          <a:prstGeom prst="ellipse">
            <a:avLst/>
          </a:prstGeom>
          <a:solidFill>
            <a:srgbClr val="94A3B8"/>
          </a:solidFill>
          <a:ln w="12700">
            <a:solidFill>
              <a:srgbClr val="94A3B8"/>
            </a:solidFill>
            <a:prstDash val="solid"/>
          </a:ln>
        </p:spPr>
      </p:sp>
      <p:sp>
        <p:nvSpPr>
          <p:cNvPr id="9" name="Shape 7"/>
          <p:cNvSpPr/>
          <p:nvPr/>
        </p:nvSpPr>
        <p:spPr>
          <a:xfrm>
            <a:off x="457200" y="1664208"/>
            <a:ext cx="1371600" cy="502920"/>
          </a:xfrm>
          <a:prstGeom prst="rect">
            <a:avLst/>
          </a:prstGeom>
          <a:solidFill>
            <a:srgbClr val="06B6D4">
              <a:alpha val="85000"/>
            </a:srgbClr>
          </a:solidFill>
          <a:ln w="12700">
            <a:solidFill>
              <a:srgbClr val="06B6D4"/>
            </a:solidFill>
            <a:prstDash val="solid"/>
          </a:ln>
        </p:spPr>
      </p:sp>
      <p:sp>
        <p:nvSpPr>
          <p:cNvPr id="10" name="Text 8"/>
          <p:cNvSpPr/>
          <p:nvPr/>
        </p:nvSpPr>
        <p:spPr>
          <a:xfrm>
            <a:off x="457200" y="1664208"/>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RETRIEVAL</a:t>
            </a:r>
            <a:endParaRPr lang="en-US" sz="900" dirty="0"/>
          </a:p>
        </p:txBody>
      </p:sp>
      <p:sp>
        <p:nvSpPr>
          <p:cNvPr id="11" name="Shape 9"/>
          <p:cNvSpPr/>
          <p:nvPr/>
        </p:nvSpPr>
        <p:spPr>
          <a:xfrm>
            <a:off x="1920240" y="1755648"/>
            <a:ext cx="6766560" cy="320040"/>
          </a:xfrm>
          <a:prstGeom prst="rect">
            <a:avLst/>
          </a:prstGeom>
          <a:solidFill>
            <a:srgbClr val="1A1A2E"/>
          </a:solidFill>
          <a:ln w="12700">
            <a:solidFill>
              <a:srgbClr val="06B6D4"/>
            </a:solidFill>
            <a:prstDash val="solid"/>
          </a:ln>
        </p:spPr>
      </p:sp>
      <p:sp>
        <p:nvSpPr>
          <p:cNvPr id="12" name="Text 10"/>
          <p:cNvSpPr/>
          <p:nvPr/>
        </p:nvSpPr>
        <p:spPr>
          <a:xfrm>
            <a:off x="2011680" y="1755648"/>
            <a:ext cx="6583680" cy="320040"/>
          </a:xfrm>
          <a:prstGeom prst="rect">
            <a:avLst/>
          </a:prstGeom>
          <a:noFill/>
          <a:ln/>
        </p:spPr>
        <p:txBody>
          <a:bodyPr wrap="square" lIns="0" tIns="0" rIns="0" bIns="0" rtlCol="0" anchor="ctr"/>
          <a:lstStyle/>
          <a:p>
            <a:pPr indent="0" marL="0">
              <a:buNone/>
            </a:pPr>
            <a:r>
              <a:rPr lang="en-US" sz="1000" dirty="0">
                <a:solidFill>
                  <a:srgbClr val="CBD5E1"/>
                </a:solidFill>
              </a:rPr>
              <a:t>R2 Cloud Library · Genre filter · Top-K=53</a:t>
            </a:r>
            <a:endParaRPr lang="en-US" sz="1000" dirty="0"/>
          </a:p>
        </p:txBody>
      </p:sp>
      <p:sp>
        <p:nvSpPr>
          <p:cNvPr id="13" name="Shape 11"/>
          <p:cNvSpPr/>
          <p:nvPr/>
        </p:nvSpPr>
        <p:spPr>
          <a:xfrm>
            <a:off x="1088136" y="2212848"/>
            <a:ext cx="109728" cy="109728"/>
          </a:xfrm>
          <a:prstGeom prst="ellipse">
            <a:avLst/>
          </a:prstGeom>
          <a:solidFill>
            <a:srgbClr val="06B6D4"/>
          </a:solidFill>
          <a:ln w="12700">
            <a:solidFill>
              <a:srgbClr val="06B6D4"/>
            </a:solidFill>
            <a:prstDash val="solid"/>
          </a:ln>
        </p:spPr>
      </p:sp>
      <p:sp>
        <p:nvSpPr>
          <p:cNvPr id="14" name="Shape 12"/>
          <p:cNvSpPr/>
          <p:nvPr/>
        </p:nvSpPr>
        <p:spPr>
          <a:xfrm>
            <a:off x="457200" y="2322576"/>
            <a:ext cx="1371600" cy="502920"/>
          </a:xfrm>
          <a:prstGeom prst="rect">
            <a:avLst/>
          </a:prstGeom>
          <a:solidFill>
            <a:srgbClr val="7C3AED">
              <a:alpha val="85000"/>
            </a:srgbClr>
          </a:solidFill>
          <a:ln w="12700">
            <a:solidFill>
              <a:srgbClr val="7C3AED"/>
            </a:solidFill>
            <a:prstDash val="solid"/>
          </a:ln>
        </p:spPr>
      </p:sp>
      <p:sp>
        <p:nvSpPr>
          <p:cNvPr id="15" name="Text 13"/>
          <p:cNvSpPr/>
          <p:nvPr/>
        </p:nvSpPr>
        <p:spPr>
          <a:xfrm>
            <a:off x="457200" y="2322576"/>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SCORING</a:t>
            </a:r>
            <a:endParaRPr lang="en-US" sz="900" dirty="0"/>
          </a:p>
        </p:txBody>
      </p:sp>
      <p:sp>
        <p:nvSpPr>
          <p:cNvPr id="16" name="Shape 14"/>
          <p:cNvSpPr/>
          <p:nvPr/>
        </p:nvSpPr>
        <p:spPr>
          <a:xfrm>
            <a:off x="1920240" y="2414016"/>
            <a:ext cx="6766560" cy="320040"/>
          </a:xfrm>
          <a:prstGeom prst="rect">
            <a:avLst/>
          </a:prstGeom>
          <a:solidFill>
            <a:srgbClr val="1A1A2E"/>
          </a:solidFill>
          <a:ln w="12700">
            <a:solidFill>
              <a:srgbClr val="7C3AED"/>
            </a:solidFill>
            <a:prstDash val="solid"/>
          </a:ln>
        </p:spPr>
      </p:sp>
      <p:sp>
        <p:nvSpPr>
          <p:cNvPr id="17" name="Text 15"/>
          <p:cNvSpPr/>
          <p:nvPr/>
        </p:nvSpPr>
        <p:spPr>
          <a:xfrm>
            <a:off x="2011680" y="2414016"/>
            <a:ext cx="6583680" cy="320040"/>
          </a:xfrm>
          <a:prstGeom prst="rect">
            <a:avLst/>
          </a:prstGeom>
          <a:noFill/>
          <a:ln/>
        </p:spPr>
        <p:txBody>
          <a:bodyPr wrap="square" lIns="0" tIns="0" rIns="0" bIns="0" rtlCol="0" anchor="ctr"/>
          <a:lstStyle/>
          <a:p>
            <a:pPr indent="0" marL="0">
              <a:buNone/>
            </a:pPr>
            <a:r>
              <a:rPr lang="en-US" sz="1000" dirty="0">
                <a:solidFill>
                  <a:srgbClr val="CBD5E1"/>
                </a:solidFill>
              </a:rPr>
              <a:t>Composite Score = Σ(wᵢ×featureᵢ) − Diversity Penalty</a:t>
            </a:r>
            <a:endParaRPr lang="en-US" sz="1000" dirty="0"/>
          </a:p>
        </p:txBody>
      </p:sp>
      <p:sp>
        <p:nvSpPr>
          <p:cNvPr id="18" name="Shape 16"/>
          <p:cNvSpPr/>
          <p:nvPr/>
        </p:nvSpPr>
        <p:spPr>
          <a:xfrm>
            <a:off x="1088136" y="2871216"/>
            <a:ext cx="109728" cy="109728"/>
          </a:xfrm>
          <a:prstGeom prst="ellipse">
            <a:avLst/>
          </a:prstGeom>
          <a:solidFill>
            <a:srgbClr val="7C3AED"/>
          </a:solidFill>
          <a:ln w="12700">
            <a:solidFill>
              <a:srgbClr val="7C3AED"/>
            </a:solidFill>
            <a:prstDash val="solid"/>
          </a:ln>
        </p:spPr>
      </p:sp>
      <p:sp>
        <p:nvSpPr>
          <p:cNvPr id="19" name="Shape 17"/>
          <p:cNvSpPr/>
          <p:nvPr/>
        </p:nvSpPr>
        <p:spPr>
          <a:xfrm>
            <a:off x="457200" y="2980944"/>
            <a:ext cx="1371600" cy="502920"/>
          </a:xfrm>
          <a:prstGeom prst="rect">
            <a:avLst/>
          </a:prstGeom>
          <a:solidFill>
            <a:srgbClr val="F59E0B">
              <a:alpha val="85000"/>
            </a:srgbClr>
          </a:solidFill>
          <a:ln w="12700">
            <a:solidFill>
              <a:srgbClr val="F59E0B"/>
            </a:solidFill>
            <a:prstDash val="solid"/>
          </a:ln>
        </p:spPr>
      </p:sp>
      <p:sp>
        <p:nvSpPr>
          <p:cNvPr id="20" name="Text 18"/>
          <p:cNvSpPr/>
          <p:nvPr/>
        </p:nvSpPr>
        <p:spPr>
          <a:xfrm>
            <a:off x="457200" y="2980944"/>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CONFIDENCE</a:t>
            </a:r>
            <a:endParaRPr lang="en-US" sz="900" dirty="0"/>
          </a:p>
        </p:txBody>
      </p:sp>
      <p:sp>
        <p:nvSpPr>
          <p:cNvPr id="21" name="Shape 19"/>
          <p:cNvSpPr/>
          <p:nvPr/>
        </p:nvSpPr>
        <p:spPr>
          <a:xfrm>
            <a:off x="1920240" y="3072384"/>
            <a:ext cx="6766560" cy="320040"/>
          </a:xfrm>
          <a:prstGeom prst="rect">
            <a:avLst/>
          </a:prstGeom>
          <a:solidFill>
            <a:srgbClr val="1A1A2E"/>
          </a:solidFill>
          <a:ln w="12700">
            <a:solidFill>
              <a:srgbClr val="F59E0B"/>
            </a:solidFill>
            <a:prstDash val="solid"/>
          </a:ln>
        </p:spPr>
      </p:sp>
      <p:sp>
        <p:nvSpPr>
          <p:cNvPr id="22" name="Text 20"/>
          <p:cNvSpPr/>
          <p:nvPr/>
        </p:nvSpPr>
        <p:spPr>
          <a:xfrm>
            <a:off x="2011680" y="3072384"/>
            <a:ext cx="6583680" cy="320040"/>
          </a:xfrm>
          <a:prstGeom prst="rect">
            <a:avLst/>
          </a:prstGeom>
          <a:noFill/>
          <a:ln/>
        </p:spPr>
        <p:txBody>
          <a:bodyPr wrap="square" lIns="0" tIns="0" rIns="0" bIns="0" rtlCol="0" anchor="ctr"/>
          <a:lstStyle/>
          <a:p>
            <a:pPr indent="0" marL="0">
              <a:buNone/>
            </a:pPr>
            <a:r>
              <a:rPr lang="en-US" sz="1000" dirty="0">
                <a:solidFill>
                  <a:srgbClr val="CBD5E1"/>
                </a:solidFill>
              </a:rPr>
              <a:t>HIGH ≥80%  ·  MEDIUM 60–79%  ·  LOW &lt;60%</a:t>
            </a:r>
            <a:endParaRPr lang="en-US" sz="1000" dirty="0"/>
          </a:p>
        </p:txBody>
      </p:sp>
      <p:sp>
        <p:nvSpPr>
          <p:cNvPr id="23" name="Shape 21"/>
          <p:cNvSpPr/>
          <p:nvPr/>
        </p:nvSpPr>
        <p:spPr>
          <a:xfrm>
            <a:off x="1088136" y="3529584"/>
            <a:ext cx="109728" cy="109728"/>
          </a:xfrm>
          <a:prstGeom prst="ellipse">
            <a:avLst/>
          </a:prstGeom>
          <a:solidFill>
            <a:srgbClr val="F59E0B"/>
          </a:solidFill>
          <a:ln w="12700">
            <a:solidFill>
              <a:srgbClr val="F59E0B"/>
            </a:solidFill>
            <a:prstDash val="solid"/>
          </a:ln>
        </p:spPr>
      </p:sp>
      <p:sp>
        <p:nvSpPr>
          <p:cNvPr id="24" name="Shape 22"/>
          <p:cNvSpPr/>
          <p:nvPr/>
        </p:nvSpPr>
        <p:spPr>
          <a:xfrm>
            <a:off x="457200" y="3639312"/>
            <a:ext cx="1371600" cy="502920"/>
          </a:xfrm>
          <a:prstGeom prst="rect">
            <a:avLst/>
          </a:prstGeom>
          <a:solidFill>
            <a:srgbClr val="10B981">
              <a:alpha val="85000"/>
            </a:srgbClr>
          </a:solidFill>
          <a:ln w="12700">
            <a:solidFill>
              <a:srgbClr val="10B981"/>
            </a:solidFill>
            <a:prstDash val="solid"/>
          </a:ln>
        </p:spPr>
      </p:sp>
      <p:sp>
        <p:nvSpPr>
          <p:cNvPr id="25" name="Text 23"/>
          <p:cNvSpPr/>
          <p:nvPr/>
        </p:nvSpPr>
        <p:spPr>
          <a:xfrm>
            <a:off x="457200" y="3639312"/>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EXPLAINABILITY</a:t>
            </a:r>
            <a:endParaRPr lang="en-US" sz="900" dirty="0"/>
          </a:p>
        </p:txBody>
      </p:sp>
      <p:sp>
        <p:nvSpPr>
          <p:cNvPr id="26" name="Shape 24"/>
          <p:cNvSpPr/>
          <p:nvPr/>
        </p:nvSpPr>
        <p:spPr>
          <a:xfrm>
            <a:off x="1920240" y="3730752"/>
            <a:ext cx="6766560" cy="320040"/>
          </a:xfrm>
          <a:prstGeom prst="rect">
            <a:avLst/>
          </a:prstGeom>
          <a:solidFill>
            <a:srgbClr val="1A1A2E"/>
          </a:solidFill>
          <a:ln w="12700">
            <a:solidFill>
              <a:srgbClr val="10B981"/>
            </a:solidFill>
            <a:prstDash val="solid"/>
          </a:ln>
        </p:spPr>
      </p:sp>
      <p:sp>
        <p:nvSpPr>
          <p:cNvPr id="27" name="Text 25"/>
          <p:cNvSpPr/>
          <p:nvPr/>
        </p:nvSpPr>
        <p:spPr>
          <a:xfrm>
            <a:off x="2011680" y="3730752"/>
            <a:ext cx="6583680" cy="320040"/>
          </a:xfrm>
          <a:prstGeom prst="rect">
            <a:avLst/>
          </a:prstGeom>
          <a:noFill/>
          <a:ln/>
        </p:spPr>
        <p:txBody>
          <a:bodyPr wrap="square" lIns="0" tIns="0" rIns="0" bIns="0" rtlCol="0" anchor="ctr"/>
          <a:lstStyle/>
          <a:p>
            <a:pPr indent="0" marL="0">
              <a:buNone/>
            </a:pPr>
            <a:r>
              <a:rPr lang="en-US" sz="1000" dirty="0">
                <a:solidFill>
                  <a:srgbClr val="CBD5E1"/>
                </a:solidFill>
              </a:rPr>
              <a:t>AI Score · Evidence Tags · Why This Song?</a:t>
            </a:r>
            <a:endParaRPr lang="en-US" sz="1000" dirty="0"/>
          </a:p>
        </p:txBody>
      </p:sp>
      <p:sp>
        <p:nvSpPr>
          <p:cNvPr id="28" name="Shape 26"/>
          <p:cNvSpPr/>
          <p:nvPr/>
        </p:nvSpPr>
        <p:spPr>
          <a:xfrm>
            <a:off x="1088136" y="4187952"/>
            <a:ext cx="109728" cy="109728"/>
          </a:xfrm>
          <a:prstGeom prst="ellipse">
            <a:avLst/>
          </a:prstGeom>
          <a:solidFill>
            <a:srgbClr val="10B981"/>
          </a:solidFill>
          <a:ln w="12700">
            <a:solidFill>
              <a:srgbClr val="10B981"/>
            </a:solidFill>
            <a:prstDash val="solid"/>
          </a:ln>
        </p:spPr>
      </p:sp>
      <p:sp>
        <p:nvSpPr>
          <p:cNvPr id="29" name="Shape 27"/>
          <p:cNvSpPr/>
          <p:nvPr/>
        </p:nvSpPr>
        <p:spPr>
          <a:xfrm>
            <a:off x="457200" y="4297680"/>
            <a:ext cx="1371600" cy="502920"/>
          </a:xfrm>
          <a:prstGeom prst="rect">
            <a:avLst/>
          </a:prstGeom>
          <a:solidFill>
            <a:srgbClr val="06B6D4">
              <a:alpha val="85000"/>
            </a:srgbClr>
          </a:solidFill>
          <a:ln w="12700">
            <a:solidFill>
              <a:srgbClr val="06B6D4"/>
            </a:solidFill>
            <a:prstDash val="solid"/>
          </a:ln>
        </p:spPr>
      </p:sp>
      <p:sp>
        <p:nvSpPr>
          <p:cNvPr id="30" name="Text 28"/>
          <p:cNvSpPr/>
          <p:nvPr/>
        </p:nvSpPr>
        <p:spPr>
          <a:xfrm>
            <a:off x="457200" y="4297680"/>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STREAMING</a:t>
            </a:r>
            <a:endParaRPr lang="en-US" sz="900" dirty="0"/>
          </a:p>
        </p:txBody>
      </p:sp>
      <p:sp>
        <p:nvSpPr>
          <p:cNvPr id="31" name="Shape 29"/>
          <p:cNvSpPr/>
          <p:nvPr/>
        </p:nvSpPr>
        <p:spPr>
          <a:xfrm>
            <a:off x="1920240" y="4389120"/>
            <a:ext cx="6766560" cy="320040"/>
          </a:xfrm>
          <a:prstGeom prst="rect">
            <a:avLst/>
          </a:prstGeom>
          <a:solidFill>
            <a:srgbClr val="1A1A2E"/>
          </a:solidFill>
          <a:ln w="12700">
            <a:solidFill>
              <a:srgbClr val="06B6D4"/>
            </a:solidFill>
            <a:prstDash val="solid"/>
          </a:ln>
        </p:spPr>
      </p:sp>
      <p:sp>
        <p:nvSpPr>
          <p:cNvPr id="32" name="Text 30"/>
          <p:cNvSpPr/>
          <p:nvPr/>
        </p:nvSpPr>
        <p:spPr>
          <a:xfrm>
            <a:off x="2011680" y="4389120"/>
            <a:ext cx="6583680" cy="320040"/>
          </a:xfrm>
          <a:prstGeom prst="rect">
            <a:avLst/>
          </a:prstGeom>
          <a:noFill/>
          <a:ln/>
        </p:spPr>
        <p:txBody>
          <a:bodyPr wrap="square" lIns="0" tIns="0" rIns="0" bIns="0" rtlCol="0" anchor="ctr"/>
          <a:lstStyle/>
          <a:p>
            <a:pPr indent="0" marL="0">
              <a:buNone/>
            </a:pPr>
            <a:r>
              <a:rPr lang="en-US" sz="1000" dirty="0">
                <a:solidFill>
                  <a:srgbClr val="CBD5E1"/>
                </a:solidFill>
              </a:rPr>
              <a:t>R2 Signed URL · Audio Engine · Queue · Equalizer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6</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Scoring Algorithm</a:t>
            </a:r>
            <a:endParaRPr lang="en-US" sz="3000" dirty="0"/>
          </a:p>
        </p:txBody>
      </p:sp>
      <p:sp>
        <p:nvSpPr>
          <p:cNvPr id="4" name="Shape 2"/>
          <p:cNvSpPr/>
          <p:nvPr/>
        </p:nvSpPr>
        <p:spPr>
          <a:xfrm>
            <a:off x="457200" y="914400"/>
            <a:ext cx="8229600" cy="128016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5" name="Text 3"/>
          <p:cNvSpPr/>
          <p:nvPr/>
        </p:nvSpPr>
        <p:spPr>
          <a:xfrm>
            <a:off x="640080" y="960120"/>
            <a:ext cx="7863840" cy="1188720"/>
          </a:xfrm>
          <a:prstGeom prst="rect">
            <a:avLst/>
          </a:prstGeom>
          <a:noFill/>
          <a:ln/>
        </p:spPr>
        <p:txBody>
          <a:bodyPr wrap="square" rtlCol="0" anchor="ctr"/>
          <a:lstStyle/>
          <a:p>
            <a:pPr algn="ctr" indent="0" marL="0">
              <a:buNone/>
            </a:pPr>
            <a:r>
              <a:rPr lang="en-US" sz="1400" b="1" dirty="0">
                <a:solidFill>
                  <a:srgbClr val="DDD6FE"/>
                </a:solidFill>
                <a:latin typeface="Consolas" pitchFamily="34" charset="0"/>
                <a:ea typeface="Consolas" pitchFamily="34" charset="-122"/>
                <a:cs typeface="Consolas" pitchFamily="34" charset="-120"/>
              </a:rPr>
              <a:t>Score  =  0.35 × Genre  +  0.25 × Mood  +  0.25 × Energy  +  0.10 × Acoustic  +  RAG Boost  −  0.10 × Diversity Penalty</a:t>
            </a:r>
            <a:endParaRPr lang="en-US" sz="1400" dirty="0"/>
          </a:p>
        </p:txBody>
      </p:sp>
      <p:sp>
        <p:nvSpPr>
          <p:cNvPr id="6" name="Shape 4"/>
          <p:cNvSpPr/>
          <p:nvPr/>
        </p:nvSpPr>
        <p:spPr>
          <a:xfrm>
            <a:off x="457200" y="2377440"/>
            <a:ext cx="2651760" cy="228600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7" name="Shape 5"/>
          <p:cNvSpPr/>
          <p:nvPr/>
        </p:nvSpPr>
        <p:spPr>
          <a:xfrm>
            <a:off x="457200" y="2377440"/>
            <a:ext cx="54864" cy="2286000"/>
          </a:xfrm>
          <a:prstGeom prst="rect">
            <a:avLst/>
          </a:prstGeom>
          <a:solidFill>
            <a:srgbClr val="7C3AED"/>
          </a:solidFill>
          <a:ln w="12700">
            <a:solidFill>
              <a:srgbClr val="7C3AED"/>
            </a:solidFill>
            <a:prstDash val="solid"/>
          </a:ln>
        </p:spPr>
      </p:sp>
      <p:sp>
        <p:nvSpPr>
          <p:cNvPr id="8" name="Text 6"/>
          <p:cNvSpPr/>
          <p:nvPr/>
        </p:nvSpPr>
        <p:spPr>
          <a:xfrm>
            <a:off x="594360" y="2487168"/>
            <a:ext cx="2468880" cy="274320"/>
          </a:xfrm>
          <a:prstGeom prst="rect">
            <a:avLst/>
          </a:prstGeom>
          <a:noFill/>
          <a:ln/>
        </p:spPr>
        <p:txBody>
          <a:bodyPr wrap="square" lIns="0" tIns="0" rIns="0" bIns="0" rtlCol="0" anchor="ctr"/>
          <a:lstStyle/>
          <a:p>
            <a:pPr indent="0" marL="0">
              <a:buNone/>
            </a:pPr>
            <a:r>
              <a:rPr lang="en-US" sz="1100" b="1" dirty="0">
                <a:solidFill>
                  <a:srgbClr val="FFFFFF"/>
                </a:solidFill>
              </a:rPr>
              <a:t>Jaccard Similarity</a:t>
            </a:r>
            <a:endParaRPr lang="en-US" sz="1100" dirty="0"/>
          </a:p>
          <a:p>
            <a:pPr indent="0" marL="0">
              <a:buNone/>
            </a:pPr>
            <a:r>
              <a:rPr lang="en-US" sz="1100" b="1" dirty="0">
                <a:solidFill>
                  <a:srgbClr val="FFFFFF"/>
                </a:solidFill>
              </a:rPr>
              <a:t>(Genre)</a:t>
            </a:r>
            <a:endParaRPr lang="en-US" sz="1100" dirty="0"/>
          </a:p>
        </p:txBody>
      </p:sp>
      <p:sp>
        <p:nvSpPr>
          <p:cNvPr id="9" name="Text 7"/>
          <p:cNvSpPr/>
          <p:nvPr/>
        </p:nvSpPr>
        <p:spPr>
          <a:xfrm>
            <a:off x="594360" y="2798064"/>
            <a:ext cx="2423160" cy="1783080"/>
          </a:xfrm>
          <a:prstGeom prst="rect">
            <a:avLst/>
          </a:prstGeom>
          <a:noFill/>
          <a:ln/>
        </p:spPr>
        <p:txBody>
          <a:bodyPr wrap="square" lIns="0" tIns="0" rIns="0" bIns="0" rtlCol="0" anchor="ctr"/>
          <a:lstStyle/>
          <a:p>
            <a:pPr indent="0" marL="0">
              <a:buNone/>
            </a:pPr>
            <a:r>
              <a:rPr lang="en-US" sz="950" dirty="0">
                <a:solidFill>
                  <a:srgbClr val="CBD5E1"/>
                </a:solidFill>
              </a:rPr>
              <a:t>|A ∩ B| / |A ∪ B|</a:t>
            </a:r>
            <a:endParaRPr lang="en-US" sz="950" dirty="0"/>
          </a:p>
          <a:p>
            <a:pPr indent="0" marL="0">
              <a:buNone/>
            </a:pPr>
            <a:r>
              <a:rPr lang="en-US" sz="950" dirty="0">
                <a:solidFill>
                  <a:srgbClr val="CBD5E1"/>
                </a:solidFill>
              </a:rPr>
              <a:t>Set theory overlap</a:t>
            </a:r>
            <a:endParaRPr lang="en-US" sz="950" dirty="0"/>
          </a:p>
          <a:p>
            <a:pPr indent="0" marL="0">
              <a:buNone/>
            </a:pPr>
            <a:r>
              <a:rPr lang="en-US" sz="950" dirty="0">
                <a:solidFill>
                  <a:srgbClr val="CBD5E1"/>
                </a:solidFill>
              </a:rPr>
              <a:t>→ [0.0, 1.0]</a:t>
            </a:r>
            <a:endParaRPr lang="en-US" sz="950" dirty="0"/>
          </a:p>
        </p:txBody>
      </p:sp>
      <p:sp>
        <p:nvSpPr>
          <p:cNvPr id="10" name="Shape 8"/>
          <p:cNvSpPr/>
          <p:nvPr/>
        </p:nvSpPr>
        <p:spPr>
          <a:xfrm>
            <a:off x="3291840" y="2377440"/>
            <a:ext cx="2651760" cy="228600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11" name="Shape 9"/>
          <p:cNvSpPr/>
          <p:nvPr/>
        </p:nvSpPr>
        <p:spPr>
          <a:xfrm>
            <a:off x="3291840" y="2377440"/>
            <a:ext cx="54864" cy="2286000"/>
          </a:xfrm>
          <a:prstGeom prst="rect">
            <a:avLst/>
          </a:prstGeom>
          <a:solidFill>
            <a:srgbClr val="06B6D4"/>
          </a:solidFill>
          <a:ln w="12700">
            <a:solidFill>
              <a:srgbClr val="06B6D4"/>
            </a:solidFill>
            <a:prstDash val="solid"/>
          </a:ln>
        </p:spPr>
      </p:sp>
      <p:sp>
        <p:nvSpPr>
          <p:cNvPr id="12" name="Text 10"/>
          <p:cNvSpPr/>
          <p:nvPr/>
        </p:nvSpPr>
        <p:spPr>
          <a:xfrm>
            <a:off x="3429000" y="2487168"/>
            <a:ext cx="2468880" cy="274320"/>
          </a:xfrm>
          <a:prstGeom prst="rect">
            <a:avLst/>
          </a:prstGeom>
          <a:noFill/>
          <a:ln/>
        </p:spPr>
        <p:txBody>
          <a:bodyPr wrap="square" lIns="0" tIns="0" rIns="0" bIns="0" rtlCol="0" anchor="ctr"/>
          <a:lstStyle/>
          <a:p>
            <a:pPr indent="0" marL="0">
              <a:buNone/>
            </a:pPr>
            <a:r>
              <a:rPr lang="en-US" sz="1100" b="1" dirty="0">
                <a:solidFill>
                  <a:srgbClr val="FFFFFF"/>
                </a:solidFill>
              </a:rPr>
              <a:t>Gaussian Kernel</a:t>
            </a:r>
            <a:endParaRPr lang="en-US" sz="1100" dirty="0"/>
          </a:p>
          <a:p>
            <a:pPr indent="0" marL="0">
              <a:buNone/>
            </a:pPr>
            <a:r>
              <a:rPr lang="en-US" sz="1100" b="1" dirty="0">
                <a:solidFill>
                  <a:srgbClr val="FFFFFF"/>
                </a:solidFill>
              </a:rPr>
              <a:t>(Energy)</a:t>
            </a:r>
            <a:endParaRPr lang="en-US" sz="1100" dirty="0"/>
          </a:p>
        </p:txBody>
      </p:sp>
      <p:sp>
        <p:nvSpPr>
          <p:cNvPr id="13" name="Text 11"/>
          <p:cNvSpPr/>
          <p:nvPr/>
        </p:nvSpPr>
        <p:spPr>
          <a:xfrm>
            <a:off x="3429000" y="2798064"/>
            <a:ext cx="2423160" cy="1783080"/>
          </a:xfrm>
          <a:prstGeom prst="rect">
            <a:avLst/>
          </a:prstGeom>
          <a:noFill/>
          <a:ln/>
        </p:spPr>
        <p:txBody>
          <a:bodyPr wrap="square" lIns="0" tIns="0" rIns="0" bIns="0" rtlCol="0" anchor="ctr"/>
          <a:lstStyle/>
          <a:p>
            <a:pPr indent="0" marL="0">
              <a:buNone/>
            </a:pPr>
            <a:r>
              <a:rPr lang="en-US" sz="950" dirty="0">
                <a:solidFill>
                  <a:srgbClr val="CBD5E1"/>
                </a:solidFill>
              </a:rPr>
              <a:t>exp(−Δ² / 2σ²)</a:t>
            </a:r>
            <a:endParaRPr lang="en-US" sz="950" dirty="0"/>
          </a:p>
          <a:p>
            <a:pPr indent="0" marL="0">
              <a:buNone/>
            </a:pPr>
            <a:r>
              <a:rPr lang="en-US" sz="950" dirty="0">
                <a:solidFill>
                  <a:srgbClr val="CBD5E1"/>
                </a:solidFill>
              </a:rPr>
              <a:t>Smooth proximity</a:t>
            </a:r>
            <a:endParaRPr lang="en-US" sz="950" dirty="0"/>
          </a:p>
          <a:p>
            <a:pPr indent="0" marL="0">
              <a:buNone/>
            </a:pPr>
            <a:r>
              <a:rPr lang="en-US" sz="950" dirty="0">
                <a:solidFill>
                  <a:srgbClr val="CBD5E1"/>
                </a:solidFill>
              </a:rPr>
              <a:t>σ = 0.25 bandwidth</a:t>
            </a:r>
            <a:endParaRPr lang="en-US" sz="950" dirty="0"/>
          </a:p>
        </p:txBody>
      </p:sp>
      <p:sp>
        <p:nvSpPr>
          <p:cNvPr id="14" name="Shape 12"/>
          <p:cNvSpPr/>
          <p:nvPr/>
        </p:nvSpPr>
        <p:spPr>
          <a:xfrm>
            <a:off x="6126480" y="2377440"/>
            <a:ext cx="2651760" cy="2286000"/>
          </a:xfrm>
          <a:prstGeom prst="rect">
            <a:avLst/>
          </a:prstGeom>
          <a:solidFill>
            <a:srgbClr val="1A1A2E"/>
          </a:solidFill>
          <a:ln w="12700">
            <a:solidFill>
              <a:srgbClr val="F59E0B"/>
            </a:solidFill>
            <a:prstDash val="solid"/>
          </a:ln>
          <a:effectLst>
            <a:outerShdw sx="100000" sy="100000" kx="0" ky="0" algn="bl" rotWithShape="0" blurRad="152400" dist="50800" dir="8100000">
              <a:srgbClr val="000000">
                <a:alpha val="30000"/>
              </a:srgbClr>
            </a:outerShdw>
          </a:effectLst>
        </p:spPr>
      </p:sp>
      <p:sp>
        <p:nvSpPr>
          <p:cNvPr id="15" name="Shape 13"/>
          <p:cNvSpPr/>
          <p:nvPr/>
        </p:nvSpPr>
        <p:spPr>
          <a:xfrm>
            <a:off x="6126480" y="2377440"/>
            <a:ext cx="54864" cy="2286000"/>
          </a:xfrm>
          <a:prstGeom prst="rect">
            <a:avLst/>
          </a:prstGeom>
          <a:solidFill>
            <a:srgbClr val="F59E0B"/>
          </a:solidFill>
          <a:ln w="12700">
            <a:solidFill>
              <a:srgbClr val="F59E0B"/>
            </a:solidFill>
            <a:prstDash val="solid"/>
          </a:ln>
        </p:spPr>
      </p:sp>
      <p:sp>
        <p:nvSpPr>
          <p:cNvPr id="16" name="Text 14"/>
          <p:cNvSpPr/>
          <p:nvPr/>
        </p:nvSpPr>
        <p:spPr>
          <a:xfrm>
            <a:off x="6263640" y="2487168"/>
            <a:ext cx="2468880" cy="274320"/>
          </a:xfrm>
          <a:prstGeom prst="rect">
            <a:avLst/>
          </a:prstGeom>
          <a:noFill/>
          <a:ln/>
        </p:spPr>
        <p:txBody>
          <a:bodyPr wrap="square" lIns="0" tIns="0" rIns="0" bIns="0" rtlCol="0" anchor="ctr"/>
          <a:lstStyle/>
          <a:p>
            <a:pPr indent="0" marL="0">
              <a:buNone/>
            </a:pPr>
            <a:r>
              <a:rPr lang="en-US" sz="1100" b="1" dirty="0">
                <a:solidFill>
                  <a:srgbClr val="FFFFFF"/>
                </a:solidFill>
              </a:rPr>
              <a:t>RAG Evidence</a:t>
            </a:r>
            <a:endParaRPr lang="en-US" sz="1100" dirty="0"/>
          </a:p>
          <a:p>
            <a:pPr indent="0" marL="0">
              <a:buNone/>
            </a:pPr>
            <a:r>
              <a:rPr lang="en-US" sz="1100" b="1" dirty="0">
                <a:solidFill>
                  <a:srgbClr val="FFFFFF"/>
                </a:solidFill>
              </a:rPr>
              <a:t>(Knowledge Base)</a:t>
            </a:r>
            <a:endParaRPr lang="en-US" sz="1100" dirty="0"/>
          </a:p>
        </p:txBody>
      </p:sp>
      <p:sp>
        <p:nvSpPr>
          <p:cNvPr id="17" name="Text 15"/>
          <p:cNvSpPr/>
          <p:nvPr/>
        </p:nvSpPr>
        <p:spPr>
          <a:xfrm>
            <a:off x="6263640" y="2798064"/>
            <a:ext cx="2423160" cy="1783080"/>
          </a:xfrm>
          <a:prstGeom prst="rect">
            <a:avLst/>
          </a:prstGeom>
          <a:noFill/>
          <a:ln/>
        </p:spPr>
        <p:txBody>
          <a:bodyPr wrap="square" lIns="0" tIns="0" rIns="0" bIns="0" rtlCol="0" anchor="ctr"/>
          <a:lstStyle/>
          <a:p>
            <a:pPr indent="0" marL="0">
              <a:buNone/>
            </a:pPr>
            <a:r>
              <a:rPr lang="en-US" sz="950" dirty="0">
                <a:solidFill>
                  <a:srgbClr val="CBD5E1"/>
                </a:solidFill>
              </a:rPr>
              <a:t>KB1–KB6 retrieval</a:t>
            </a:r>
            <a:endParaRPr lang="en-US" sz="950" dirty="0"/>
          </a:p>
          <a:p>
            <a:pPr indent="0" marL="0">
              <a:buNone/>
            </a:pPr>
            <a:r>
              <a:rPr lang="en-US" sz="950" dirty="0">
                <a:solidFill>
                  <a:srgbClr val="CBD5E1"/>
                </a:solidFill>
              </a:rPr>
              <a:t>+0.05 boost when context</a:t>
            </a:r>
            <a:endParaRPr lang="en-US" sz="950" dirty="0"/>
          </a:p>
          <a:p>
            <a:pPr indent="0" marL="0">
              <a:buNone/>
            </a:pPr>
            <a:r>
              <a:rPr lang="en-US" sz="950" dirty="0">
                <a:solidFill>
                  <a:srgbClr val="CBD5E1"/>
                </a:solidFill>
              </a:rPr>
              <a:t>matches user profile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7</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Confidence Scoring — Honest AI</a:t>
            </a:r>
            <a:endParaRPr lang="en-US" sz="30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400" i="1" dirty="0">
                <a:solidFill>
                  <a:srgbClr val="DDD6FE"/>
                </a:solidFill>
              </a:rPr>
              <a:t>A high score and a high confidence are not the same thing.</a:t>
            </a:r>
            <a:endParaRPr lang="en-US" sz="1400" dirty="0"/>
          </a:p>
        </p:txBody>
      </p:sp>
      <p:sp>
        <p:nvSpPr>
          <p:cNvPr id="5" name="Shape 3"/>
          <p:cNvSpPr/>
          <p:nvPr/>
        </p:nvSpPr>
        <p:spPr>
          <a:xfrm>
            <a:off x="457200" y="1371600"/>
            <a:ext cx="8229600" cy="640080"/>
          </a:xfrm>
          <a:prstGeom prst="rect">
            <a:avLst/>
          </a:prstGeom>
          <a:solidFill>
            <a:srgbClr val="1A1A2E"/>
          </a:solidFill>
          <a:ln w="12700">
            <a:solidFill>
              <a:srgbClr val="06B6D4"/>
            </a:solidFill>
            <a:prstDash val="solid"/>
          </a:ln>
        </p:spPr>
      </p:sp>
      <p:sp>
        <p:nvSpPr>
          <p:cNvPr id="6" name="Text 4"/>
          <p:cNvSpPr/>
          <p:nvPr/>
        </p:nvSpPr>
        <p:spPr>
          <a:xfrm>
            <a:off x="640080" y="1371600"/>
            <a:ext cx="7863840" cy="640080"/>
          </a:xfrm>
          <a:prstGeom prst="rect">
            <a:avLst/>
          </a:prstGeom>
          <a:noFill/>
          <a:ln/>
        </p:spPr>
        <p:txBody>
          <a:bodyPr wrap="square" rtlCol="0" anchor="ctr"/>
          <a:lstStyle/>
          <a:p>
            <a:pPr algn="ctr" indent="0" marL="0">
              <a:buNone/>
            </a:pPr>
            <a:r>
              <a:rPr lang="en-US" sz="1400" b="1" dirty="0">
                <a:solidFill>
                  <a:srgbClr val="A5F3FC"/>
                </a:solidFill>
                <a:latin typeface="Consolas" pitchFamily="34" charset="0"/>
                <a:ea typeface="Consolas" pitchFamily="34" charset="-122"/>
                <a:cs typeface="Consolas" pitchFamily="34" charset="-120"/>
              </a:rPr>
              <a:t>Confidence  =  0.4 × Coverage  +  0.4 × Signal  +  0.2 × Specificity</a:t>
            </a:r>
            <a:endParaRPr lang="en-US" sz="1400" dirty="0"/>
          </a:p>
        </p:txBody>
      </p:sp>
      <p:sp>
        <p:nvSpPr>
          <p:cNvPr id="7" name="Shape 5"/>
          <p:cNvSpPr/>
          <p:nvPr/>
        </p:nvSpPr>
        <p:spPr>
          <a:xfrm>
            <a:off x="457200" y="2240280"/>
            <a:ext cx="8229600" cy="731520"/>
          </a:xfrm>
          <a:prstGeom prst="rect">
            <a:avLst/>
          </a:prstGeom>
          <a:solidFill>
            <a:srgbClr val="1A1A2E"/>
          </a:solidFill>
          <a:ln w="12700">
            <a:solidFill>
              <a:srgbClr val="10B981"/>
            </a:solidFill>
            <a:prstDash val="solid"/>
          </a:ln>
        </p:spPr>
      </p:sp>
      <p:sp>
        <p:nvSpPr>
          <p:cNvPr id="8" name="Shape 6"/>
          <p:cNvSpPr/>
          <p:nvPr/>
        </p:nvSpPr>
        <p:spPr>
          <a:xfrm>
            <a:off x="457200" y="2240280"/>
            <a:ext cx="73152" cy="731520"/>
          </a:xfrm>
          <a:prstGeom prst="rect">
            <a:avLst/>
          </a:prstGeom>
          <a:solidFill>
            <a:srgbClr val="10B981"/>
          </a:solidFill>
          <a:ln w="12700">
            <a:solidFill>
              <a:srgbClr val="10B981"/>
            </a:solidFill>
            <a:prstDash val="solid"/>
          </a:ln>
        </p:spPr>
      </p:sp>
      <p:sp>
        <p:nvSpPr>
          <p:cNvPr id="9" name="Text 7"/>
          <p:cNvSpPr/>
          <p:nvPr/>
        </p:nvSpPr>
        <p:spPr>
          <a:xfrm>
            <a:off x="640080" y="2240280"/>
            <a:ext cx="1097280" cy="731520"/>
          </a:xfrm>
          <a:prstGeom prst="rect">
            <a:avLst/>
          </a:prstGeom>
          <a:noFill/>
          <a:ln/>
        </p:spPr>
        <p:txBody>
          <a:bodyPr wrap="square" lIns="0" tIns="0" rIns="0" bIns="0" rtlCol="0" anchor="ctr"/>
          <a:lstStyle/>
          <a:p>
            <a:pPr indent="0" marL="0">
              <a:buNone/>
            </a:pPr>
            <a:r>
              <a:rPr lang="en-US" sz="1400" b="1" dirty="0">
                <a:solidFill>
                  <a:srgbClr val="10B981"/>
                </a:solidFill>
              </a:rPr>
              <a:t>HIGH</a:t>
            </a:r>
            <a:endParaRPr lang="en-US" sz="1400" dirty="0"/>
          </a:p>
        </p:txBody>
      </p:sp>
      <p:sp>
        <p:nvSpPr>
          <p:cNvPr id="10" name="Text 8"/>
          <p:cNvSpPr/>
          <p:nvPr/>
        </p:nvSpPr>
        <p:spPr>
          <a:xfrm>
            <a:off x="1737360" y="2240280"/>
            <a:ext cx="1097280" cy="731520"/>
          </a:xfrm>
          <a:prstGeom prst="rect">
            <a:avLst/>
          </a:prstGeom>
          <a:noFill/>
          <a:ln/>
        </p:spPr>
        <p:txBody>
          <a:bodyPr wrap="square" lIns="0" tIns="0" rIns="0" bIns="0" rtlCol="0" anchor="ctr"/>
          <a:lstStyle/>
          <a:p>
            <a:pPr indent="0" marL="0">
              <a:buNone/>
            </a:pPr>
            <a:r>
              <a:rPr lang="en-US" sz="1300" dirty="0">
                <a:solidFill>
                  <a:srgbClr val="FFFFFF"/>
                </a:solidFill>
              </a:rPr>
              <a:t>≥ 80%</a:t>
            </a:r>
            <a:endParaRPr lang="en-US" sz="1300" dirty="0"/>
          </a:p>
        </p:txBody>
      </p:sp>
      <p:sp>
        <p:nvSpPr>
          <p:cNvPr id="11" name="Text 9"/>
          <p:cNvSpPr/>
          <p:nvPr/>
        </p:nvSpPr>
        <p:spPr>
          <a:xfrm>
            <a:off x="2926080" y="2240280"/>
            <a:ext cx="5669280" cy="731520"/>
          </a:xfrm>
          <a:prstGeom prst="rect">
            <a:avLst/>
          </a:prstGeom>
          <a:noFill/>
          <a:ln/>
        </p:spPr>
        <p:txBody>
          <a:bodyPr wrap="square" lIns="0" tIns="0" rIns="0" bIns="0" rtlCol="0" anchor="ctr"/>
          <a:lstStyle/>
          <a:p>
            <a:pPr indent="0" marL="0">
              <a:buNone/>
            </a:pPr>
            <a:r>
              <a:rPr lang="en-US" sz="1100" dirty="0">
                <a:solidFill>
                  <a:srgbClr val="CBD5E1"/>
                </a:solidFill>
              </a:rPr>
              <a:t>Green bar · Full explanation · Strong evidence</a:t>
            </a:r>
            <a:endParaRPr lang="en-US" sz="1100" dirty="0"/>
          </a:p>
        </p:txBody>
      </p:sp>
      <p:sp>
        <p:nvSpPr>
          <p:cNvPr id="12" name="Shape 10"/>
          <p:cNvSpPr/>
          <p:nvPr/>
        </p:nvSpPr>
        <p:spPr>
          <a:xfrm>
            <a:off x="457200" y="3108960"/>
            <a:ext cx="8229600" cy="731520"/>
          </a:xfrm>
          <a:prstGeom prst="rect">
            <a:avLst/>
          </a:prstGeom>
          <a:solidFill>
            <a:srgbClr val="1A1A2E"/>
          </a:solidFill>
          <a:ln w="12700">
            <a:solidFill>
              <a:srgbClr val="F59E0B"/>
            </a:solidFill>
            <a:prstDash val="solid"/>
          </a:ln>
        </p:spPr>
      </p:sp>
      <p:sp>
        <p:nvSpPr>
          <p:cNvPr id="13" name="Shape 11"/>
          <p:cNvSpPr/>
          <p:nvPr/>
        </p:nvSpPr>
        <p:spPr>
          <a:xfrm>
            <a:off x="457200" y="3108960"/>
            <a:ext cx="73152" cy="731520"/>
          </a:xfrm>
          <a:prstGeom prst="rect">
            <a:avLst/>
          </a:prstGeom>
          <a:solidFill>
            <a:srgbClr val="F59E0B"/>
          </a:solidFill>
          <a:ln w="12700">
            <a:solidFill>
              <a:srgbClr val="F59E0B"/>
            </a:solidFill>
            <a:prstDash val="solid"/>
          </a:ln>
        </p:spPr>
      </p:sp>
      <p:sp>
        <p:nvSpPr>
          <p:cNvPr id="14" name="Text 12"/>
          <p:cNvSpPr/>
          <p:nvPr/>
        </p:nvSpPr>
        <p:spPr>
          <a:xfrm>
            <a:off x="640080" y="3108960"/>
            <a:ext cx="1097280" cy="731520"/>
          </a:xfrm>
          <a:prstGeom prst="rect">
            <a:avLst/>
          </a:prstGeom>
          <a:noFill/>
          <a:ln/>
        </p:spPr>
        <p:txBody>
          <a:bodyPr wrap="square" lIns="0" tIns="0" rIns="0" bIns="0" rtlCol="0" anchor="ctr"/>
          <a:lstStyle/>
          <a:p>
            <a:pPr indent="0" marL="0">
              <a:buNone/>
            </a:pPr>
            <a:r>
              <a:rPr lang="en-US" sz="1400" b="1" dirty="0">
                <a:solidFill>
                  <a:srgbClr val="F59E0B"/>
                </a:solidFill>
              </a:rPr>
              <a:t>MEDIUM</a:t>
            </a:r>
            <a:endParaRPr lang="en-US" sz="1400" dirty="0"/>
          </a:p>
        </p:txBody>
      </p:sp>
      <p:sp>
        <p:nvSpPr>
          <p:cNvPr id="15" name="Text 13"/>
          <p:cNvSpPr/>
          <p:nvPr/>
        </p:nvSpPr>
        <p:spPr>
          <a:xfrm>
            <a:off x="1737360" y="3108960"/>
            <a:ext cx="1097280" cy="731520"/>
          </a:xfrm>
          <a:prstGeom prst="rect">
            <a:avLst/>
          </a:prstGeom>
          <a:noFill/>
          <a:ln/>
        </p:spPr>
        <p:txBody>
          <a:bodyPr wrap="square" lIns="0" tIns="0" rIns="0" bIns="0" rtlCol="0" anchor="ctr"/>
          <a:lstStyle/>
          <a:p>
            <a:pPr indent="0" marL="0">
              <a:buNone/>
            </a:pPr>
            <a:r>
              <a:rPr lang="en-US" sz="1300" dirty="0">
                <a:solidFill>
                  <a:srgbClr val="FFFFFF"/>
                </a:solidFill>
              </a:rPr>
              <a:t>60–79%</a:t>
            </a:r>
            <a:endParaRPr lang="en-US" sz="1300" dirty="0"/>
          </a:p>
        </p:txBody>
      </p:sp>
      <p:sp>
        <p:nvSpPr>
          <p:cNvPr id="16" name="Text 14"/>
          <p:cNvSpPr/>
          <p:nvPr/>
        </p:nvSpPr>
        <p:spPr>
          <a:xfrm>
            <a:off x="2926080" y="3108960"/>
            <a:ext cx="5669280" cy="731520"/>
          </a:xfrm>
          <a:prstGeom prst="rect">
            <a:avLst/>
          </a:prstGeom>
          <a:noFill/>
          <a:ln/>
        </p:spPr>
        <p:txBody>
          <a:bodyPr wrap="square" lIns="0" tIns="0" rIns="0" bIns="0" rtlCol="0" anchor="ctr"/>
          <a:lstStyle/>
          <a:p>
            <a:pPr indent="0" marL="0">
              <a:buNone/>
            </a:pPr>
            <a:r>
              <a:rPr lang="en-US" sz="1100" dirty="0">
                <a:solidFill>
                  <a:srgbClr val="CBD5E1"/>
                </a:solidFill>
              </a:rPr>
              <a:t>Yellow bar · Partial explanation · Hedge language</a:t>
            </a:r>
            <a:endParaRPr lang="en-US" sz="1100" dirty="0"/>
          </a:p>
        </p:txBody>
      </p:sp>
      <p:sp>
        <p:nvSpPr>
          <p:cNvPr id="17" name="Shape 15"/>
          <p:cNvSpPr/>
          <p:nvPr/>
        </p:nvSpPr>
        <p:spPr>
          <a:xfrm>
            <a:off x="457200" y="3977640"/>
            <a:ext cx="8229600" cy="731520"/>
          </a:xfrm>
          <a:prstGeom prst="rect">
            <a:avLst/>
          </a:prstGeom>
          <a:solidFill>
            <a:srgbClr val="1A1A2E"/>
          </a:solidFill>
          <a:ln w="12700">
            <a:solidFill>
              <a:srgbClr val="EF4444"/>
            </a:solidFill>
            <a:prstDash val="solid"/>
          </a:ln>
        </p:spPr>
      </p:sp>
      <p:sp>
        <p:nvSpPr>
          <p:cNvPr id="18" name="Shape 16"/>
          <p:cNvSpPr/>
          <p:nvPr/>
        </p:nvSpPr>
        <p:spPr>
          <a:xfrm>
            <a:off x="457200" y="3977640"/>
            <a:ext cx="73152" cy="731520"/>
          </a:xfrm>
          <a:prstGeom prst="rect">
            <a:avLst/>
          </a:prstGeom>
          <a:solidFill>
            <a:srgbClr val="EF4444"/>
          </a:solidFill>
          <a:ln w="12700">
            <a:solidFill>
              <a:srgbClr val="EF4444"/>
            </a:solidFill>
            <a:prstDash val="solid"/>
          </a:ln>
        </p:spPr>
      </p:sp>
      <p:sp>
        <p:nvSpPr>
          <p:cNvPr id="19" name="Text 17"/>
          <p:cNvSpPr/>
          <p:nvPr/>
        </p:nvSpPr>
        <p:spPr>
          <a:xfrm>
            <a:off x="640080" y="3977640"/>
            <a:ext cx="1097280" cy="731520"/>
          </a:xfrm>
          <a:prstGeom prst="rect">
            <a:avLst/>
          </a:prstGeom>
          <a:noFill/>
          <a:ln/>
        </p:spPr>
        <p:txBody>
          <a:bodyPr wrap="square" lIns="0" tIns="0" rIns="0" bIns="0" rtlCol="0" anchor="ctr"/>
          <a:lstStyle/>
          <a:p>
            <a:pPr indent="0" marL="0">
              <a:buNone/>
            </a:pPr>
            <a:r>
              <a:rPr lang="en-US" sz="1400" b="1" dirty="0">
                <a:solidFill>
                  <a:srgbClr val="EF4444"/>
                </a:solidFill>
              </a:rPr>
              <a:t>LOW</a:t>
            </a:r>
            <a:endParaRPr lang="en-US" sz="1400" dirty="0"/>
          </a:p>
        </p:txBody>
      </p:sp>
      <p:sp>
        <p:nvSpPr>
          <p:cNvPr id="20" name="Text 18"/>
          <p:cNvSpPr/>
          <p:nvPr/>
        </p:nvSpPr>
        <p:spPr>
          <a:xfrm>
            <a:off x="1737360" y="3977640"/>
            <a:ext cx="1097280" cy="731520"/>
          </a:xfrm>
          <a:prstGeom prst="rect">
            <a:avLst/>
          </a:prstGeom>
          <a:noFill/>
          <a:ln/>
        </p:spPr>
        <p:txBody>
          <a:bodyPr wrap="square" lIns="0" tIns="0" rIns="0" bIns="0" rtlCol="0" anchor="ctr"/>
          <a:lstStyle/>
          <a:p>
            <a:pPr indent="0" marL="0">
              <a:buNone/>
            </a:pPr>
            <a:r>
              <a:rPr lang="en-US" sz="1300" dirty="0">
                <a:solidFill>
                  <a:srgbClr val="FFFFFF"/>
                </a:solidFill>
              </a:rPr>
              <a:t>&lt; 60%</a:t>
            </a:r>
            <a:endParaRPr lang="en-US" sz="1300" dirty="0"/>
          </a:p>
        </p:txBody>
      </p:sp>
      <p:sp>
        <p:nvSpPr>
          <p:cNvPr id="21" name="Text 19"/>
          <p:cNvSpPr/>
          <p:nvPr/>
        </p:nvSpPr>
        <p:spPr>
          <a:xfrm>
            <a:off x="2926080" y="3977640"/>
            <a:ext cx="5669280" cy="731520"/>
          </a:xfrm>
          <a:prstGeom prst="rect">
            <a:avLst/>
          </a:prstGeom>
          <a:noFill/>
          <a:ln/>
        </p:spPr>
        <p:txBody>
          <a:bodyPr wrap="square" lIns="0" tIns="0" rIns="0" bIns="0" rtlCol="0" anchor="ctr"/>
          <a:lstStyle/>
          <a:p>
            <a:pPr indent="0" marL="0">
              <a:buNone/>
            </a:pPr>
            <a:r>
              <a:rPr lang="en-US" sz="1100" dirty="0">
                <a:solidFill>
                  <a:srgbClr val="CBD5E1"/>
                </a:solidFill>
              </a:rPr>
              <a:t>Dim bar · Fallback notice · Transparent messaging</a:t>
            </a:r>
            <a:endParaRPr lang="en-US" sz="1100" dirty="0"/>
          </a:p>
        </p:txBody>
      </p:sp>
      <p:sp>
        <p:nvSpPr>
          <p:cNvPr id="22" name="Text 20"/>
          <p:cNvSpPr/>
          <p:nvPr/>
        </p:nvSpPr>
        <p:spPr>
          <a:xfrm>
            <a:off x="457200" y="4709160"/>
            <a:ext cx="8229600" cy="320040"/>
          </a:xfrm>
          <a:prstGeom prst="rect">
            <a:avLst/>
          </a:prstGeom>
          <a:noFill/>
          <a:ln/>
        </p:spPr>
        <p:txBody>
          <a:bodyPr wrap="square" rtlCol="0" anchor="ctr"/>
          <a:lstStyle/>
          <a:p>
            <a:pPr indent="0" marL="0">
              <a:buNone/>
            </a:pPr>
            <a:r>
              <a:rPr lang="en-US" sz="1100" i="1" dirty="0">
                <a:solidFill>
                  <a:srgbClr val="94A3B8"/>
                </a:solidFill>
              </a:rPr>
              <a:t>Measured average across 4 test profiles: 0.599</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8</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Retrieval-Augmented Generation — The Knowledge Base</a:t>
            </a:r>
            <a:endParaRPr lang="en-US" sz="2800" dirty="0"/>
          </a:p>
        </p:txBody>
      </p:sp>
      <p:sp>
        <p:nvSpPr>
          <p:cNvPr id="4" name="Text 2"/>
          <p:cNvSpPr/>
          <p:nvPr/>
        </p:nvSpPr>
        <p:spPr>
          <a:xfrm>
            <a:off x="457200" y="868680"/>
            <a:ext cx="8229600" cy="320040"/>
          </a:xfrm>
          <a:prstGeom prst="rect">
            <a:avLst/>
          </a:prstGeom>
          <a:noFill/>
          <a:ln/>
        </p:spPr>
        <p:txBody>
          <a:bodyPr wrap="square" rtlCol="0" anchor="ctr"/>
          <a:lstStyle/>
          <a:p>
            <a:pPr indent="0" marL="0">
              <a:buNone/>
            </a:pPr>
            <a:r>
              <a:rPr lang="en-US" sz="1200" i="1" dirty="0">
                <a:solidFill>
                  <a:srgbClr val="94A3B8"/>
                </a:solidFill>
              </a:rPr>
              <a:t>6 knowledge notes · each with semantic tags · boost confidence when matched</a:t>
            </a:r>
            <a:endParaRPr lang="en-US" sz="1200" dirty="0"/>
          </a:p>
        </p:txBody>
      </p:sp>
      <p:sp>
        <p:nvSpPr>
          <p:cNvPr id="5" name="Shape 3"/>
          <p:cNvSpPr/>
          <p:nvPr/>
        </p:nvSpPr>
        <p:spPr>
          <a:xfrm>
            <a:off x="457200" y="1325880"/>
            <a:ext cx="4114800" cy="109728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6" name="Shape 4"/>
          <p:cNvSpPr/>
          <p:nvPr/>
        </p:nvSpPr>
        <p:spPr>
          <a:xfrm>
            <a:off x="457200" y="1325880"/>
            <a:ext cx="502920" cy="1097280"/>
          </a:xfrm>
          <a:prstGeom prst="rect">
            <a:avLst/>
          </a:prstGeom>
          <a:solidFill>
            <a:srgbClr val="7C3AED">
              <a:alpha val="80000"/>
            </a:srgbClr>
          </a:solidFill>
          <a:ln w="12700">
            <a:solidFill>
              <a:srgbClr val="7C3AED"/>
            </a:solidFill>
            <a:prstDash val="solid"/>
          </a:ln>
        </p:spPr>
      </p:sp>
      <p:sp>
        <p:nvSpPr>
          <p:cNvPr id="7" name="Text 5"/>
          <p:cNvSpPr/>
          <p:nvPr/>
        </p:nvSpPr>
        <p:spPr>
          <a:xfrm>
            <a:off x="457200" y="1325880"/>
            <a:ext cx="502920" cy="1097280"/>
          </a:xfrm>
          <a:prstGeom prst="rect">
            <a:avLst/>
          </a:prstGeom>
          <a:noFill/>
          <a:ln/>
        </p:spPr>
        <p:txBody>
          <a:bodyPr wrap="square" lIns="0" tIns="0" rIns="0" bIns="0" rtlCol="0" anchor="ctr"/>
          <a:lstStyle/>
          <a:p>
            <a:pPr algn="ctr" indent="0" marL="0">
              <a:buNone/>
            </a:pPr>
            <a:r>
              <a:rPr lang="en-US" sz="1200" b="1" dirty="0">
                <a:solidFill>
                  <a:srgbClr val="FFFFFF"/>
                </a:solidFill>
              </a:rPr>
              <a:t>KB1</a:t>
            </a:r>
            <a:endParaRPr lang="en-US" sz="1200" dirty="0"/>
          </a:p>
        </p:txBody>
      </p:sp>
      <p:sp>
        <p:nvSpPr>
          <p:cNvPr id="8" name="Text 6"/>
          <p:cNvSpPr/>
          <p:nvPr/>
        </p:nvSpPr>
        <p:spPr>
          <a:xfrm>
            <a:off x="1051560" y="1399032"/>
            <a:ext cx="3429000" cy="274320"/>
          </a:xfrm>
          <a:prstGeom prst="rect">
            <a:avLst/>
          </a:prstGeom>
          <a:noFill/>
          <a:ln/>
        </p:spPr>
        <p:txBody>
          <a:bodyPr wrap="square" lIns="0" tIns="0" rIns="0" bIns="0" rtlCol="0" anchor="ctr"/>
          <a:lstStyle/>
          <a:p>
            <a:pPr indent="0" marL="0">
              <a:buNone/>
            </a:pPr>
            <a:r>
              <a:rPr lang="en-US" sz="1000" b="1" dirty="0">
                <a:solidFill>
                  <a:srgbClr val="FFFFFF"/>
                </a:solidFill>
              </a:rPr>
              <a:t>Genre Familiarity</a:t>
            </a:r>
            <a:endParaRPr lang="en-US" sz="1000" dirty="0"/>
          </a:p>
        </p:txBody>
      </p:sp>
      <p:sp>
        <p:nvSpPr>
          <p:cNvPr id="9" name="Text 7"/>
          <p:cNvSpPr/>
          <p:nvPr/>
        </p:nvSpPr>
        <p:spPr>
          <a:xfrm>
            <a:off x="1051560" y="1691640"/>
            <a:ext cx="3429000" cy="411480"/>
          </a:xfrm>
          <a:prstGeom prst="rect">
            <a:avLst/>
          </a:prstGeom>
          <a:noFill/>
          <a:ln/>
        </p:spPr>
        <p:txBody>
          <a:bodyPr wrap="square" lIns="0" tIns="0" rIns="0" bIns="0" rtlCol="0" anchor="ctr"/>
          <a:lstStyle/>
          <a:p>
            <a:pPr indent="0" marL="0">
              <a:buNone/>
            </a:pPr>
            <a:r>
              <a:rPr lang="en-US" sz="900" dirty="0">
                <a:solidFill>
                  <a:srgbClr val="CBD5E1"/>
                </a:solidFill>
              </a:rPr>
              <a:t>Pop/indie-pop → high-valence upbeat results</a:t>
            </a:r>
            <a:endParaRPr lang="en-US" sz="900" dirty="0"/>
          </a:p>
        </p:txBody>
      </p:sp>
      <p:sp>
        <p:nvSpPr>
          <p:cNvPr id="10" name="Text 8"/>
          <p:cNvSpPr/>
          <p:nvPr/>
        </p:nvSpPr>
        <p:spPr>
          <a:xfrm>
            <a:off x="1051560" y="2103120"/>
            <a:ext cx="3429000" cy="228600"/>
          </a:xfrm>
          <a:prstGeom prst="rect">
            <a:avLst/>
          </a:prstGeom>
          <a:noFill/>
          <a:ln/>
        </p:spPr>
        <p:txBody>
          <a:bodyPr wrap="square" lIns="0" tIns="0" rIns="0" bIns="0" rtlCol="0" anchor="ctr"/>
          <a:lstStyle/>
          <a:p>
            <a:pPr indent="0" marL="0">
              <a:buNone/>
            </a:pPr>
            <a:r>
              <a:rPr lang="en-US" sz="800" i="1" dirty="0">
                <a:solidFill>
                  <a:srgbClr val="7C3AED"/>
                </a:solidFill>
              </a:rPr>
              <a:t>pop, indie-pop, uplifting, happy</a:t>
            </a:r>
            <a:endParaRPr lang="en-US" sz="800" dirty="0"/>
          </a:p>
        </p:txBody>
      </p:sp>
      <p:sp>
        <p:nvSpPr>
          <p:cNvPr id="11" name="Shape 9"/>
          <p:cNvSpPr/>
          <p:nvPr/>
        </p:nvSpPr>
        <p:spPr>
          <a:xfrm>
            <a:off x="457200" y="2560320"/>
            <a:ext cx="4114800" cy="109728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12" name="Shape 10"/>
          <p:cNvSpPr/>
          <p:nvPr/>
        </p:nvSpPr>
        <p:spPr>
          <a:xfrm>
            <a:off x="457200" y="2560320"/>
            <a:ext cx="502920" cy="1097280"/>
          </a:xfrm>
          <a:prstGeom prst="rect">
            <a:avLst/>
          </a:prstGeom>
          <a:solidFill>
            <a:srgbClr val="06B6D4">
              <a:alpha val="80000"/>
            </a:srgbClr>
          </a:solidFill>
          <a:ln w="12700">
            <a:solidFill>
              <a:srgbClr val="06B6D4"/>
            </a:solidFill>
            <a:prstDash val="solid"/>
          </a:ln>
        </p:spPr>
      </p:sp>
      <p:sp>
        <p:nvSpPr>
          <p:cNvPr id="13" name="Text 11"/>
          <p:cNvSpPr/>
          <p:nvPr/>
        </p:nvSpPr>
        <p:spPr>
          <a:xfrm>
            <a:off x="457200" y="2560320"/>
            <a:ext cx="502920" cy="1097280"/>
          </a:xfrm>
          <a:prstGeom prst="rect">
            <a:avLst/>
          </a:prstGeom>
          <a:noFill/>
          <a:ln/>
        </p:spPr>
        <p:txBody>
          <a:bodyPr wrap="square" lIns="0" tIns="0" rIns="0" bIns="0" rtlCol="0" anchor="ctr"/>
          <a:lstStyle/>
          <a:p>
            <a:pPr algn="ctr" indent="0" marL="0">
              <a:buNone/>
            </a:pPr>
            <a:r>
              <a:rPr lang="en-US" sz="1200" b="1" dirty="0">
                <a:solidFill>
                  <a:srgbClr val="FFFFFF"/>
                </a:solidFill>
              </a:rPr>
              <a:t>KB2</a:t>
            </a:r>
            <a:endParaRPr lang="en-US" sz="1200" dirty="0"/>
          </a:p>
        </p:txBody>
      </p:sp>
      <p:sp>
        <p:nvSpPr>
          <p:cNvPr id="14" name="Text 12"/>
          <p:cNvSpPr/>
          <p:nvPr/>
        </p:nvSpPr>
        <p:spPr>
          <a:xfrm>
            <a:off x="1051560" y="2633472"/>
            <a:ext cx="3429000" cy="274320"/>
          </a:xfrm>
          <a:prstGeom prst="rect">
            <a:avLst/>
          </a:prstGeom>
          <a:noFill/>
          <a:ln/>
        </p:spPr>
        <p:txBody>
          <a:bodyPr wrap="square" lIns="0" tIns="0" rIns="0" bIns="0" rtlCol="0" anchor="ctr"/>
          <a:lstStyle/>
          <a:p>
            <a:pPr indent="0" marL="0">
              <a:buNone/>
            </a:pPr>
            <a:r>
              <a:rPr lang="en-US" sz="1000" b="1" dirty="0">
                <a:solidFill>
                  <a:srgbClr val="FFFFFF"/>
                </a:solidFill>
              </a:rPr>
              <a:t>Focus Listening</a:t>
            </a:r>
            <a:endParaRPr lang="en-US" sz="1000" dirty="0"/>
          </a:p>
        </p:txBody>
      </p:sp>
      <p:sp>
        <p:nvSpPr>
          <p:cNvPr id="15" name="Text 13"/>
          <p:cNvSpPr/>
          <p:nvPr/>
        </p:nvSpPr>
        <p:spPr>
          <a:xfrm>
            <a:off x="1051560" y="2926080"/>
            <a:ext cx="3429000" cy="411480"/>
          </a:xfrm>
          <a:prstGeom prst="rect">
            <a:avLst/>
          </a:prstGeom>
          <a:noFill/>
          <a:ln/>
        </p:spPr>
        <p:txBody>
          <a:bodyPr wrap="square" lIns="0" tIns="0" rIns="0" bIns="0" rtlCol="0" anchor="ctr"/>
          <a:lstStyle/>
          <a:p>
            <a:pPr indent="0" marL="0">
              <a:buNone/>
            </a:pPr>
            <a:r>
              <a:rPr lang="en-US" sz="900" dirty="0">
                <a:solidFill>
                  <a:srgbClr val="CBD5E1"/>
                </a:solidFill>
              </a:rPr>
              <a:t>Lofi + moderate energy → study/focus context</a:t>
            </a:r>
            <a:endParaRPr lang="en-US" sz="900" dirty="0"/>
          </a:p>
        </p:txBody>
      </p:sp>
      <p:sp>
        <p:nvSpPr>
          <p:cNvPr id="16" name="Text 14"/>
          <p:cNvSpPr/>
          <p:nvPr/>
        </p:nvSpPr>
        <p:spPr>
          <a:xfrm>
            <a:off x="1051560" y="3337560"/>
            <a:ext cx="3429000" cy="228600"/>
          </a:xfrm>
          <a:prstGeom prst="rect">
            <a:avLst/>
          </a:prstGeom>
          <a:noFill/>
          <a:ln/>
        </p:spPr>
        <p:txBody>
          <a:bodyPr wrap="square" lIns="0" tIns="0" rIns="0" bIns="0" rtlCol="0" anchor="ctr"/>
          <a:lstStyle/>
          <a:p>
            <a:pPr indent="0" marL="0">
              <a:buNone/>
            </a:pPr>
            <a:r>
              <a:rPr lang="en-US" sz="800" i="1" dirty="0">
                <a:solidFill>
                  <a:srgbClr val="06B6D4"/>
                </a:solidFill>
              </a:rPr>
              <a:t>lofi, chill, focused, reflective</a:t>
            </a:r>
            <a:endParaRPr lang="en-US" sz="800" dirty="0"/>
          </a:p>
        </p:txBody>
      </p:sp>
      <p:sp>
        <p:nvSpPr>
          <p:cNvPr id="17" name="Shape 15"/>
          <p:cNvSpPr/>
          <p:nvPr/>
        </p:nvSpPr>
        <p:spPr>
          <a:xfrm>
            <a:off x="457200" y="3794760"/>
            <a:ext cx="4114800" cy="1097280"/>
          </a:xfrm>
          <a:prstGeom prst="rect">
            <a:avLst/>
          </a:prstGeom>
          <a:solidFill>
            <a:srgbClr val="1A1A2E"/>
          </a:solidFill>
          <a:ln w="12700">
            <a:solidFill>
              <a:srgbClr val="EF4444"/>
            </a:solidFill>
            <a:prstDash val="solid"/>
          </a:ln>
          <a:effectLst>
            <a:outerShdw sx="100000" sy="100000" kx="0" ky="0" algn="bl" rotWithShape="0" blurRad="152400" dist="50800" dir="8100000">
              <a:srgbClr val="000000">
                <a:alpha val="30000"/>
              </a:srgbClr>
            </a:outerShdw>
          </a:effectLst>
        </p:spPr>
      </p:sp>
      <p:sp>
        <p:nvSpPr>
          <p:cNvPr id="18" name="Shape 16"/>
          <p:cNvSpPr/>
          <p:nvPr/>
        </p:nvSpPr>
        <p:spPr>
          <a:xfrm>
            <a:off x="457200" y="3794760"/>
            <a:ext cx="502920" cy="1097280"/>
          </a:xfrm>
          <a:prstGeom prst="rect">
            <a:avLst/>
          </a:prstGeom>
          <a:solidFill>
            <a:srgbClr val="EF4444">
              <a:alpha val="80000"/>
            </a:srgbClr>
          </a:solidFill>
          <a:ln w="12700">
            <a:solidFill>
              <a:srgbClr val="EF4444"/>
            </a:solidFill>
            <a:prstDash val="solid"/>
          </a:ln>
        </p:spPr>
      </p:sp>
      <p:sp>
        <p:nvSpPr>
          <p:cNvPr id="19" name="Text 17"/>
          <p:cNvSpPr/>
          <p:nvPr/>
        </p:nvSpPr>
        <p:spPr>
          <a:xfrm>
            <a:off x="457200" y="3794760"/>
            <a:ext cx="502920" cy="1097280"/>
          </a:xfrm>
          <a:prstGeom prst="rect">
            <a:avLst/>
          </a:prstGeom>
          <a:noFill/>
          <a:ln/>
        </p:spPr>
        <p:txBody>
          <a:bodyPr wrap="square" lIns="0" tIns="0" rIns="0" bIns="0" rtlCol="0" anchor="ctr"/>
          <a:lstStyle/>
          <a:p>
            <a:pPr algn="ctr" indent="0" marL="0">
              <a:buNone/>
            </a:pPr>
            <a:r>
              <a:rPr lang="en-US" sz="1200" b="1" dirty="0">
                <a:solidFill>
                  <a:srgbClr val="FFFFFF"/>
                </a:solidFill>
              </a:rPr>
              <a:t>KB3</a:t>
            </a:r>
            <a:endParaRPr lang="en-US" sz="1200" dirty="0"/>
          </a:p>
        </p:txBody>
      </p:sp>
      <p:sp>
        <p:nvSpPr>
          <p:cNvPr id="20" name="Text 18"/>
          <p:cNvSpPr/>
          <p:nvPr/>
        </p:nvSpPr>
        <p:spPr>
          <a:xfrm>
            <a:off x="1051560" y="3867912"/>
            <a:ext cx="3429000" cy="274320"/>
          </a:xfrm>
          <a:prstGeom prst="rect">
            <a:avLst/>
          </a:prstGeom>
          <a:noFill/>
          <a:ln/>
        </p:spPr>
        <p:txBody>
          <a:bodyPr wrap="square" lIns="0" tIns="0" rIns="0" bIns="0" rtlCol="0" anchor="ctr"/>
          <a:lstStyle/>
          <a:p>
            <a:pPr indent="0" marL="0">
              <a:buNone/>
            </a:pPr>
            <a:r>
              <a:rPr lang="en-US" sz="1000" b="1" dirty="0">
                <a:solidFill>
                  <a:srgbClr val="FFFFFF"/>
                </a:solidFill>
              </a:rPr>
              <a:t>High Intensity</a:t>
            </a:r>
            <a:endParaRPr lang="en-US" sz="1000" dirty="0"/>
          </a:p>
        </p:txBody>
      </p:sp>
      <p:sp>
        <p:nvSpPr>
          <p:cNvPr id="21" name="Text 19"/>
          <p:cNvSpPr/>
          <p:nvPr/>
        </p:nvSpPr>
        <p:spPr>
          <a:xfrm>
            <a:off x="1051560" y="4160520"/>
            <a:ext cx="3429000" cy="411480"/>
          </a:xfrm>
          <a:prstGeom prst="rect">
            <a:avLst/>
          </a:prstGeom>
          <a:noFill/>
          <a:ln/>
        </p:spPr>
        <p:txBody>
          <a:bodyPr wrap="square" lIns="0" tIns="0" rIns="0" bIns="0" rtlCol="0" anchor="ctr"/>
          <a:lstStyle/>
          <a:p>
            <a:pPr indent="0" marL="0">
              <a:buNone/>
            </a:pPr>
            <a:r>
              <a:rPr lang="en-US" sz="900" dirty="0">
                <a:solidFill>
                  <a:srgbClr val="CBD5E1"/>
                </a:solidFill>
              </a:rPr>
              <a:t>Rock/metal → reliable for intense sessions</a:t>
            </a:r>
            <a:endParaRPr lang="en-US" sz="900" dirty="0"/>
          </a:p>
        </p:txBody>
      </p:sp>
      <p:sp>
        <p:nvSpPr>
          <p:cNvPr id="22" name="Text 20"/>
          <p:cNvSpPr/>
          <p:nvPr/>
        </p:nvSpPr>
        <p:spPr>
          <a:xfrm>
            <a:off x="1051560" y="4572000"/>
            <a:ext cx="3429000" cy="228600"/>
          </a:xfrm>
          <a:prstGeom prst="rect">
            <a:avLst/>
          </a:prstGeom>
          <a:noFill/>
          <a:ln/>
        </p:spPr>
        <p:txBody>
          <a:bodyPr wrap="square" lIns="0" tIns="0" rIns="0" bIns="0" rtlCol="0" anchor="ctr"/>
          <a:lstStyle/>
          <a:p>
            <a:pPr indent="0" marL="0">
              <a:buNone/>
            </a:pPr>
            <a:r>
              <a:rPr lang="en-US" sz="800" i="1" dirty="0">
                <a:solidFill>
                  <a:srgbClr val="EF4444"/>
                </a:solidFill>
              </a:rPr>
              <a:t>rock, metal, intense, aggressive</a:t>
            </a:r>
            <a:endParaRPr lang="en-US" sz="800" dirty="0"/>
          </a:p>
        </p:txBody>
      </p:sp>
      <p:sp>
        <p:nvSpPr>
          <p:cNvPr id="23" name="Shape 21"/>
          <p:cNvSpPr/>
          <p:nvPr/>
        </p:nvSpPr>
        <p:spPr>
          <a:xfrm>
            <a:off x="4846320" y="1325880"/>
            <a:ext cx="4114800" cy="1097280"/>
          </a:xfrm>
          <a:prstGeom prst="rect">
            <a:avLst/>
          </a:prstGeom>
          <a:solidFill>
            <a:srgbClr val="1A1A2E"/>
          </a:solidFill>
          <a:ln w="12700">
            <a:solidFill>
              <a:srgbClr val="F59E0B"/>
            </a:solidFill>
            <a:prstDash val="solid"/>
          </a:ln>
          <a:effectLst>
            <a:outerShdw sx="100000" sy="100000" kx="0" ky="0" algn="bl" rotWithShape="0" blurRad="152400" dist="50800" dir="8100000">
              <a:srgbClr val="000000">
                <a:alpha val="30000"/>
              </a:srgbClr>
            </a:outerShdw>
          </a:effectLst>
        </p:spPr>
      </p:sp>
      <p:sp>
        <p:nvSpPr>
          <p:cNvPr id="24" name="Shape 22"/>
          <p:cNvSpPr/>
          <p:nvPr/>
        </p:nvSpPr>
        <p:spPr>
          <a:xfrm>
            <a:off x="4846320" y="1325880"/>
            <a:ext cx="502920" cy="1097280"/>
          </a:xfrm>
          <a:prstGeom prst="rect">
            <a:avLst/>
          </a:prstGeom>
          <a:solidFill>
            <a:srgbClr val="F59E0B">
              <a:alpha val="80000"/>
            </a:srgbClr>
          </a:solidFill>
          <a:ln w="12700">
            <a:solidFill>
              <a:srgbClr val="F59E0B"/>
            </a:solidFill>
            <a:prstDash val="solid"/>
          </a:ln>
        </p:spPr>
      </p:sp>
      <p:sp>
        <p:nvSpPr>
          <p:cNvPr id="25" name="Text 23"/>
          <p:cNvSpPr/>
          <p:nvPr/>
        </p:nvSpPr>
        <p:spPr>
          <a:xfrm>
            <a:off x="4846320" y="1325880"/>
            <a:ext cx="502920" cy="1097280"/>
          </a:xfrm>
          <a:prstGeom prst="rect">
            <a:avLst/>
          </a:prstGeom>
          <a:noFill/>
          <a:ln/>
        </p:spPr>
        <p:txBody>
          <a:bodyPr wrap="square" lIns="0" tIns="0" rIns="0" bIns="0" rtlCol="0" anchor="ctr"/>
          <a:lstStyle/>
          <a:p>
            <a:pPr algn="ctr" indent="0" marL="0">
              <a:buNone/>
            </a:pPr>
            <a:r>
              <a:rPr lang="en-US" sz="1200" b="1" dirty="0">
                <a:solidFill>
                  <a:srgbClr val="FFFFFF"/>
                </a:solidFill>
              </a:rPr>
              <a:t>KB4</a:t>
            </a:r>
            <a:endParaRPr lang="en-US" sz="1200" dirty="0"/>
          </a:p>
        </p:txBody>
      </p:sp>
      <p:sp>
        <p:nvSpPr>
          <p:cNvPr id="26" name="Text 24"/>
          <p:cNvSpPr/>
          <p:nvPr/>
        </p:nvSpPr>
        <p:spPr>
          <a:xfrm>
            <a:off x="5440680" y="1399032"/>
            <a:ext cx="3429000" cy="274320"/>
          </a:xfrm>
          <a:prstGeom prst="rect">
            <a:avLst/>
          </a:prstGeom>
          <a:noFill/>
          <a:ln/>
        </p:spPr>
        <p:txBody>
          <a:bodyPr wrap="square" lIns="0" tIns="0" rIns="0" bIns="0" rtlCol="0" anchor="ctr"/>
          <a:lstStyle/>
          <a:p>
            <a:pPr indent="0" marL="0">
              <a:buNone/>
            </a:pPr>
            <a:r>
              <a:rPr lang="en-US" sz="1000" b="1" dirty="0">
                <a:solidFill>
                  <a:srgbClr val="FFFFFF"/>
                </a:solidFill>
              </a:rPr>
              <a:t>Acoustic Preference</a:t>
            </a:r>
            <a:endParaRPr lang="en-US" sz="1000" dirty="0"/>
          </a:p>
        </p:txBody>
      </p:sp>
      <p:sp>
        <p:nvSpPr>
          <p:cNvPr id="27" name="Text 25"/>
          <p:cNvSpPr/>
          <p:nvPr/>
        </p:nvSpPr>
        <p:spPr>
          <a:xfrm>
            <a:off x="5440680" y="1691640"/>
            <a:ext cx="3429000" cy="411480"/>
          </a:xfrm>
          <a:prstGeom prst="rect">
            <a:avLst/>
          </a:prstGeom>
          <a:noFill/>
          <a:ln/>
        </p:spPr>
        <p:txBody>
          <a:bodyPr wrap="square" lIns="0" tIns="0" rIns="0" bIns="0" rtlCol="0" anchor="ctr"/>
          <a:lstStyle/>
          <a:p>
            <a:pPr indent="0" marL="0">
              <a:buNone/>
            </a:pPr>
            <a:r>
              <a:rPr lang="en-US" sz="900" dirty="0">
                <a:solidFill>
                  <a:srgbClr val="CBD5E1"/>
                </a:solidFill>
              </a:rPr>
              <a:t>Acoustic preference → softer mood tags</a:t>
            </a:r>
            <a:endParaRPr lang="en-US" sz="900" dirty="0"/>
          </a:p>
        </p:txBody>
      </p:sp>
      <p:sp>
        <p:nvSpPr>
          <p:cNvPr id="28" name="Text 26"/>
          <p:cNvSpPr/>
          <p:nvPr/>
        </p:nvSpPr>
        <p:spPr>
          <a:xfrm>
            <a:off x="5440680" y="2103120"/>
            <a:ext cx="3429000" cy="228600"/>
          </a:xfrm>
          <a:prstGeom prst="rect">
            <a:avLst/>
          </a:prstGeom>
          <a:noFill/>
          <a:ln/>
        </p:spPr>
        <p:txBody>
          <a:bodyPr wrap="square" lIns="0" tIns="0" rIns="0" bIns="0" rtlCol="0" anchor="ctr"/>
          <a:lstStyle/>
          <a:p>
            <a:pPr indent="0" marL="0">
              <a:buNone/>
            </a:pPr>
            <a:r>
              <a:rPr lang="en-US" sz="800" i="1" dirty="0">
                <a:solidFill>
                  <a:srgbClr val="F59E0B"/>
                </a:solidFill>
              </a:rPr>
              <a:t>acoustic, gentle, folk, calm</a:t>
            </a:r>
            <a:endParaRPr lang="en-US" sz="800" dirty="0"/>
          </a:p>
        </p:txBody>
      </p:sp>
      <p:sp>
        <p:nvSpPr>
          <p:cNvPr id="29" name="Shape 27"/>
          <p:cNvSpPr/>
          <p:nvPr/>
        </p:nvSpPr>
        <p:spPr>
          <a:xfrm>
            <a:off x="4846320" y="2560320"/>
            <a:ext cx="4114800" cy="109728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30" name="Shape 28"/>
          <p:cNvSpPr/>
          <p:nvPr/>
        </p:nvSpPr>
        <p:spPr>
          <a:xfrm>
            <a:off x="4846320" y="2560320"/>
            <a:ext cx="502920" cy="1097280"/>
          </a:xfrm>
          <a:prstGeom prst="rect">
            <a:avLst/>
          </a:prstGeom>
          <a:solidFill>
            <a:srgbClr val="7C3AED">
              <a:alpha val="80000"/>
            </a:srgbClr>
          </a:solidFill>
          <a:ln w="12700">
            <a:solidFill>
              <a:srgbClr val="7C3AED"/>
            </a:solidFill>
            <a:prstDash val="solid"/>
          </a:ln>
        </p:spPr>
      </p:sp>
      <p:sp>
        <p:nvSpPr>
          <p:cNvPr id="31" name="Text 29"/>
          <p:cNvSpPr/>
          <p:nvPr/>
        </p:nvSpPr>
        <p:spPr>
          <a:xfrm>
            <a:off x="4846320" y="2560320"/>
            <a:ext cx="502920" cy="1097280"/>
          </a:xfrm>
          <a:prstGeom prst="rect">
            <a:avLst/>
          </a:prstGeom>
          <a:noFill/>
          <a:ln/>
        </p:spPr>
        <p:txBody>
          <a:bodyPr wrap="square" lIns="0" tIns="0" rIns="0" bIns="0" rtlCol="0" anchor="ctr"/>
          <a:lstStyle/>
          <a:p>
            <a:pPr algn="ctr" indent="0" marL="0">
              <a:buNone/>
            </a:pPr>
            <a:r>
              <a:rPr lang="en-US" sz="1200" b="1" dirty="0">
                <a:solidFill>
                  <a:srgbClr val="FFFFFF"/>
                </a:solidFill>
              </a:rPr>
              <a:t>KB5</a:t>
            </a:r>
            <a:endParaRPr lang="en-US" sz="1200" dirty="0"/>
          </a:p>
        </p:txBody>
      </p:sp>
      <p:sp>
        <p:nvSpPr>
          <p:cNvPr id="32" name="Text 30"/>
          <p:cNvSpPr/>
          <p:nvPr/>
        </p:nvSpPr>
        <p:spPr>
          <a:xfrm>
            <a:off x="5440680" y="2633472"/>
            <a:ext cx="3429000" cy="274320"/>
          </a:xfrm>
          <a:prstGeom prst="rect">
            <a:avLst/>
          </a:prstGeom>
          <a:noFill/>
          <a:ln/>
        </p:spPr>
        <p:txBody>
          <a:bodyPr wrap="square" lIns="0" tIns="0" rIns="0" bIns="0" rtlCol="0" anchor="ctr"/>
          <a:lstStyle/>
          <a:p>
            <a:pPr indent="0" marL="0">
              <a:buNone/>
            </a:pPr>
            <a:r>
              <a:rPr lang="en-US" sz="1000" b="1" dirty="0">
                <a:solidFill>
                  <a:srgbClr val="FFFFFF"/>
                </a:solidFill>
              </a:rPr>
              <a:t>Dance / Party</a:t>
            </a:r>
            <a:endParaRPr lang="en-US" sz="1000" dirty="0"/>
          </a:p>
        </p:txBody>
      </p:sp>
      <p:sp>
        <p:nvSpPr>
          <p:cNvPr id="33" name="Text 31"/>
          <p:cNvSpPr/>
          <p:nvPr/>
        </p:nvSpPr>
        <p:spPr>
          <a:xfrm>
            <a:off x="5440680" y="2926080"/>
            <a:ext cx="3429000" cy="411480"/>
          </a:xfrm>
          <a:prstGeom prst="rect">
            <a:avLst/>
          </a:prstGeom>
          <a:noFill/>
          <a:ln/>
        </p:spPr>
        <p:txBody>
          <a:bodyPr wrap="square" lIns="0" tIns="0" rIns="0" bIns="0" rtlCol="0" anchor="ctr"/>
          <a:lstStyle/>
          <a:p>
            <a:pPr indent="0" marL="0">
              <a:buNone/>
            </a:pPr>
            <a:r>
              <a:rPr lang="en-US" sz="900" dirty="0">
                <a:solidFill>
                  <a:srgbClr val="CBD5E1"/>
                </a:solidFill>
              </a:rPr>
              <a:t>Party profiles → high danceability euphoric</a:t>
            </a:r>
            <a:endParaRPr lang="en-US" sz="900" dirty="0"/>
          </a:p>
        </p:txBody>
      </p:sp>
      <p:sp>
        <p:nvSpPr>
          <p:cNvPr id="34" name="Text 32"/>
          <p:cNvSpPr/>
          <p:nvPr/>
        </p:nvSpPr>
        <p:spPr>
          <a:xfrm>
            <a:off x="5440680" y="3337560"/>
            <a:ext cx="3429000" cy="228600"/>
          </a:xfrm>
          <a:prstGeom prst="rect">
            <a:avLst/>
          </a:prstGeom>
          <a:noFill/>
          <a:ln/>
        </p:spPr>
        <p:txBody>
          <a:bodyPr wrap="square" lIns="0" tIns="0" rIns="0" bIns="0" rtlCol="0" anchor="ctr"/>
          <a:lstStyle/>
          <a:p>
            <a:pPr indent="0" marL="0">
              <a:buNone/>
            </a:pPr>
            <a:r>
              <a:rPr lang="en-US" sz="800" i="1" dirty="0">
                <a:solidFill>
                  <a:srgbClr val="7C3AED"/>
                </a:solidFill>
              </a:rPr>
              <a:t>party, euphoric, electronic, latin</a:t>
            </a:r>
            <a:endParaRPr lang="en-US" sz="800" dirty="0"/>
          </a:p>
        </p:txBody>
      </p:sp>
      <p:sp>
        <p:nvSpPr>
          <p:cNvPr id="35" name="Shape 33"/>
          <p:cNvSpPr/>
          <p:nvPr/>
        </p:nvSpPr>
        <p:spPr>
          <a:xfrm>
            <a:off x="4846320" y="3794760"/>
            <a:ext cx="4114800" cy="109728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36" name="Shape 34"/>
          <p:cNvSpPr/>
          <p:nvPr/>
        </p:nvSpPr>
        <p:spPr>
          <a:xfrm>
            <a:off x="4846320" y="3794760"/>
            <a:ext cx="502920" cy="1097280"/>
          </a:xfrm>
          <a:prstGeom prst="rect">
            <a:avLst/>
          </a:prstGeom>
          <a:solidFill>
            <a:srgbClr val="10B981">
              <a:alpha val="80000"/>
            </a:srgbClr>
          </a:solidFill>
          <a:ln w="12700">
            <a:solidFill>
              <a:srgbClr val="10B981"/>
            </a:solidFill>
            <a:prstDash val="solid"/>
          </a:ln>
        </p:spPr>
      </p:sp>
      <p:sp>
        <p:nvSpPr>
          <p:cNvPr id="37" name="Text 35"/>
          <p:cNvSpPr/>
          <p:nvPr/>
        </p:nvSpPr>
        <p:spPr>
          <a:xfrm>
            <a:off x="4846320" y="3794760"/>
            <a:ext cx="502920" cy="1097280"/>
          </a:xfrm>
          <a:prstGeom prst="rect">
            <a:avLst/>
          </a:prstGeom>
          <a:noFill/>
          <a:ln/>
        </p:spPr>
        <p:txBody>
          <a:bodyPr wrap="square" lIns="0" tIns="0" rIns="0" bIns="0" rtlCol="0" anchor="ctr"/>
          <a:lstStyle/>
          <a:p>
            <a:pPr algn="ctr" indent="0" marL="0">
              <a:buNone/>
            </a:pPr>
            <a:r>
              <a:rPr lang="en-US" sz="1200" b="1" dirty="0">
                <a:solidFill>
                  <a:srgbClr val="FFFFFF"/>
                </a:solidFill>
              </a:rPr>
              <a:t>KB6</a:t>
            </a:r>
            <a:endParaRPr lang="en-US" sz="1200" dirty="0"/>
          </a:p>
        </p:txBody>
      </p:sp>
      <p:sp>
        <p:nvSpPr>
          <p:cNvPr id="38" name="Text 36"/>
          <p:cNvSpPr/>
          <p:nvPr/>
        </p:nvSpPr>
        <p:spPr>
          <a:xfrm>
            <a:off x="5440680" y="3867912"/>
            <a:ext cx="3429000" cy="274320"/>
          </a:xfrm>
          <a:prstGeom prst="rect">
            <a:avLst/>
          </a:prstGeom>
          <a:noFill/>
          <a:ln/>
        </p:spPr>
        <p:txBody>
          <a:bodyPr wrap="square" lIns="0" tIns="0" rIns="0" bIns="0" rtlCol="0" anchor="ctr"/>
          <a:lstStyle/>
          <a:p>
            <a:pPr indent="0" marL="0">
              <a:buNone/>
            </a:pPr>
            <a:r>
              <a:rPr lang="en-US" sz="1000" b="1" dirty="0">
                <a:solidFill>
                  <a:srgbClr val="FFFFFF"/>
                </a:solidFill>
              </a:rPr>
              <a:t>Diversity Reminder</a:t>
            </a:r>
            <a:endParaRPr lang="en-US" sz="1000" dirty="0"/>
          </a:p>
        </p:txBody>
      </p:sp>
      <p:sp>
        <p:nvSpPr>
          <p:cNvPr id="39" name="Text 37"/>
          <p:cNvSpPr/>
          <p:nvPr/>
        </p:nvSpPr>
        <p:spPr>
          <a:xfrm>
            <a:off x="5440680" y="4160520"/>
            <a:ext cx="3429000" cy="411480"/>
          </a:xfrm>
          <a:prstGeom prst="rect">
            <a:avLst/>
          </a:prstGeom>
          <a:noFill/>
          <a:ln/>
        </p:spPr>
        <p:txBody>
          <a:bodyPr wrap="square" lIns="0" tIns="0" rIns="0" bIns="0" rtlCol="0" anchor="ctr"/>
          <a:lstStyle/>
          <a:p>
            <a:pPr indent="0" marL="0">
              <a:buNone/>
            </a:pPr>
            <a:r>
              <a:rPr lang="en-US" sz="900" dirty="0">
                <a:solidFill>
                  <a:srgbClr val="CBD5E1"/>
                </a:solidFill>
              </a:rPr>
              <a:t>Penalize repeated artists → broader results</a:t>
            </a:r>
            <a:endParaRPr lang="en-US" sz="900" dirty="0"/>
          </a:p>
        </p:txBody>
      </p:sp>
      <p:sp>
        <p:nvSpPr>
          <p:cNvPr id="40" name="Text 38"/>
          <p:cNvSpPr/>
          <p:nvPr/>
        </p:nvSpPr>
        <p:spPr>
          <a:xfrm>
            <a:off x="5440680" y="4572000"/>
            <a:ext cx="3429000" cy="228600"/>
          </a:xfrm>
          <a:prstGeom prst="rect">
            <a:avLst/>
          </a:prstGeom>
          <a:noFill/>
          <a:ln/>
        </p:spPr>
        <p:txBody>
          <a:bodyPr wrap="square" lIns="0" tIns="0" rIns="0" bIns="0" rtlCol="0" anchor="ctr"/>
          <a:lstStyle/>
          <a:p>
            <a:pPr indent="0" marL="0">
              <a:buNone/>
            </a:pPr>
            <a:r>
              <a:rPr lang="en-US" sz="800" i="1" dirty="0">
                <a:solidFill>
                  <a:srgbClr val="10B981"/>
                </a:solidFill>
              </a:rPr>
              <a:t>diversity, genre, artist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9</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Reliability Testing — Proving It Works</a:t>
            </a:r>
            <a:endParaRPr lang="en-US" sz="3000" dirty="0"/>
          </a:p>
        </p:txBody>
      </p:sp>
      <p:sp>
        <p:nvSpPr>
          <p:cNvPr id="4" name="Shape 2"/>
          <p:cNvSpPr/>
          <p:nvPr/>
        </p:nvSpPr>
        <p:spPr>
          <a:xfrm>
            <a:off x="457200" y="1005840"/>
            <a:ext cx="1920240" cy="118872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5" name="Shape 3"/>
          <p:cNvSpPr/>
          <p:nvPr/>
        </p:nvSpPr>
        <p:spPr>
          <a:xfrm>
            <a:off x="457200" y="1005840"/>
            <a:ext cx="1920240" cy="54864"/>
          </a:xfrm>
          <a:prstGeom prst="rect">
            <a:avLst/>
          </a:prstGeom>
          <a:solidFill>
            <a:srgbClr val="10B981"/>
          </a:solidFill>
          <a:ln w="12700">
            <a:solidFill>
              <a:srgbClr val="10B981"/>
            </a:solidFill>
            <a:prstDash val="solid"/>
          </a:ln>
        </p:spPr>
      </p:sp>
      <p:sp>
        <p:nvSpPr>
          <p:cNvPr id="6" name="Text 4"/>
          <p:cNvSpPr/>
          <p:nvPr/>
        </p:nvSpPr>
        <p:spPr>
          <a:xfrm>
            <a:off x="457200" y="1143000"/>
            <a:ext cx="1920240" cy="594360"/>
          </a:xfrm>
          <a:prstGeom prst="rect">
            <a:avLst/>
          </a:prstGeom>
          <a:noFill/>
          <a:ln/>
        </p:spPr>
        <p:txBody>
          <a:bodyPr wrap="square" lIns="0" tIns="0" rIns="0" bIns="0" rtlCol="0" anchor="ctr"/>
          <a:lstStyle/>
          <a:p>
            <a:pPr algn="ctr" indent="0" marL="0">
              <a:buNone/>
            </a:pPr>
            <a:r>
              <a:rPr lang="en-US" sz="3200" b="1" dirty="0">
                <a:solidFill>
                  <a:srgbClr val="10B981"/>
                </a:solidFill>
              </a:rPr>
              <a:t>4/4</a:t>
            </a:r>
            <a:endParaRPr lang="en-US" sz="3200" dirty="0"/>
          </a:p>
        </p:txBody>
      </p:sp>
      <p:sp>
        <p:nvSpPr>
          <p:cNvPr id="7" name="Text 5"/>
          <p:cNvSpPr/>
          <p:nvPr/>
        </p:nvSpPr>
        <p:spPr>
          <a:xfrm>
            <a:off x="457200" y="173736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pytest PASSED</a:t>
            </a:r>
            <a:endParaRPr lang="en-US" sz="1000" dirty="0"/>
          </a:p>
        </p:txBody>
      </p:sp>
      <p:sp>
        <p:nvSpPr>
          <p:cNvPr id="8" name="Shape 6"/>
          <p:cNvSpPr/>
          <p:nvPr/>
        </p:nvSpPr>
        <p:spPr>
          <a:xfrm>
            <a:off x="2560320" y="1005840"/>
            <a:ext cx="1920240" cy="118872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9" name="Shape 7"/>
          <p:cNvSpPr/>
          <p:nvPr/>
        </p:nvSpPr>
        <p:spPr>
          <a:xfrm>
            <a:off x="2560320" y="1005840"/>
            <a:ext cx="1920240" cy="54864"/>
          </a:xfrm>
          <a:prstGeom prst="rect">
            <a:avLst/>
          </a:prstGeom>
          <a:solidFill>
            <a:srgbClr val="10B981"/>
          </a:solidFill>
          <a:ln w="12700">
            <a:solidFill>
              <a:srgbClr val="10B981"/>
            </a:solidFill>
            <a:prstDash val="solid"/>
          </a:ln>
        </p:spPr>
      </p:sp>
      <p:sp>
        <p:nvSpPr>
          <p:cNvPr id="10" name="Text 8"/>
          <p:cNvSpPr/>
          <p:nvPr/>
        </p:nvSpPr>
        <p:spPr>
          <a:xfrm>
            <a:off x="2560320" y="1143000"/>
            <a:ext cx="1920240" cy="594360"/>
          </a:xfrm>
          <a:prstGeom prst="rect">
            <a:avLst/>
          </a:prstGeom>
          <a:noFill/>
          <a:ln/>
        </p:spPr>
        <p:txBody>
          <a:bodyPr wrap="square" lIns="0" tIns="0" rIns="0" bIns="0" rtlCol="0" anchor="ctr"/>
          <a:lstStyle/>
          <a:p>
            <a:pPr algn="ctr" indent="0" marL="0">
              <a:buNone/>
            </a:pPr>
            <a:r>
              <a:rPr lang="en-US" sz="3200" b="1" dirty="0">
                <a:solidFill>
                  <a:srgbClr val="10B981"/>
                </a:solidFill>
              </a:rPr>
              <a:t>4/4</a:t>
            </a:r>
            <a:endParaRPr lang="en-US" sz="3200" dirty="0"/>
          </a:p>
        </p:txBody>
      </p:sp>
      <p:sp>
        <p:nvSpPr>
          <p:cNvPr id="11" name="Text 9"/>
          <p:cNvSpPr/>
          <p:nvPr/>
        </p:nvSpPr>
        <p:spPr>
          <a:xfrm>
            <a:off x="2560320" y="173736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Profiles PASSED</a:t>
            </a:r>
            <a:endParaRPr lang="en-US" sz="1000" dirty="0"/>
          </a:p>
        </p:txBody>
      </p:sp>
      <p:sp>
        <p:nvSpPr>
          <p:cNvPr id="12" name="Shape 10"/>
          <p:cNvSpPr/>
          <p:nvPr/>
        </p:nvSpPr>
        <p:spPr>
          <a:xfrm>
            <a:off x="4663440" y="1005840"/>
            <a:ext cx="1920240" cy="118872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13" name="Shape 11"/>
          <p:cNvSpPr/>
          <p:nvPr/>
        </p:nvSpPr>
        <p:spPr>
          <a:xfrm>
            <a:off x="4663440" y="1005840"/>
            <a:ext cx="1920240" cy="54864"/>
          </a:xfrm>
          <a:prstGeom prst="rect">
            <a:avLst/>
          </a:prstGeom>
          <a:solidFill>
            <a:srgbClr val="06B6D4"/>
          </a:solidFill>
          <a:ln w="12700">
            <a:solidFill>
              <a:srgbClr val="06B6D4"/>
            </a:solidFill>
            <a:prstDash val="solid"/>
          </a:ln>
        </p:spPr>
      </p:sp>
      <p:sp>
        <p:nvSpPr>
          <p:cNvPr id="14" name="Text 12"/>
          <p:cNvSpPr/>
          <p:nvPr/>
        </p:nvSpPr>
        <p:spPr>
          <a:xfrm>
            <a:off x="4663440" y="1143000"/>
            <a:ext cx="1920240" cy="594360"/>
          </a:xfrm>
          <a:prstGeom prst="rect">
            <a:avLst/>
          </a:prstGeom>
          <a:noFill/>
          <a:ln/>
        </p:spPr>
        <p:txBody>
          <a:bodyPr wrap="square" lIns="0" tIns="0" rIns="0" bIns="0" rtlCol="0" anchor="ctr"/>
          <a:lstStyle/>
          <a:p>
            <a:pPr algn="ctr" indent="0" marL="0">
              <a:buNone/>
            </a:pPr>
            <a:r>
              <a:rPr lang="en-US" sz="3200" b="1" dirty="0">
                <a:solidFill>
                  <a:srgbClr val="06B6D4"/>
                </a:solidFill>
              </a:rPr>
              <a:t>0.599</a:t>
            </a:r>
            <a:endParaRPr lang="en-US" sz="3200" dirty="0"/>
          </a:p>
        </p:txBody>
      </p:sp>
      <p:sp>
        <p:nvSpPr>
          <p:cNvPr id="15" name="Text 13"/>
          <p:cNvSpPr/>
          <p:nvPr/>
        </p:nvSpPr>
        <p:spPr>
          <a:xfrm>
            <a:off x="4663440" y="173736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Avg Confidence</a:t>
            </a:r>
            <a:endParaRPr lang="en-US" sz="1000" dirty="0"/>
          </a:p>
        </p:txBody>
      </p:sp>
      <p:sp>
        <p:nvSpPr>
          <p:cNvPr id="16" name="Shape 14"/>
          <p:cNvSpPr/>
          <p:nvPr/>
        </p:nvSpPr>
        <p:spPr>
          <a:xfrm>
            <a:off x="6766560" y="1005840"/>
            <a:ext cx="1920240" cy="1188720"/>
          </a:xfrm>
          <a:prstGeom prst="rect">
            <a:avLst/>
          </a:prstGeom>
          <a:solidFill>
            <a:srgbClr val="1A1A2E"/>
          </a:solidFill>
          <a:ln w="12700">
            <a:solidFill>
              <a:srgbClr val="F59E0B"/>
            </a:solidFill>
            <a:prstDash val="solid"/>
          </a:ln>
          <a:effectLst>
            <a:outerShdw sx="100000" sy="100000" kx="0" ky="0" algn="bl" rotWithShape="0" blurRad="152400" dist="50800" dir="8100000">
              <a:srgbClr val="000000">
                <a:alpha val="30000"/>
              </a:srgbClr>
            </a:outerShdw>
          </a:effectLst>
        </p:spPr>
      </p:sp>
      <p:sp>
        <p:nvSpPr>
          <p:cNvPr id="17" name="Shape 15"/>
          <p:cNvSpPr/>
          <p:nvPr/>
        </p:nvSpPr>
        <p:spPr>
          <a:xfrm>
            <a:off x="6766560" y="1005840"/>
            <a:ext cx="1920240" cy="54864"/>
          </a:xfrm>
          <a:prstGeom prst="rect">
            <a:avLst/>
          </a:prstGeom>
          <a:solidFill>
            <a:srgbClr val="F59E0B"/>
          </a:solidFill>
          <a:ln w="12700">
            <a:solidFill>
              <a:srgbClr val="F59E0B"/>
            </a:solidFill>
            <a:prstDash val="solid"/>
          </a:ln>
        </p:spPr>
      </p:sp>
      <p:sp>
        <p:nvSpPr>
          <p:cNvPr id="18" name="Text 16"/>
          <p:cNvSpPr/>
          <p:nvPr/>
        </p:nvSpPr>
        <p:spPr>
          <a:xfrm>
            <a:off x="6766560" y="1143000"/>
            <a:ext cx="1920240" cy="594360"/>
          </a:xfrm>
          <a:prstGeom prst="rect">
            <a:avLst/>
          </a:prstGeom>
          <a:noFill/>
          <a:ln/>
        </p:spPr>
        <p:txBody>
          <a:bodyPr wrap="square" lIns="0" tIns="0" rIns="0" bIns="0" rtlCol="0" anchor="ctr"/>
          <a:lstStyle/>
          <a:p>
            <a:pPr algn="ctr" indent="0" marL="0">
              <a:buNone/>
            </a:pPr>
            <a:r>
              <a:rPr lang="en-US" sz="3200" b="1" dirty="0">
                <a:solidFill>
                  <a:srgbClr val="F59E0B"/>
                </a:solidFill>
              </a:rPr>
              <a:t>0</a:t>
            </a:r>
            <a:endParaRPr lang="en-US" sz="3200" dirty="0"/>
          </a:p>
        </p:txBody>
      </p:sp>
      <p:sp>
        <p:nvSpPr>
          <p:cNvPr id="19" name="Text 17"/>
          <p:cNvSpPr/>
          <p:nvPr/>
        </p:nvSpPr>
        <p:spPr>
          <a:xfrm>
            <a:off x="6766560" y="173736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Crashes on Bad Input</a:t>
            </a:r>
            <a:endParaRPr lang="en-US" sz="1000" dirty="0"/>
          </a:p>
        </p:txBody>
      </p:sp>
      <p:sp>
        <p:nvSpPr>
          <p:cNvPr id="20" name="Shape 18"/>
          <p:cNvSpPr/>
          <p:nvPr/>
        </p:nvSpPr>
        <p:spPr>
          <a:xfrm>
            <a:off x="457200" y="2423160"/>
            <a:ext cx="8229600" cy="2377440"/>
          </a:xfrm>
          <a:prstGeom prst="rect">
            <a:avLst/>
          </a:prstGeom>
          <a:solidFill>
            <a:srgbClr val="1A1A2E"/>
          </a:solidFill>
          <a:ln w="25400">
            <a:solidFill>
              <a:srgbClr val="F59E0B"/>
            </a:solidFill>
            <a:prstDash val="solid"/>
          </a:ln>
          <a:effectLst>
            <a:outerShdw sx="100000" sy="100000" kx="0" ky="0" algn="bl" rotWithShape="0" blurRad="152400" dist="50800" dir="8100000">
              <a:srgbClr val="000000">
                <a:alpha val="30000"/>
              </a:srgbClr>
            </a:outerShdw>
          </a:effectLst>
        </p:spPr>
      </p:sp>
      <p:sp>
        <p:nvSpPr>
          <p:cNvPr id="21" name="Shape 19"/>
          <p:cNvSpPr/>
          <p:nvPr/>
        </p:nvSpPr>
        <p:spPr>
          <a:xfrm>
            <a:off x="457200" y="2423160"/>
            <a:ext cx="8229600" cy="54864"/>
          </a:xfrm>
          <a:prstGeom prst="rect">
            <a:avLst/>
          </a:prstGeom>
          <a:solidFill>
            <a:srgbClr val="F59E0B"/>
          </a:solidFill>
          <a:ln w="12700">
            <a:solidFill>
              <a:srgbClr val="F59E0B"/>
            </a:solidFill>
            <a:prstDash val="solid"/>
          </a:ln>
        </p:spPr>
      </p:sp>
      <p:sp>
        <p:nvSpPr>
          <p:cNvPr id="22" name="Shape 20"/>
          <p:cNvSpPr/>
          <p:nvPr/>
        </p:nvSpPr>
        <p:spPr>
          <a:xfrm>
            <a:off x="594360" y="2487168"/>
            <a:ext cx="1572768" cy="256032"/>
          </a:xfrm>
          <a:prstGeom prst="roundRect">
            <a:avLst>
              <a:gd name="adj" fmla="val 14286"/>
            </a:avLst>
          </a:prstGeom>
          <a:solidFill>
            <a:srgbClr val="F59E0B">
              <a:alpha val="80000"/>
            </a:srgbClr>
          </a:solidFill>
          <a:ln w="12700">
            <a:solidFill>
              <a:srgbClr val="F59E0B"/>
            </a:solidFill>
            <a:prstDash val="solid"/>
          </a:ln>
        </p:spPr>
      </p:sp>
      <p:sp>
        <p:nvSpPr>
          <p:cNvPr id="23" name="Text 21"/>
          <p:cNvSpPr/>
          <p:nvPr/>
        </p:nvSpPr>
        <p:spPr>
          <a:xfrm>
            <a:off x="594360" y="2487168"/>
            <a:ext cx="1572768" cy="256032"/>
          </a:xfrm>
          <a:prstGeom prst="rect">
            <a:avLst/>
          </a:prstGeom>
          <a:noFill/>
          <a:ln/>
        </p:spPr>
        <p:txBody>
          <a:bodyPr wrap="square" lIns="0" tIns="0" rIns="0" bIns="0" rtlCol="0" anchor="ctr"/>
          <a:lstStyle/>
          <a:p>
            <a:pPr algn="ctr" indent="0" marL="0">
              <a:buNone/>
            </a:pPr>
            <a:r>
              <a:rPr lang="en-US" sz="900" b="1" dirty="0">
                <a:solidFill>
                  <a:srgbClr val="0D0D1A"/>
                </a:solidFill>
              </a:rPr>
              <a:t>ADVERSARIAL TEST</a:t>
            </a:r>
            <a:endParaRPr lang="en-US" sz="900" dirty="0"/>
          </a:p>
        </p:txBody>
      </p:sp>
      <p:sp>
        <p:nvSpPr>
          <p:cNvPr id="24" name="Text 22"/>
          <p:cNvSpPr/>
          <p:nvPr/>
        </p:nvSpPr>
        <p:spPr>
          <a:xfrm>
            <a:off x="640080" y="2788920"/>
            <a:ext cx="7680960" cy="365760"/>
          </a:xfrm>
          <a:prstGeom prst="rect">
            <a:avLst/>
          </a:prstGeom>
          <a:noFill/>
          <a:ln/>
        </p:spPr>
        <p:txBody>
          <a:bodyPr wrap="square" lIns="0" tIns="0" rIns="0" bIns="0" rtlCol="0" anchor="ctr"/>
          <a:lstStyle/>
          <a:p>
            <a:pPr indent="0" marL="0">
              <a:buNone/>
            </a:pPr>
            <a:r>
              <a:rPr lang="en-US" sz="1500" b="1" dirty="0">
                <a:solidFill>
                  <a:srgbClr val="FFFFFF"/>
                </a:solidFill>
              </a:rPr>
              <a:t>The Most Important Test: Lofi + Intense + Energy = 1.0</a:t>
            </a:r>
            <a:endParaRPr lang="en-US" sz="1500" dirty="0"/>
          </a:p>
        </p:txBody>
      </p:sp>
      <p:sp>
        <p:nvSpPr>
          <p:cNvPr id="25" name="Text 23"/>
          <p:cNvSpPr/>
          <p:nvPr/>
        </p:nvSpPr>
        <p:spPr>
          <a:xfrm>
            <a:off x="640080" y="3200400"/>
            <a:ext cx="7680960" cy="365760"/>
          </a:xfrm>
          <a:prstGeom prst="rect">
            <a:avLst/>
          </a:prstGeom>
          <a:noFill/>
          <a:ln/>
        </p:spPr>
        <p:txBody>
          <a:bodyPr wrap="square" lIns="0" tIns="0" rIns="0" bIns="0" rtlCol="0" anchor="ctr"/>
          <a:lstStyle/>
          <a:p>
            <a:pPr indent="0" marL="0">
              <a:buNone/>
            </a:pPr>
            <a:r>
              <a:rPr lang="en-US" sz="1100" dirty="0">
                <a:solidFill>
                  <a:srgbClr val="CBD5E1"/>
                </a:solidFill>
              </a:rPr>
              <a:t>These preferences are internally contradictory. Lofi is low-energy by definition. Maximum energy is the opposite extreme.</a:t>
            </a:r>
            <a:endParaRPr lang="en-US" sz="1100" dirty="0"/>
          </a:p>
        </p:txBody>
      </p:sp>
      <p:sp>
        <p:nvSpPr>
          <p:cNvPr id="26" name="Text 24"/>
          <p:cNvSpPr/>
          <p:nvPr/>
        </p:nvSpPr>
        <p:spPr>
          <a:xfrm>
            <a:off x="640080" y="3611880"/>
            <a:ext cx="7680960" cy="365760"/>
          </a:xfrm>
          <a:prstGeom prst="rect">
            <a:avLst/>
          </a:prstGeom>
          <a:noFill/>
          <a:ln/>
        </p:spPr>
        <p:txBody>
          <a:bodyPr wrap="square" lIns="0" tIns="0" rIns="0" bIns="0" rtlCol="0" anchor="ctr"/>
          <a:lstStyle/>
          <a:p>
            <a:pPr indent="0" marL="0">
              <a:buNone/>
            </a:pPr>
            <a:r>
              <a:rPr lang="en-US" sz="1100" b="1" dirty="0">
                <a:solidFill>
                  <a:srgbClr val="10B981"/>
                </a:solidFill>
              </a:rPr>
              <a:t>Result: Stable, coherent output with non-zero confidence. No crash. No empty results. No random output.</a:t>
            </a:r>
            <a:endParaRPr lang="en-US" sz="1100" dirty="0"/>
          </a:p>
        </p:txBody>
      </p:sp>
      <p:sp>
        <p:nvSpPr>
          <p:cNvPr id="27" name="Text 25"/>
          <p:cNvSpPr/>
          <p:nvPr/>
        </p:nvSpPr>
        <p:spPr>
          <a:xfrm>
            <a:off x="640080" y="4023360"/>
            <a:ext cx="7680960" cy="365760"/>
          </a:xfrm>
          <a:prstGeom prst="rect">
            <a:avLst/>
          </a:prstGeom>
          <a:noFill/>
          <a:ln/>
        </p:spPr>
        <p:txBody>
          <a:bodyPr wrap="square" lIns="0" tIns="0" rIns="0" bIns="0" rtlCol="0" anchor="ctr"/>
          <a:lstStyle/>
          <a:p>
            <a:pPr indent="0" marL="0">
              <a:buNone/>
            </a:pPr>
            <a:r>
              <a:rPr lang="en-US" sz="1100" i="1" dirty="0">
                <a:solidFill>
                  <a:srgbClr val="DDD6FE"/>
                </a:solidFill>
              </a:rPr>
              <a:t>This is what production reliability looks like — systems that degrade gracefully, not catastrophically.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10</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Live Platform</a:t>
            </a:r>
            <a:endParaRPr lang="en-US" sz="3000" dirty="0"/>
          </a:p>
        </p:txBody>
      </p:sp>
      <p:sp>
        <p:nvSpPr>
          <p:cNvPr id="4" name="Shape 2"/>
          <p:cNvSpPr/>
          <p:nvPr/>
        </p:nvSpPr>
        <p:spPr>
          <a:xfrm>
            <a:off x="457200" y="960120"/>
            <a:ext cx="128016" cy="128016"/>
          </a:xfrm>
          <a:prstGeom prst="ellipse">
            <a:avLst/>
          </a:prstGeom>
          <a:solidFill>
            <a:srgbClr val="10B981"/>
          </a:solidFill>
          <a:ln w="12700">
            <a:solidFill>
              <a:srgbClr val="10B981"/>
            </a:solidFill>
            <a:prstDash val="solid"/>
          </a:ln>
        </p:spPr>
      </p:sp>
      <p:sp>
        <p:nvSpPr>
          <p:cNvPr id="5" name="Text 3"/>
          <p:cNvSpPr/>
          <p:nvPr/>
        </p:nvSpPr>
        <p:spPr>
          <a:xfrm>
            <a:off x="640080" y="914400"/>
            <a:ext cx="1920240" cy="274320"/>
          </a:xfrm>
          <a:prstGeom prst="rect">
            <a:avLst/>
          </a:prstGeom>
          <a:noFill/>
          <a:ln/>
        </p:spPr>
        <p:txBody>
          <a:bodyPr wrap="square" lIns="0" tIns="0" rIns="0" bIns="0" rtlCol="0" anchor="ctr"/>
          <a:lstStyle/>
          <a:p>
            <a:pPr indent="0" marL="0">
              <a:buNone/>
            </a:pPr>
            <a:r>
              <a:rPr lang="en-US" sz="1000" dirty="0">
                <a:solidFill>
                  <a:srgbClr val="FFFFFF"/>
                </a:solidFill>
              </a:rPr>
              <a:t>Cloud Library Connected</a:t>
            </a:r>
            <a:endParaRPr lang="en-US" sz="1000" dirty="0"/>
          </a:p>
        </p:txBody>
      </p:sp>
      <p:sp>
        <p:nvSpPr>
          <p:cNvPr id="6" name="Shape 4"/>
          <p:cNvSpPr/>
          <p:nvPr/>
        </p:nvSpPr>
        <p:spPr>
          <a:xfrm>
            <a:off x="2651760" y="960120"/>
            <a:ext cx="128016" cy="128016"/>
          </a:xfrm>
          <a:prstGeom prst="ellipse">
            <a:avLst/>
          </a:prstGeom>
          <a:solidFill>
            <a:srgbClr val="06B6D4"/>
          </a:solidFill>
          <a:ln w="12700">
            <a:solidFill>
              <a:srgbClr val="06B6D4"/>
            </a:solidFill>
            <a:prstDash val="solid"/>
          </a:ln>
        </p:spPr>
      </p:sp>
      <p:sp>
        <p:nvSpPr>
          <p:cNvPr id="7" name="Text 5"/>
          <p:cNvSpPr/>
          <p:nvPr/>
        </p:nvSpPr>
        <p:spPr>
          <a:xfrm>
            <a:off x="2834640" y="914400"/>
            <a:ext cx="1920240" cy="274320"/>
          </a:xfrm>
          <a:prstGeom prst="rect">
            <a:avLst/>
          </a:prstGeom>
          <a:noFill/>
          <a:ln/>
        </p:spPr>
        <p:txBody>
          <a:bodyPr wrap="square" lIns="0" tIns="0" rIns="0" bIns="0" rtlCol="0" anchor="ctr"/>
          <a:lstStyle/>
          <a:p>
            <a:pPr indent="0" marL="0">
              <a:buNone/>
            </a:pPr>
            <a:r>
              <a:rPr lang="en-US" sz="1000" dirty="0">
                <a:solidFill>
                  <a:srgbClr val="FFFFFF"/>
                </a:solidFill>
              </a:rPr>
              <a:t>R2 Streaming Active</a:t>
            </a:r>
            <a:endParaRPr lang="en-US" sz="1000" dirty="0"/>
          </a:p>
        </p:txBody>
      </p:sp>
      <p:sp>
        <p:nvSpPr>
          <p:cNvPr id="8" name="Shape 6"/>
          <p:cNvSpPr/>
          <p:nvPr/>
        </p:nvSpPr>
        <p:spPr>
          <a:xfrm>
            <a:off x="4846320" y="960120"/>
            <a:ext cx="128016" cy="128016"/>
          </a:xfrm>
          <a:prstGeom prst="ellipse">
            <a:avLst/>
          </a:prstGeom>
          <a:solidFill>
            <a:srgbClr val="7C3AED"/>
          </a:solidFill>
          <a:ln w="12700">
            <a:solidFill>
              <a:srgbClr val="7C3AED"/>
            </a:solidFill>
            <a:prstDash val="solid"/>
          </a:ln>
        </p:spPr>
      </p:sp>
      <p:sp>
        <p:nvSpPr>
          <p:cNvPr id="9" name="Text 7"/>
          <p:cNvSpPr/>
          <p:nvPr/>
        </p:nvSpPr>
        <p:spPr>
          <a:xfrm>
            <a:off x="5029200" y="914400"/>
            <a:ext cx="1920240" cy="274320"/>
          </a:xfrm>
          <a:prstGeom prst="rect">
            <a:avLst/>
          </a:prstGeom>
          <a:noFill/>
          <a:ln/>
        </p:spPr>
        <p:txBody>
          <a:bodyPr wrap="square" lIns="0" tIns="0" rIns="0" bIns="0" rtlCol="0" anchor="ctr"/>
          <a:lstStyle/>
          <a:p>
            <a:pPr indent="0" marL="0">
              <a:buNone/>
            </a:pPr>
            <a:r>
              <a:rPr lang="en-US" sz="1000" dirty="0">
                <a:solidFill>
                  <a:srgbClr val="FFFFFF"/>
                </a:solidFill>
              </a:rPr>
              <a:t>53 Tracks Indexed</a:t>
            </a:r>
            <a:endParaRPr lang="en-US" sz="1000" dirty="0"/>
          </a:p>
        </p:txBody>
      </p:sp>
      <p:sp>
        <p:nvSpPr>
          <p:cNvPr id="10" name="Shape 8"/>
          <p:cNvSpPr/>
          <p:nvPr/>
        </p:nvSpPr>
        <p:spPr>
          <a:xfrm>
            <a:off x="7040880" y="960120"/>
            <a:ext cx="128016" cy="128016"/>
          </a:xfrm>
          <a:prstGeom prst="ellipse">
            <a:avLst/>
          </a:prstGeom>
          <a:solidFill>
            <a:srgbClr val="F59E0B"/>
          </a:solidFill>
          <a:ln w="12700">
            <a:solidFill>
              <a:srgbClr val="F59E0B"/>
            </a:solidFill>
            <a:prstDash val="solid"/>
          </a:ln>
        </p:spPr>
      </p:sp>
      <p:sp>
        <p:nvSpPr>
          <p:cNvPr id="11" name="Text 9"/>
          <p:cNvSpPr/>
          <p:nvPr/>
        </p:nvSpPr>
        <p:spPr>
          <a:xfrm>
            <a:off x="7223760" y="914400"/>
            <a:ext cx="1920240" cy="274320"/>
          </a:xfrm>
          <a:prstGeom prst="rect">
            <a:avLst/>
          </a:prstGeom>
          <a:noFill/>
          <a:ln/>
        </p:spPr>
        <p:txBody>
          <a:bodyPr wrap="square" lIns="0" tIns="0" rIns="0" bIns="0" rtlCol="0" anchor="ctr"/>
          <a:lstStyle/>
          <a:p>
            <a:pPr indent="0" marL="0">
              <a:buNone/>
            </a:pPr>
            <a:r>
              <a:rPr lang="en-US" sz="1000" dirty="0">
                <a:solidFill>
                  <a:srgbClr val="FFFFFF"/>
                </a:solidFill>
              </a:rPr>
              <a:t>AI Engine Active</a:t>
            </a:r>
            <a:endParaRPr lang="en-US" sz="1000" dirty="0"/>
          </a:p>
        </p:txBody>
      </p:sp>
      <p:sp>
        <p:nvSpPr>
          <p:cNvPr id="12" name="Shape 10"/>
          <p:cNvSpPr/>
          <p:nvPr/>
        </p:nvSpPr>
        <p:spPr>
          <a:xfrm>
            <a:off x="457200" y="1325880"/>
            <a:ext cx="2743200" cy="155448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13" name="Shape 11"/>
          <p:cNvSpPr/>
          <p:nvPr/>
        </p:nvSpPr>
        <p:spPr>
          <a:xfrm>
            <a:off x="457200" y="1325880"/>
            <a:ext cx="54864" cy="1554480"/>
          </a:xfrm>
          <a:prstGeom prst="rect">
            <a:avLst/>
          </a:prstGeom>
          <a:solidFill>
            <a:srgbClr val="7C3AED"/>
          </a:solidFill>
          <a:ln w="12700">
            <a:solidFill>
              <a:srgbClr val="7C3AED"/>
            </a:solidFill>
            <a:prstDash val="solid"/>
          </a:ln>
        </p:spPr>
      </p:sp>
      <p:sp>
        <p:nvSpPr>
          <p:cNvPr id="14" name="Text 12"/>
          <p:cNvSpPr/>
          <p:nvPr/>
        </p:nvSpPr>
        <p:spPr>
          <a:xfrm>
            <a:off x="594360" y="1435608"/>
            <a:ext cx="2560320" cy="274320"/>
          </a:xfrm>
          <a:prstGeom prst="rect">
            <a:avLst/>
          </a:prstGeom>
          <a:noFill/>
          <a:ln/>
        </p:spPr>
        <p:txBody>
          <a:bodyPr wrap="square" lIns="0" tIns="0" rIns="0" bIns="0" rtlCol="0" anchor="ctr"/>
          <a:lstStyle/>
          <a:p>
            <a:pPr indent="0" marL="0">
              <a:buNone/>
            </a:pPr>
            <a:r>
              <a:rPr lang="en-US" sz="1100" b="1" dirty="0">
                <a:solidFill>
                  <a:srgbClr val="FFFFFF"/>
                </a:solidFill>
              </a:rPr>
              <a:t>Discover Dashboard</a:t>
            </a:r>
            <a:endParaRPr lang="en-US" sz="1100" dirty="0"/>
          </a:p>
        </p:txBody>
      </p:sp>
      <p:sp>
        <p:nvSpPr>
          <p:cNvPr id="15" name="Text 13"/>
          <p:cNvSpPr/>
          <p:nvPr/>
        </p:nvSpPr>
        <p:spPr>
          <a:xfrm>
            <a:off x="594360" y="1746504"/>
            <a:ext cx="2514600" cy="1051560"/>
          </a:xfrm>
          <a:prstGeom prst="rect">
            <a:avLst/>
          </a:prstGeom>
          <a:noFill/>
          <a:ln/>
        </p:spPr>
        <p:txBody>
          <a:bodyPr wrap="square" lIns="0" tIns="0" rIns="0" bIns="0" rtlCol="0" anchor="ctr"/>
          <a:lstStyle/>
          <a:p>
            <a:pPr indent="0" marL="0">
              <a:buNone/>
            </a:pPr>
            <a:r>
              <a:rPr lang="en-US" sz="950" dirty="0">
                <a:solidFill>
                  <a:srgbClr val="CBD5E1"/>
                </a:solidFill>
              </a:rPr>
              <a:t>Mood · Genre · Energy inputs</a:t>
            </a:r>
            <a:endParaRPr lang="en-US" sz="950" dirty="0"/>
          </a:p>
          <a:p>
            <a:pPr indent="0" marL="0">
              <a:buNone/>
            </a:pPr>
            <a:r>
              <a:rPr lang="en-US" sz="950" dirty="0">
                <a:solidFill>
                  <a:srgbClr val="CBD5E1"/>
                </a:solidFill>
              </a:rPr>
              <a:t>Scoring mode selector</a:t>
            </a:r>
            <a:endParaRPr lang="en-US" sz="950" dirty="0"/>
          </a:p>
          <a:p>
            <a:pPr indent="0" marL="0">
              <a:buNone/>
            </a:pPr>
            <a:r>
              <a:rPr lang="en-US" sz="950" dirty="0">
                <a:solidFill>
                  <a:srgbClr val="CBD5E1"/>
                </a:solidFill>
              </a:rPr>
              <a:t>Live recommendation cards</a:t>
            </a:r>
            <a:endParaRPr lang="en-US" sz="950" dirty="0"/>
          </a:p>
        </p:txBody>
      </p:sp>
      <p:sp>
        <p:nvSpPr>
          <p:cNvPr id="16" name="Shape 14"/>
          <p:cNvSpPr/>
          <p:nvPr/>
        </p:nvSpPr>
        <p:spPr>
          <a:xfrm>
            <a:off x="3337560" y="1325880"/>
            <a:ext cx="2743200" cy="155448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17" name="Shape 15"/>
          <p:cNvSpPr/>
          <p:nvPr/>
        </p:nvSpPr>
        <p:spPr>
          <a:xfrm>
            <a:off x="3337560" y="1325880"/>
            <a:ext cx="54864" cy="1554480"/>
          </a:xfrm>
          <a:prstGeom prst="rect">
            <a:avLst/>
          </a:prstGeom>
          <a:solidFill>
            <a:srgbClr val="06B6D4"/>
          </a:solidFill>
          <a:ln w="12700">
            <a:solidFill>
              <a:srgbClr val="06B6D4"/>
            </a:solidFill>
            <a:prstDash val="solid"/>
          </a:ln>
        </p:spPr>
      </p:sp>
      <p:sp>
        <p:nvSpPr>
          <p:cNvPr id="18" name="Text 16"/>
          <p:cNvSpPr/>
          <p:nvPr/>
        </p:nvSpPr>
        <p:spPr>
          <a:xfrm>
            <a:off x="3474720" y="1435608"/>
            <a:ext cx="2560320" cy="274320"/>
          </a:xfrm>
          <a:prstGeom prst="rect">
            <a:avLst/>
          </a:prstGeom>
          <a:noFill/>
          <a:ln/>
        </p:spPr>
        <p:txBody>
          <a:bodyPr wrap="square" lIns="0" tIns="0" rIns="0" bIns="0" rtlCol="0" anchor="ctr"/>
          <a:lstStyle/>
          <a:p>
            <a:pPr indent="0" marL="0">
              <a:buNone/>
            </a:pPr>
            <a:r>
              <a:rPr lang="en-US" sz="1100" b="1" dirty="0">
                <a:solidFill>
                  <a:srgbClr val="FFFFFF"/>
                </a:solidFill>
              </a:rPr>
              <a:t>AI Insights</a:t>
            </a:r>
            <a:endParaRPr lang="en-US" sz="1100" dirty="0"/>
          </a:p>
        </p:txBody>
      </p:sp>
      <p:sp>
        <p:nvSpPr>
          <p:cNvPr id="19" name="Text 17"/>
          <p:cNvSpPr/>
          <p:nvPr/>
        </p:nvSpPr>
        <p:spPr>
          <a:xfrm>
            <a:off x="3474720" y="1746504"/>
            <a:ext cx="2514600" cy="1051560"/>
          </a:xfrm>
          <a:prstGeom prst="rect">
            <a:avLst/>
          </a:prstGeom>
          <a:noFill/>
          <a:ln/>
        </p:spPr>
        <p:txBody>
          <a:bodyPr wrap="square" lIns="0" tIns="0" rIns="0" bIns="0" rtlCol="0" anchor="ctr"/>
          <a:lstStyle/>
          <a:p>
            <a:pPr indent="0" marL="0">
              <a:buNone/>
            </a:pPr>
            <a:r>
              <a:rPr lang="en-US" sz="950" dirty="0">
                <a:solidFill>
                  <a:srgbClr val="CBD5E1"/>
                </a:solidFill>
              </a:rPr>
              <a:t>Scoring strategy cards</a:t>
            </a:r>
            <a:endParaRPr lang="en-US" sz="950" dirty="0"/>
          </a:p>
          <a:p>
            <a:pPr indent="0" marL="0">
              <a:buNone/>
            </a:pPr>
            <a:r>
              <a:rPr lang="en-US" sz="950" dirty="0">
                <a:solidFill>
                  <a:srgbClr val="CBD5E1"/>
                </a:solidFill>
              </a:rPr>
              <a:t>Weight distribution radar</a:t>
            </a:r>
            <a:endParaRPr lang="en-US" sz="950" dirty="0"/>
          </a:p>
          <a:p>
            <a:pPr indent="0" marL="0">
              <a:buNone/>
            </a:pPr>
            <a:r>
              <a:rPr lang="en-US" sz="950" dirty="0">
                <a:solidFill>
                  <a:srgbClr val="CBD5E1"/>
                </a:solidFill>
              </a:rPr>
              <a:t>Confidence distribution histogram</a:t>
            </a:r>
            <a:endParaRPr lang="en-US" sz="950" dirty="0"/>
          </a:p>
        </p:txBody>
      </p:sp>
      <p:sp>
        <p:nvSpPr>
          <p:cNvPr id="20" name="Shape 18"/>
          <p:cNvSpPr/>
          <p:nvPr/>
        </p:nvSpPr>
        <p:spPr>
          <a:xfrm>
            <a:off x="6217920" y="1325880"/>
            <a:ext cx="2743200" cy="1554480"/>
          </a:xfrm>
          <a:prstGeom prst="rect">
            <a:avLst/>
          </a:prstGeom>
          <a:solidFill>
            <a:srgbClr val="1A1A2E"/>
          </a:solidFill>
          <a:ln w="12700">
            <a:solidFill>
              <a:srgbClr val="F59E0B"/>
            </a:solidFill>
            <a:prstDash val="solid"/>
          </a:ln>
          <a:effectLst>
            <a:outerShdw sx="100000" sy="100000" kx="0" ky="0" algn="bl" rotWithShape="0" blurRad="152400" dist="50800" dir="8100000">
              <a:srgbClr val="000000">
                <a:alpha val="30000"/>
              </a:srgbClr>
            </a:outerShdw>
          </a:effectLst>
        </p:spPr>
      </p:sp>
      <p:sp>
        <p:nvSpPr>
          <p:cNvPr id="21" name="Shape 19"/>
          <p:cNvSpPr/>
          <p:nvPr/>
        </p:nvSpPr>
        <p:spPr>
          <a:xfrm>
            <a:off x="6217920" y="1325880"/>
            <a:ext cx="54864" cy="1554480"/>
          </a:xfrm>
          <a:prstGeom prst="rect">
            <a:avLst/>
          </a:prstGeom>
          <a:solidFill>
            <a:srgbClr val="F59E0B"/>
          </a:solidFill>
          <a:ln w="12700">
            <a:solidFill>
              <a:srgbClr val="F59E0B"/>
            </a:solidFill>
            <a:prstDash val="solid"/>
          </a:ln>
        </p:spPr>
      </p:sp>
      <p:sp>
        <p:nvSpPr>
          <p:cNvPr id="22" name="Text 20"/>
          <p:cNvSpPr/>
          <p:nvPr/>
        </p:nvSpPr>
        <p:spPr>
          <a:xfrm>
            <a:off x="6355080" y="1435608"/>
            <a:ext cx="2560320" cy="274320"/>
          </a:xfrm>
          <a:prstGeom prst="rect">
            <a:avLst/>
          </a:prstGeom>
          <a:noFill/>
          <a:ln/>
        </p:spPr>
        <p:txBody>
          <a:bodyPr wrap="square" lIns="0" tIns="0" rIns="0" bIns="0" rtlCol="0" anchor="ctr"/>
          <a:lstStyle/>
          <a:p>
            <a:pPr indent="0" marL="0">
              <a:buNone/>
            </a:pPr>
            <a:r>
              <a:rPr lang="en-US" sz="1100" b="1" dirty="0">
                <a:solidFill>
                  <a:srgbClr val="FFFFFF"/>
                </a:solidFill>
              </a:rPr>
              <a:t>Analytics</a:t>
            </a:r>
            <a:endParaRPr lang="en-US" sz="1100" dirty="0"/>
          </a:p>
        </p:txBody>
      </p:sp>
      <p:sp>
        <p:nvSpPr>
          <p:cNvPr id="23" name="Text 21"/>
          <p:cNvSpPr/>
          <p:nvPr/>
        </p:nvSpPr>
        <p:spPr>
          <a:xfrm>
            <a:off x="6355080" y="1746504"/>
            <a:ext cx="2514600" cy="1051560"/>
          </a:xfrm>
          <a:prstGeom prst="rect">
            <a:avLst/>
          </a:prstGeom>
          <a:noFill/>
          <a:ln/>
        </p:spPr>
        <p:txBody>
          <a:bodyPr wrap="square" lIns="0" tIns="0" rIns="0" bIns="0" rtlCol="0" anchor="ctr"/>
          <a:lstStyle/>
          <a:p>
            <a:pPr indent="0" marL="0">
              <a:buNone/>
            </a:pPr>
            <a:r>
              <a:rPr lang="en-US" sz="950" dirty="0">
                <a:solidFill>
                  <a:srgbClr val="CBD5E1"/>
                </a:solidFill>
              </a:rPr>
              <a:t>Live session telemetry</a:t>
            </a:r>
            <a:endParaRPr lang="en-US" sz="950" dirty="0"/>
          </a:p>
          <a:p>
            <a:pPr indent="0" marL="0">
              <a:buNone/>
            </a:pPr>
            <a:r>
              <a:rPr lang="en-US" sz="950" dirty="0">
                <a:solidFill>
                  <a:srgbClr val="CBD5E1"/>
                </a:solidFill>
              </a:rPr>
              <a:t>R2 status · API calls</a:t>
            </a:r>
            <a:endParaRPr lang="en-US" sz="950" dirty="0"/>
          </a:p>
          <a:p>
            <a:pPr indent="0" marL="0">
              <a:buNone/>
            </a:pPr>
            <a:r>
              <a:rPr lang="en-US" sz="950" dirty="0">
                <a:solidFill>
                  <a:srgbClr val="CBD5E1"/>
                </a:solidFill>
              </a:rPr>
              <a:t>Mood trends · Live activity feed</a:t>
            </a:r>
            <a:endParaRPr lang="en-US" sz="950" dirty="0"/>
          </a:p>
        </p:txBody>
      </p:sp>
      <p:sp>
        <p:nvSpPr>
          <p:cNvPr id="24" name="Shape 22"/>
          <p:cNvSpPr/>
          <p:nvPr/>
        </p:nvSpPr>
        <p:spPr>
          <a:xfrm>
            <a:off x="457200" y="3017520"/>
            <a:ext cx="2743200" cy="155448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25" name="Shape 23"/>
          <p:cNvSpPr/>
          <p:nvPr/>
        </p:nvSpPr>
        <p:spPr>
          <a:xfrm>
            <a:off x="457200" y="3017520"/>
            <a:ext cx="54864" cy="1554480"/>
          </a:xfrm>
          <a:prstGeom prst="rect">
            <a:avLst/>
          </a:prstGeom>
          <a:solidFill>
            <a:srgbClr val="10B981"/>
          </a:solidFill>
          <a:ln w="12700">
            <a:solidFill>
              <a:srgbClr val="10B981"/>
            </a:solidFill>
            <a:prstDash val="solid"/>
          </a:ln>
        </p:spPr>
      </p:sp>
      <p:sp>
        <p:nvSpPr>
          <p:cNvPr id="26" name="Text 24"/>
          <p:cNvSpPr/>
          <p:nvPr/>
        </p:nvSpPr>
        <p:spPr>
          <a:xfrm>
            <a:off x="594360" y="3127248"/>
            <a:ext cx="2560320" cy="274320"/>
          </a:xfrm>
          <a:prstGeom prst="rect">
            <a:avLst/>
          </a:prstGeom>
          <a:noFill/>
          <a:ln/>
        </p:spPr>
        <p:txBody>
          <a:bodyPr wrap="square" lIns="0" tIns="0" rIns="0" bIns="0" rtlCol="0" anchor="ctr"/>
          <a:lstStyle/>
          <a:p>
            <a:pPr indent="0" marL="0">
              <a:buNone/>
            </a:pPr>
            <a:r>
              <a:rPr lang="en-US" sz="1100" b="1" dirty="0">
                <a:solidFill>
                  <a:srgbClr val="FFFFFF"/>
                </a:solidFill>
              </a:rPr>
              <a:t>Profile &amp; History</a:t>
            </a:r>
            <a:endParaRPr lang="en-US" sz="1100" dirty="0"/>
          </a:p>
        </p:txBody>
      </p:sp>
      <p:sp>
        <p:nvSpPr>
          <p:cNvPr id="27" name="Text 25"/>
          <p:cNvSpPr/>
          <p:nvPr/>
        </p:nvSpPr>
        <p:spPr>
          <a:xfrm>
            <a:off x="594360" y="3438144"/>
            <a:ext cx="2514600" cy="1051560"/>
          </a:xfrm>
          <a:prstGeom prst="rect">
            <a:avLst/>
          </a:prstGeom>
          <a:noFill/>
          <a:ln/>
        </p:spPr>
        <p:txBody>
          <a:bodyPr wrap="square" lIns="0" tIns="0" rIns="0" bIns="0" rtlCol="0" anchor="ctr"/>
          <a:lstStyle/>
          <a:p>
            <a:pPr indent="0" marL="0">
              <a:buNone/>
            </a:pPr>
            <a:r>
              <a:rPr lang="en-US" sz="950" dirty="0">
                <a:solidFill>
                  <a:srgbClr val="CBD5E1"/>
                </a:solidFill>
              </a:rPr>
              <a:t>26 sessions · 130 songs found</a:t>
            </a:r>
            <a:endParaRPr lang="en-US" sz="950" dirty="0"/>
          </a:p>
          <a:p>
            <a:pPr indent="0" marL="0">
              <a:buNone/>
            </a:pPr>
            <a:r>
              <a:rPr lang="en-US" sz="950" dirty="0">
                <a:solidFill>
                  <a:srgbClr val="CBD5E1"/>
                </a:solidFill>
              </a:rPr>
              <a:t>62% avg confidence</a:t>
            </a:r>
            <a:endParaRPr lang="en-US" sz="950" dirty="0"/>
          </a:p>
          <a:p>
            <a:pPr indent="0" marL="0">
              <a:buNone/>
            </a:pPr>
            <a:r>
              <a:rPr lang="en-US" sz="950" dirty="0">
                <a:solidFill>
                  <a:srgbClr val="CBD5E1"/>
                </a:solidFill>
              </a:rPr>
              <a:t>Mood frequency + genre spread</a:t>
            </a:r>
            <a:endParaRPr lang="en-US" sz="950" dirty="0"/>
          </a:p>
        </p:txBody>
      </p:sp>
      <p:sp>
        <p:nvSpPr>
          <p:cNvPr id="28" name="Shape 26"/>
          <p:cNvSpPr/>
          <p:nvPr/>
        </p:nvSpPr>
        <p:spPr>
          <a:xfrm>
            <a:off x="3337560" y="3017520"/>
            <a:ext cx="2743200" cy="1554480"/>
          </a:xfrm>
          <a:prstGeom prst="rect">
            <a:avLst/>
          </a:prstGeom>
          <a:solidFill>
            <a:srgbClr val="1A1A2E"/>
          </a:solidFill>
          <a:ln w="12700">
            <a:solidFill>
              <a:srgbClr val="A78BFA"/>
            </a:solidFill>
            <a:prstDash val="solid"/>
          </a:ln>
          <a:effectLst>
            <a:outerShdw sx="100000" sy="100000" kx="0" ky="0" algn="bl" rotWithShape="0" blurRad="152400" dist="50800" dir="8100000">
              <a:srgbClr val="000000">
                <a:alpha val="30000"/>
              </a:srgbClr>
            </a:outerShdw>
          </a:effectLst>
        </p:spPr>
      </p:sp>
      <p:sp>
        <p:nvSpPr>
          <p:cNvPr id="29" name="Shape 27"/>
          <p:cNvSpPr/>
          <p:nvPr/>
        </p:nvSpPr>
        <p:spPr>
          <a:xfrm>
            <a:off x="3337560" y="3017520"/>
            <a:ext cx="54864" cy="1554480"/>
          </a:xfrm>
          <a:prstGeom prst="rect">
            <a:avLst/>
          </a:prstGeom>
          <a:solidFill>
            <a:srgbClr val="A78BFA"/>
          </a:solidFill>
          <a:ln w="12700">
            <a:solidFill>
              <a:srgbClr val="A78BFA"/>
            </a:solidFill>
            <a:prstDash val="solid"/>
          </a:ln>
        </p:spPr>
      </p:sp>
      <p:sp>
        <p:nvSpPr>
          <p:cNvPr id="30" name="Text 28"/>
          <p:cNvSpPr/>
          <p:nvPr/>
        </p:nvSpPr>
        <p:spPr>
          <a:xfrm>
            <a:off x="3474720" y="3127248"/>
            <a:ext cx="2560320" cy="274320"/>
          </a:xfrm>
          <a:prstGeom prst="rect">
            <a:avLst/>
          </a:prstGeom>
          <a:noFill/>
          <a:ln/>
        </p:spPr>
        <p:txBody>
          <a:bodyPr wrap="square" lIns="0" tIns="0" rIns="0" bIns="0" rtlCol="0" anchor="ctr"/>
          <a:lstStyle/>
          <a:p>
            <a:pPr indent="0" marL="0">
              <a:buNone/>
            </a:pPr>
            <a:r>
              <a:rPr lang="en-US" sz="1100" b="1" dirty="0">
                <a:solidFill>
                  <a:srgbClr val="FFFFFF"/>
                </a:solidFill>
              </a:rPr>
              <a:t>Settings</a:t>
            </a:r>
            <a:endParaRPr lang="en-US" sz="1100" dirty="0"/>
          </a:p>
        </p:txBody>
      </p:sp>
      <p:sp>
        <p:nvSpPr>
          <p:cNvPr id="31" name="Text 29"/>
          <p:cNvSpPr/>
          <p:nvPr/>
        </p:nvSpPr>
        <p:spPr>
          <a:xfrm>
            <a:off x="3474720" y="3438144"/>
            <a:ext cx="2514600" cy="1051560"/>
          </a:xfrm>
          <a:prstGeom prst="rect">
            <a:avLst/>
          </a:prstGeom>
          <a:noFill/>
          <a:ln/>
        </p:spPr>
        <p:txBody>
          <a:bodyPr wrap="square" lIns="0" tIns="0" rIns="0" bIns="0" rtlCol="0" anchor="ctr"/>
          <a:lstStyle/>
          <a:p>
            <a:pPr indent="0" marL="0">
              <a:buNone/>
            </a:pPr>
            <a:r>
              <a:rPr lang="en-US" sz="950" dirty="0">
                <a:solidFill>
                  <a:srgbClr val="CBD5E1"/>
                </a:solidFill>
              </a:rPr>
              <a:t>6 AI Atmosphere themes</a:t>
            </a:r>
            <a:endParaRPr lang="en-US" sz="950" dirty="0"/>
          </a:p>
          <a:p>
            <a:pPr indent="0" marL="0">
              <a:buNone/>
            </a:pPr>
            <a:r>
              <a:rPr lang="en-US" sz="950" dirty="0">
                <a:solidFill>
                  <a:srgbClr val="CBD5E1"/>
                </a:solidFill>
              </a:rPr>
              <a:t>3 accent color systems</a:t>
            </a:r>
            <a:endParaRPr lang="en-US" sz="950" dirty="0"/>
          </a:p>
          <a:p>
            <a:pPr indent="0" marL="0">
              <a:buNone/>
            </a:pPr>
            <a:r>
              <a:rPr lang="en-US" sz="950" dirty="0">
                <a:solidFill>
                  <a:srgbClr val="CBD5E1"/>
                </a:solidFill>
              </a:rPr>
              <a:t>AI behavior configuration</a:t>
            </a:r>
            <a:endParaRPr lang="en-US" sz="950" dirty="0"/>
          </a:p>
        </p:txBody>
      </p:sp>
      <p:sp>
        <p:nvSpPr>
          <p:cNvPr id="32" name="Shape 30"/>
          <p:cNvSpPr/>
          <p:nvPr/>
        </p:nvSpPr>
        <p:spPr>
          <a:xfrm>
            <a:off x="6217920" y="3017520"/>
            <a:ext cx="2743200" cy="155448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33" name="Shape 31"/>
          <p:cNvSpPr/>
          <p:nvPr/>
        </p:nvSpPr>
        <p:spPr>
          <a:xfrm>
            <a:off x="6217920" y="3017520"/>
            <a:ext cx="54864" cy="1554480"/>
          </a:xfrm>
          <a:prstGeom prst="rect">
            <a:avLst/>
          </a:prstGeom>
          <a:solidFill>
            <a:srgbClr val="06B6D4"/>
          </a:solidFill>
          <a:ln w="12700">
            <a:solidFill>
              <a:srgbClr val="06B6D4"/>
            </a:solidFill>
            <a:prstDash val="solid"/>
          </a:ln>
        </p:spPr>
      </p:sp>
      <p:sp>
        <p:nvSpPr>
          <p:cNvPr id="34" name="Text 32"/>
          <p:cNvSpPr/>
          <p:nvPr/>
        </p:nvSpPr>
        <p:spPr>
          <a:xfrm>
            <a:off x="6355080" y="3127248"/>
            <a:ext cx="2560320" cy="274320"/>
          </a:xfrm>
          <a:prstGeom prst="rect">
            <a:avLst/>
          </a:prstGeom>
          <a:noFill/>
          <a:ln/>
        </p:spPr>
        <p:txBody>
          <a:bodyPr wrap="square" lIns="0" tIns="0" rIns="0" bIns="0" rtlCol="0" anchor="ctr"/>
          <a:lstStyle/>
          <a:p>
            <a:pPr indent="0" marL="0">
              <a:buNone/>
            </a:pPr>
            <a:r>
              <a:rPr lang="en-US" sz="1100" b="1" dirty="0">
                <a:solidFill>
                  <a:srgbClr val="FFFFFF"/>
                </a:solidFill>
              </a:rPr>
              <a:t>Streaming</a:t>
            </a:r>
            <a:endParaRPr lang="en-US" sz="1100" dirty="0"/>
          </a:p>
        </p:txBody>
      </p:sp>
      <p:sp>
        <p:nvSpPr>
          <p:cNvPr id="35" name="Text 33"/>
          <p:cNvSpPr/>
          <p:nvPr/>
        </p:nvSpPr>
        <p:spPr>
          <a:xfrm>
            <a:off x="6355080" y="3438144"/>
            <a:ext cx="2514600" cy="1051560"/>
          </a:xfrm>
          <a:prstGeom prst="rect">
            <a:avLst/>
          </a:prstGeom>
          <a:noFill/>
          <a:ln/>
        </p:spPr>
        <p:txBody>
          <a:bodyPr wrap="square" lIns="0" tIns="0" rIns="0" bIns="0" rtlCol="0" anchor="ctr"/>
          <a:lstStyle/>
          <a:p>
            <a:pPr indent="0" marL="0">
              <a:buNone/>
            </a:pPr>
            <a:r>
              <a:rPr lang="en-US" sz="950" dirty="0">
                <a:solidFill>
                  <a:srgbClr val="CBD5E1"/>
                </a:solidFill>
              </a:rPr>
              <a:t>Cloudflare R2 signed URLs</a:t>
            </a:r>
            <a:endParaRPr lang="en-US" sz="950" dirty="0"/>
          </a:p>
          <a:p>
            <a:pPr indent="0" marL="0">
              <a:buNone/>
            </a:pPr>
            <a:r>
              <a:rPr lang="en-US" sz="950" dirty="0">
                <a:solidFill>
                  <a:srgbClr val="CBD5E1"/>
                </a:solidFill>
              </a:rPr>
              <a:t>Playback engine + queue</a:t>
            </a:r>
            <a:endParaRPr lang="en-US" sz="950" dirty="0"/>
          </a:p>
          <a:p>
            <a:pPr indent="0" marL="0">
              <a:buNone/>
            </a:pPr>
            <a:r>
              <a:rPr lang="en-US" sz="950" dirty="0">
                <a:solidFill>
                  <a:srgbClr val="CBD5E1"/>
                </a:solidFill>
              </a:rPr>
              <a:t>Animated equalizer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11</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Tech Stack</a:t>
            </a:r>
            <a:endParaRPr lang="en-US" sz="3000" dirty="0"/>
          </a:p>
        </p:txBody>
      </p:sp>
      <p:sp>
        <p:nvSpPr>
          <p:cNvPr id="4" name="Shape 2"/>
          <p:cNvSpPr/>
          <p:nvPr/>
        </p:nvSpPr>
        <p:spPr>
          <a:xfrm>
            <a:off x="457200" y="1005840"/>
            <a:ext cx="4114800" cy="192024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5" name="Shape 3"/>
          <p:cNvSpPr/>
          <p:nvPr/>
        </p:nvSpPr>
        <p:spPr>
          <a:xfrm>
            <a:off x="457200" y="1005840"/>
            <a:ext cx="4114800" cy="347472"/>
          </a:xfrm>
          <a:prstGeom prst="rect">
            <a:avLst/>
          </a:prstGeom>
          <a:solidFill>
            <a:srgbClr val="7C3AED">
              <a:alpha val="85000"/>
            </a:srgbClr>
          </a:solidFill>
          <a:ln w="12700">
            <a:solidFill>
              <a:srgbClr val="7C3AED"/>
            </a:solidFill>
            <a:prstDash val="solid"/>
          </a:ln>
        </p:spPr>
      </p:sp>
      <p:sp>
        <p:nvSpPr>
          <p:cNvPr id="6" name="Text 4"/>
          <p:cNvSpPr/>
          <p:nvPr/>
        </p:nvSpPr>
        <p:spPr>
          <a:xfrm>
            <a:off x="594360" y="1005840"/>
            <a:ext cx="3840480" cy="347472"/>
          </a:xfrm>
          <a:prstGeom prst="rect">
            <a:avLst/>
          </a:prstGeom>
          <a:noFill/>
          <a:ln/>
        </p:spPr>
        <p:txBody>
          <a:bodyPr wrap="square" lIns="0" tIns="0" rIns="0" bIns="0" rtlCol="0" anchor="ctr"/>
          <a:lstStyle/>
          <a:p>
            <a:pPr indent="0" marL="0">
              <a:buNone/>
            </a:pPr>
            <a:r>
              <a:rPr lang="en-US" sz="1200" b="1" dirty="0">
                <a:solidFill>
                  <a:srgbClr val="FFFFFF"/>
                </a:solidFill>
              </a:rPr>
              <a:t>Frontend</a:t>
            </a:r>
            <a:endParaRPr lang="en-US" sz="1200" dirty="0"/>
          </a:p>
        </p:txBody>
      </p:sp>
      <p:sp>
        <p:nvSpPr>
          <p:cNvPr id="7" name="Shape 5"/>
          <p:cNvSpPr/>
          <p:nvPr/>
        </p:nvSpPr>
        <p:spPr>
          <a:xfrm>
            <a:off x="594360" y="1508760"/>
            <a:ext cx="109728" cy="109728"/>
          </a:xfrm>
          <a:prstGeom prst="ellipse">
            <a:avLst/>
          </a:prstGeom>
          <a:solidFill>
            <a:srgbClr val="7C3AED"/>
          </a:solidFill>
          <a:ln w="12700">
            <a:solidFill>
              <a:srgbClr val="7C3AED"/>
            </a:solidFill>
            <a:prstDash val="solid"/>
          </a:ln>
        </p:spPr>
      </p:sp>
      <p:sp>
        <p:nvSpPr>
          <p:cNvPr id="8" name="Text 6"/>
          <p:cNvSpPr/>
          <p:nvPr/>
        </p:nvSpPr>
        <p:spPr>
          <a:xfrm>
            <a:off x="777240" y="1444752"/>
            <a:ext cx="3657600" cy="274320"/>
          </a:xfrm>
          <a:prstGeom prst="rect">
            <a:avLst/>
          </a:prstGeom>
          <a:noFill/>
          <a:ln/>
        </p:spPr>
        <p:txBody>
          <a:bodyPr wrap="square" lIns="0" tIns="0" rIns="0" bIns="0" rtlCol="0" anchor="ctr"/>
          <a:lstStyle/>
          <a:p>
            <a:pPr indent="0" marL="0">
              <a:buNone/>
            </a:pPr>
            <a:r>
              <a:rPr lang="en-US" sz="1000" dirty="0">
                <a:solidFill>
                  <a:srgbClr val="CBD5E1"/>
                </a:solidFill>
              </a:rPr>
              <a:t>Next.js 14</a:t>
            </a:r>
            <a:endParaRPr lang="en-US" sz="1000" dirty="0"/>
          </a:p>
        </p:txBody>
      </p:sp>
      <p:sp>
        <p:nvSpPr>
          <p:cNvPr id="9" name="Shape 7"/>
          <p:cNvSpPr/>
          <p:nvPr/>
        </p:nvSpPr>
        <p:spPr>
          <a:xfrm>
            <a:off x="594360" y="1792224"/>
            <a:ext cx="109728" cy="109728"/>
          </a:xfrm>
          <a:prstGeom prst="ellipse">
            <a:avLst/>
          </a:prstGeom>
          <a:solidFill>
            <a:srgbClr val="7C3AED"/>
          </a:solidFill>
          <a:ln w="12700">
            <a:solidFill>
              <a:srgbClr val="7C3AED"/>
            </a:solidFill>
            <a:prstDash val="solid"/>
          </a:ln>
        </p:spPr>
      </p:sp>
      <p:sp>
        <p:nvSpPr>
          <p:cNvPr id="10" name="Text 8"/>
          <p:cNvSpPr/>
          <p:nvPr/>
        </p:nvSpPr>
        <p:spPr>
          <a:xfrm>
            <a:off x="777240" y="1728216"/>
            <a:ext cx="3657600" cy="274320"/>
          </a:xfrm>
          <a:prstGeom prst="rect">
            <a:avLst/>
          </a:prstGeom>
          <a:noFill/>
          <a:ln/>
        </p:spPr>
        <p:txBody>
          <a:bodyPr wrap="square" lIns="0" tIns="0" rIns="0" bIns="0" rtlCol="0" anchor="ctr"/>
          <a:lstStyle/>
          <a:p>
            <a:pPr indent="0" marL="0">
              <a:buNone/>
            </a:pPr>
            <a:r>
              <a:rPr lang="en-US" sz="1000" dirty="0">
                <a:solidFill>
                  <a:srgbClr val="CBD5E1"/>
                </a:solidFill>
              </a:rPr>
              <a:t>React 18</a:t>
            </a:r>
            <a:endParaRPr lang="en-US" sz="1000" dirty="0"/>
          </a:p>
        </p:txBody>
      </p:sp>
      <p:sp>
        <p:nvSpPr>
          <p:cNvPr id="11" name="Shape 9"/>
          <p:cNvSpPr/>
          <p:nvPr/>
        </p:nvSpPr>
        <p:spPr>
          <a:xfrm>
            <a:off x="594360" y="2075688"/>
            <a:ext cx="109728" cy="109728"/>
          </a:xfrm>
          <a:prstGeom prst="ellipse">
            <a:avLst/>
          </a:prstGeom>
          <a:solidFill>
            <a:srgbClr val="7C3AED"/>
          </a:solidFill>
          <a:ln w="12700">
            <a:solidFill>
              <a:srgbClr val="7C3AED"/>
            </a:solidFill>
            <a:prstDash val="solid"/>
          </a:ln>
        </p:spPr>
      </p:sp>
      <p:sp>
        <p:nvSpPr>
          <p:cNvPr id="12" name="Text 10"/>
          <p:cNvSpPr/>
          <p:nvPr/>
        </p:nvSpPr>
        <p:spPr>
          <a:xfrm>
            <a:off x="777240" y="2011680"/>
            <a:ext cx="3657600" cy="274320"/>
          </a:xfrm>
          <a:prstGeom prst="rect">
            <a:avLst/>
          </a:prstGeom>
          <a:noFill/>
          <a:ln/>
        </p:spPr>
        <p:txBody>
          <a:bodyPr wrap="square" lIns="0" tIns="0" rIns="0" bIns="0" rtlCol="0" anchor="ctr"/>
          <a:lstStyle/>
          <a:p>
            <a:pPr indent="0" marL="0">
              <a:buNone/>
            </a:pPr>
            <a:r>
              <a:rPr lang="en-US" sz="1000" dirty="0">
                <a:solidFill>
                  <a:srgbClr val="CBD5E1"/>
                </a:solidFill>
              </a:rPr>
              <a:t>TypeScript 78%</a:t>
            </a:r>
            <a:endParaRPr lang="en-US" sz="1000" dirty="0"/>
          </a:p>
        </p:txBody>
      </p:sp>
      <p:sp>
        <p:nvSpPr>
          <p:cNvPr id="13" name="Shape 11"/>
          <p:cNvSpPr/>
          <p:nvPr/>
        </p:nvSpPr>
        <p:spPr>
          <a:xfrm>
            <a:off x="594360" y="2359152"/>
            <a:ext cx="109728" cy="109728"/>
          </a:xfrm>
          <a:prstGeom prst="ellipse">
            <a:avLst/>
          </a:prstGeom>
          <a:solidFill>
            <a:srgbClr val="7C3AED"/>
          </a:solidFill>
          <a:ln w="12700">
            <a:solidFill>
              <a:srgbClr val="7C3AED"/>
            </a:solidFill>
            <a:prstDash val="solid"/>
          </a:ln>
        </p:spPr>
      </p:sp>
      <p:sp>
        <p:nvSpPr>
          <p:cNvPr id="14" name="Text 12"/>
          <p:cNvSpPr/>
          <p:nvPr/>
        </p:nvSpPr>
        <p:spPr>
          <a:xfrm>
            <a:off x="777240" y="2295144"/>
            <a:ext cx="3657600" cy="274320"/>
          </a:xfrm>
          <a:prstGeom prst="rect">
            <a:avLst/>
          </a:prstGeom>
          <a:noFill/>
          <a:ln/>
        </p:spPr>
        <p:txBody>
          <a:bodyPr wrap="square" lIns="0" tIns="0" rIns="0" bIns="0" rtlCol="0" anchor="ctr"/>
          <a:lstStyle/>
          <a:p>
            <a:pPr indent="0" marL="0">
              <a:buNone/>
            </a:pPr>
            <a:r>
              <a:rPr lang="en-US" sz="1000" dirty="0">
                <a:solidFill>
                  <a:srgbClr val="CBD5E1"/>
                </a:solidFill>
              </a:rPr>
              <a:t>TailwindCSS</a:t>
            </a:r>
            <a:endParaRPr lang="en-US" sz="1000" dirty="0"/>
          </a:p>
        </p:txBody>
      </p:sp>
      <p:sp>
        <p:nvSpPr>
          <p:cNvPr id="15" name="Shape 13"/>
          <p:cNvSpPr/>
          <p:nvPr/>
        </p:nvSpPr>
        <p:spPr>
          <a:xfrm>
            <a:off x="594360" y="2642616"/>
            <a:ext cx="109728" cy="109728"/>
          </a:xfrm>
          <a:prstGeom prst="ellipse">
            <a:avLst/>
          </a:prstGeom>
          <a:solidFill>
            <a:srgbClr val="7C3AED"/>
          </a:solidFill>
          <a:ln w="12700">
            <a:solidFill>
              <a:srgbClr val="7C3AED"/>
            </a:solidFill>
            <a:prstDash val="solid"/>
          </a:ln>
        </p:spPr>
      </p:sp>
      <p:sp>
        <p:nvSpPr>
          <p:cNvPr id="16" name="Text 14"/>
          <p:cNvSpPr/>
          <p:nvPr/>
        </p:nvSpPr>
        <p:spPr>
          <a:xfrm>
            <a:off x="777240" y="2578608"/>
            <a:ext cx="3657600" cy="274320"/>
          </a:xfrm>
          <a:prstGeom prst="rect">
            <a:avLst/>
          </a:prstGeom>
          <a:noFill/>
          <a:ln/>
        </p:spPr>
        <p:txBody>
          <a:bodyPr wrap="square" lIns="0" tIns="0" rIns="0" bIns="0" rtlCol="0" anchor="ctr"/>
          <a:lstStyle/>
          <a:p>
            <a:pPr indent="0" marL="0">
              <a:buNone/>
            </a:pPr>
            <a:r>
              <a:rPr lang="en-US" sz="1000" dirty="0">
                <a:solidFill>
                  <a:srgbClr val="CBD5E1"/>
                </a:solidFill>
              </a:rPr>
              <a:t>Framer Motion</a:t>
            </a:r>
            <a:endParaRPr lang="en-US" sz="1000" dirty="0"/>
          </a:p>
        </p:txBody>
      </p:sp>
      <p:sp>
        <p:nvSpPr>
          <p:cNvPr id="17" name="Shape 15"/>
          <p:cNvSpPr/>
          <p:nvPr/>
        </p:nvSpPr>
        <p:spPr>
          <a:xfrm>
            <a:off x="4800600" y="1005840"/>
            <a:ext cx="4114800" cy="192024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18" name="Shape 16"/>
          <p:cNvSpPr/>
          <p:nvPr/>
        </p:nvSpPr>
        <p:spPr>
          <a:xfrm>
            <a:off x="4800600" y="1005840"/>
            <a:ext cx="4114800" cy="347472"/>
          </a:xfrm>
          <a:prstGeom prst="rect">
            <a:avLst/>
          </a:prstGeom>
          <a:solidFill>
            <a:srgbClr val="06B6D4">
              <a:alpha val="85000"/>
            </a:srgbClr>
          </a:solidFill>
          <a:ln w="12700">
            <a:solidFill>
              <a:srgbClr val="06B6D4"/>
            </a:solidFill>
            <a:prstDash val="solid"/>
          </a:ln>
        </p:spPr>
      </p:sp>
      <p:sp>
        <p:nvSpPr>
          <p:cNvPr id="19" name="Text 17"/>
          <p:cNvSpPr/>
          <p:nvPr/>
        </p:nvSpPr>
        <p:spPr>
          <a:xfrm>
            <a:off x="4937760" y="1005840"/>
            <a:ext cx="3840480" cy="347472"/>
          </a:xfrm>
          <a:prstGeom prst="rect">
            <a:avLst/>
          </a:prstGeom>
          <a:noFill/>
          <a:ln/>
        </p:spPr>
        <p:txBody>
          <a:bodyPr wrap="square" lIns="0" tIns="0" rIns="0" bIns="0" rtlCol="0" anchor="ctr"/>
          <a:lstStyle/>
          <a:p>
            <a:pPr indent="0" marL="0">
              <a:buNone/>
            </a:pPr>
            <a:r>
              <a:rPr lang="en-US" sz="1200" b="1" dirty="0">
                <a:solidFill>
                  <a:srgbClr val="FFFFFF"/>
                </a:solidFill>
              </a:rPr>
              <a:t>Backend</a:t>
            </a:r>
            <a:endParaRPr lang="en-US" sz="1200" dirty="0"/>
          </a:p>
        </p:txBody>
      </p:sp>
      <p:sp>
        <p:nvSpPr>
          <p:cNvPr id="20" name="Shape 18"/>
          <p:cNvSpPr/>
          <p:nvPr/>
        </p:nvSpPr>
        <p:spPr>
          <a:xfrm>
            <a:off x="4937760" y="1508760"/>
            <a:ext cx="109728" cy="109728"/>
          </a:xfrm>
          <a:prstGeom prst="ellipse">
            <a:avLst/>
          </a:prstGeom>
          <a:solidFill>
            <a:srgbClr val="06B6D4"/>
          </a:solidFill>
          <a:ln w="12700">
            <a:solidFill>
              <a:srgbClr val="06B6D4"/>
            </a:solidFill>
            <a:prstDash val="solid"/>
          </a:ln>
        </p:spPr>
      </p:sp>
      <p:sp>
        <p:nvSpPr>
          <p:cNvPr id="21" name="Text 19"/>
          <p:cNvSpPr/>
          <p:nvPr/>
        </p:nvSpPr>
        <p:spPr>
          <a:xfrm>
            <a:off x="5120640" y="1444752"/>
            <a:ext cx="3657600" cy="274320"/>
          </a:xfrm>
          <a:prstGeom prst="rect">
            <a:avLst/>
          </a:prstGeom>
          <a:noFill/>
          <a:ln/>
        </p:spPr>
        <p:txBody>
          <a:bodyPr wrap="square" lIns="0" tIns="0" rIns="0" bIns="0" rtlCol="0" anchor="ctr"/>
          <a:lstStyle/>
          <a:p>
            <a:pPr indent="0" marL="0">
              <a:buNone/>
            </a:pPr>
            <a:r>
              <a:rPr lang="en-US" sz="1000" dirty="0">
                <a:solidFill>
                  <a:srgbClr val="CBD5E1"/>
                </a:solidFill>
              </a:rPr>
              <a:t>Python 3.10+</a:t>
            </a:r>
            <a:endParaRPr lang="en-US" sz="1000" dirty="0"/>
          </a:p>
        </p:txBody>
      </p:sp>
      <p:sp>
        <p:nvSpPr>
          <p:cNvPr id="22" name="Shape 20"/>
          <p:cNvSpPr/>
          <p:nvPr/>
        </p:nvSpPr>
        <p:spPr>
          <a:xfrm>
            <a:off x="4937760" y="1792224"/>
            <a:ext cx="109728" cy="109728"/>
          </a:xfrm>
          <a:prstGeom prst="ellipse">
            <a:avLst/>
          </a:prstGeom>
          <a:solidFill>
            <a:srgbClr val="06B6D4"/>
          </a:solidFill>
          <a:ln w="12700">
            <a:solidFill>
              <a:srgbClr val="06B6D4"/>
            </a:solidFill>
            <a:prstDash val="solid"/>
          </a:ln>
        </p:spPr>
      </p:sp>
      <p:sp>
        <p:nvSpPr>
          <p:cNvPr id="23" name="Text 21"/>
          <p:cNvSpPr/>
          <p:nvPr/>
        </p:nvSpPr>
        <p:spPr>
          <a:xfrm>
            <a:off x="5120640" y="1728216"/>
            <a:ext cx="3657600" cy="274320"/>
          </a:xfrm>
          <a:prstGeom prst="rect">
            <a:avLst/>
          </a:prstGeom>
          <a:noFill/>
          <a:ln/>
        </p:spPr>
        <p:txBody>
          <a:bodyPr wrap="square" lIns="0" tIns="0" rIns="0" bIns="0" rtlCol="0" anchor="ctr"/>
          <a:lstStyle/>
          <a:p>
            <a:pPr indent="0" marL="0">
              <a:buNone/>
            </a:pPr>
            <a:r>
              <a:rPr lang="en-US" sz="1000" dirty="0">
                <a:solidFill>
                  <a:srgbClr val="CBD5E1"/>
                </a:solidFill>
              </a:rPr>
              <a:t>FastAPI</a:t>
            </a:r>
            <a:endParaRPr lang="en-US" sz="1000" dirty="0"/>
          </a:p>
        </p:txBody>
      </p:sp>
      <p:sp>
        <p:nvSpPr>
          <p:cNvPr id="24" name="Shape 22"/>
          <p:cNvSpPr/>
          <p:nvPr/>
        </p:nvSpPr>
        <p:spPr>
          <a:xfrm>
            <a:off x="4937760" y="2075688"/>
            <a:ext cx="109728" cy="109728"/>
          </a:xfrm>
          <a:prstGeom prst="ellipse">
            <a:avLst/>
          </a:prstGeom>
          <a:solidFill>
            <a:srgbClr val="06B6D4"/>
          </a:solidFill>
          <a:ln w="12700">
            <a:solidFill>
              <a:srgbClr val="06B6D4"/>
            </a:solidFill>
            <a:prstDash val="solid"/>
          </a:ln>
        </p:spPr>
      </p:sp>
      <p:sp>
        <p:nvSpPr>
          <p:cNvPr id="25" name="Text 23"/>
          <p:cNvSpPr/>
          <p:nvPr/>
        </p:nvSpPr>
        <p:spPr>
          <a:xfrm>
            <a:off x="5120640" y="2011680"/>
            <a:ext cx="3657600" cy="274320"/>
          </a:xfrm>
          <a:prstGeom prst="rect">
            <a:avLst/>
          </a:prstGeom>
          <a:noFill/>
          <a:ln/>
        </p:spPr>
        <p:txBody>
          <a:bodyPr wrap="square" lIns="0" tIns="0" rIns="0" bIns="0" rtlCol="0" anchor="ctr"/>
          <a:lstStyle/>
          <a:p>
            <a:pPr indent="0" marL="0">
              <a:buNone/>
            </a:pPr>
            <a:r>
              <a:rPr lang="en-US" sz="1000" dirty="0">
                <a:solidFill>
                  <a:srgbClr val="CBD5E1"/>
                </a:solidFill>
              </a:rPr>
              <a:t>Scoring Engine</a:t>
            </a:r>
            <a:endParaRPr lang="en-US" sz="1000" dirty="0"/>
          </a:p>
        </p:txBody>
      </p:sp>
      <p:sp>
        <p:nvSpPr>
          <p:cNvPr id="26" name="Shape 24"/>
          <p:cNvSpPr/>
          <p:nvPr/>
        </p:nvSpPr>
        <p:spPr>
          <a:xfrm>
            <a:off x="4937760" y="2359152"/>
            <a:ext cx="109728" cy="109728"/>
          </a:xfrm>
          <a:prstGeom prst="ellipse">
            <a:avLst/>
          </a:prstGeom>
          <a:solidFill>
            <a:srgbClr val="06B6D4"/>
          </a:solidFill>
          <a:ln w="12700">
            <a:solidFill>
              <a:srgbClr val="06B6D4"/>
            </a:solidFill>
            <a:prstDash val="solid"/>
          </a:ln>
        </p:spPr>
      </p:sp>
      <p:sp>
        <p:nvSpPr>
          <p:cNvPr id="27" name="Text 25"/>
          <p:cNvSpPr/>
          <p:nvPr/>
        </p:nvSpPr>
        <p:spPr>
          <a:xfrm>
            <a:off x="5120640" y="2295144"/>
            <a:ext cx="3657600" cy="274320"/>
          </a:xfrm>
          <a:prstGeom prst="rect">
            <a:avLst/>
          </a:prstGeom>
          <a:noFill/>
          <a:ln/>
        </p:spPr>
        <p:txBody>
          <a:bodyPr wrap="square" lIns="0" tIns="0" rIns="0" bIns="0" rtlCol="0" anchor="ctr"/>
          <a:lstStyle/>
          <a:p>
            <a:pPr indent="0" marL="0">
              <a:buNone/>
            </a:pPr>
            <a:r>
              <a:rPr lang="en-US" sz="1000" dirty="0">
                <a:solidFill>
                  <a:srgbClr val="CBD5E1"/>
                </a:solidFill>
              </a:rPr>
              <a:t>Confidence Engine</a:t>
            </a:r>
            <a:endParaRPr lang="en-US" sz="1000" dirty="0"/>
          </a:p>
        </p:txBody>
      </p:sp>
      <p:sp>
        <p:nvSpPr>
          <p:cNvPr id="28" name="Shape 26"/>
          <p:cNvSpPr/>
          <p:nvPr/>
        </p:nvSpPr>
        <p:spPr>
          <a:xfrm>
            <a:off x="4937760" y="2642616"/>
            <a:ext cx="109728" cy="109728"/>
          </a:xfrm>
          <a:prstGeom prst="ellipse">
            <a:avLst/>
          </a:prstGeom>
          <a:solidFill>
            <a:srgbClr val="06B6D4"/>
          </a:solidFill>
          <a:ln w="12700">
            <a:solidFill>
              <a:srgbClr val="06B6D4"/>
            </a:solidFill>
            <a:prstDash val="solid"/>
          </a:ln>
        </p:spPr>
      </p:sp>
      <p:sp>
        <p:nvSpPr>
          <p:cNvPr id="29" name="Text 27"/>
          <p:cNvSpPr/>
          <p:nvPr/>
        </p:nvSpPr>
        <p:spPr>
          <a:xfrm>
            <a:off x="5120640" y="2578608"/>
            <a:ext cx="3657600" cy="274320"/>
          </a:xfrm>
          <a:prstGeom prst="rect">
            <a:avLst/>
          </a:prstGeom>
          <a:noFill/>
          <a:ln/>
        </p:spPr>
        <p:txBody>
          <a:bodyPr wrap="square" lIns="0" tIns="0" rIns="0" bIns="0" rtlCol="0" anchor="ctr"/>
          <a:lstStyle/>
          <a:p>
            <a:pPr indent="0" marL="0">
              <a:buNone/>
            </a:pPr>
            <a:r>
              <a:rPr lang="en-US" sz="1000" dirty="0">
                <a:solidFill>
                  <a:srgbClr val="CBD5E1"/>
                </a:solidFill>
              </a:rPr>
              <a:t>Evaluation Harness</a:t>
            </a:r>
            <a:endParaRPr lang="en-US" sz="1000" dirty="0"/>
          </a:p>
        </p:txBody>
      </p:sp>
      <p:sp>
        <p:nvSpPr>
          <p:cNvPr id="30" name="Shape 28"/>
          <p:cNvSpPr/>
          <p:nvPr/>
        </p:nvSpPr>
        <p:spPr>
          <a:xfrm>
            <a:off x="457200" y="3154680"/>
            <a:ext cx="4114800" cy="1920240"/>
          </a:xfrm>
          <a:prstGeom prst="rect">
            <a:avLst/>
          </a:prstGeom>
          <a:solidFill>
            <a:srgbClr val="1A1A2E"/>
          </a:solidFill>
          <a:ln w="12700">
            <a:solidFill>
              <a:srgbClr val="F59E0B"/>
            </a:solidFill>
            <a:prstDash val="solid"/>
          </a:ln>
          <a:effectLst>
            <a:outerShdw sx="100000" sy="100000" kx="0" ky="0" algn="bl" rotWithShape="0" blurRad="152400" dist="50800" dir="8100000">
              <a:srgbClr val="000000">
                <a:alpha val="30000"/>
              </a:srgbClr>
            </a:outerShdw>
          </a:effectLst>
        </p:spPr>
      </p:sp>
      <p:sp>
        <p:nvSpPr>
          <p:cNvPr id="31" name="Shape 29"/>
          <p:cNvSpPr/>
          <p:nvPr/>
        </p:nvSpPr>
        <p:spPr>
          <a:xfrm>
            <a:off x="457200" y="3154680"/>
            <a:ext cx="4114800" cy="347472"/>
          </a:xfrm>
          <a:prstGeom prst="rect">
            <a:avLst/>
          </a:prstGeom>
          <a:solidFill>
            <a:srgbClr val="F59E0B">
              <a:alpha val="85000"/>
            </a:srgbClr>
          </a:solidFill>
          <a:ln w="12700">
            <a:solidFill>
              <a:srgbClr val="F59E0B"/>
            </a:solidFill>
            <a:prstDash val="solid"/>
          </a:ln>
        </p:spPr>
      </p:sp>
      <p:sp>
        <p:nvSpPr>
          <p:cNvPr id="32" name="Text 30"/>
          <p:cNvSpPr/>
          <p:nvPr/>
        </p:nvSpPr>
        <p:spPr>
          <a:xfrm>
            <a:off x="594360" y="3154680"/>
            <a:ext cx="3840480" cy="347472"/>
          </a:xfrm>
          <a:prstGeom prst="rect">
            <a:avLst/>
          </a:prstGeom>
          <a:noFill/>
          <a:ln/>
        </p:spPr>
        <p:txBody>
          <a:bodyPr wrap="square" lIns="0" tIns="0" rIns="0" bIns="0" rtlCol="0" anchor="ctr"/>
          <a:lstStyle/>
          <a:p>
            <a:pPr indent="0" marL="0">
              <a:buNone/>
            </a:pPr>
            <a:r>
              <a:rPr lang="en-US" sz="1200" b="1" dirty="0">
                <a:solidFill>
                  <a:srgbClr val="FFFFFF"/>
                </a:solidFill>
              </a:rPr>
              <a:t>Infrastructure</a:t>
            </a:r>
            <a:endParaRPr lang="en-US" sz="1200" dirty="0"/>
          </a:p>
        </p:txBody>
      </p:sp>
      <p:sp>
        <p:nvSpPr>
          <p:cNvPr id="33" name="Shape 31"/>
          <p:cNvSpPr/>
          <p:nvPr/>
        </p:nvSpPr>
        <p:spPr>
          <a:xfrm>
            <a:off x="594360" y="3657600"/>
            <a:ext cx="109728" cy="109728"/>
          </a:xfrm>
          <a:prstGeom prst="ellipse">
            <a:avLst/>
          </a:prstGeom>
          <a:solidFill>
            <a:srgbClr val="F59E0B"/>
          </a:solidFill>
          <a:ln w="12700">
            <a:solidFill>
              <a:srgbClr val="F59E0B"/>
            </a:solidFill>
            <a:prstDash val="solid"/>
          </a:ln>
        </p:spPr>
      </p:sp>
      <p:sp>
        <p:nvSpPr>
          <p:cNvPr id="34" name="Text 32"/>
          <p:cNvSpPr/>
          <p:nvPr/>
        </p:nvSpPr>
        <p:spPr>
          <a:xfrm>
            <a:off x="777240" y="3593592"/>
            <a:ext cx="3657600" cy="274320"/>
          </a:xfrm>
          <a:prstGeom prst="rect">
            <a:avLst/>
          </a:prstGeom>
          <a:noFill/>
          <a:ln/>
        </p:spPr>
        <p:txBody>
          <a:bodyPr wrap="square" lIns="0" tIns="0" rIns="0" bIns="0" rtlCol="0" anchor="ctr"/>
          <a:lstStyle/>
          <a:p>
            <a:pPr indent="0" marL="0">
              <a:buNone/>
            </a:pPr>
            <a:r>
              <a:rPr lang="en-US" sz="1000" dirty="0">
                <a:solidFill>
                  <a:srgbClr val="CBD5E1"/>
                </a:solidFill>
              </a:rPr>
              <a:t>Cloudflare R2</a:t>
            </a:r>
            <a:endParaRPr lang="en-US" sz="1000" dirty="0"/>
          </a:p>
        </p:txBody>
      </p:sp>
      <p:sp>
        <p:nvSpPr>
          <p:cNvPr id="35" name="Shape 33"/>
          <p:cNvSpPr/>
          <p:nvPr/>
        </p:nvSpPr>
        <p:spPr>
          <a:xfrm>
            <a:off x="594360" y="3941064"/>
            <a:ext cx="109728" cy="109728"/>
          </a:xfrm>
          <a:prstGeom prst="ellipse">
            <a:avLst/>
          </a:prstGeom>
          <a:solidFill>
            <a:srgbClr val="F59E0B"/>
          </a:solidFill>
          <a:ln w="12700">
            <a:solidFill>
              <a:srgbClr val="F59E0B"/>
            </a:solidFill>
            <a:prstDash val="solid"/>
          </a:ln>
        </p:spPr>
      </p:sp>
      <p:sp>
        <p:nvSpPr>
          <p:cNvPr id="36" name="Text 34"/>
          <p:cNvSpPr/>
          <p:nvPr/>
        </p:nvSpPr>
        <p:spPr>
          <a:xfrm>
            <a:off x="777240" y="3877056"/>
            <a:ext cx="3657600" cy="274320"/>
          </a:xfrm>
          <a:prstGeom prst="rect">
            <a:avLst/>
          </a:prstGeom>
          <a:noFill/>
          <a:ln/>
        </p:spPr>
        <p:txBody>
          <a:bodyPr wrap="square" lIns="0" tIns="0" rIns="0" bIns="0" rtlCol="0" anchor="ctr"/>
          <a:lstStyle/>
          <a:p>
            <a:pPr indent="0" marL="0">
              <a:buNone/>
            </a:pPr>
            <a:r>
              <a:rPr lang="en-US" sz="1000" dirty="0">
                <a:solidFill>
                  <a:srgbClr val="CBD5E1"/>
                </a:solidFill>
              </a:rPr>
              <a:t>Vercel Edge</a:t>
            </a:r>
            <a:endParaRPr lang="en-US" sz="1000" dirty="0"/>
          </a:p>
        </p:txBody>
      </p:sp>
      <p:sp>
        <p:nvSpPr>
          <p:cNvPr id="37" name="Shape 35"/>
          <p:cNvSpPr/>
          <p:nvPr/>
        </p:nvSpPr>
        <p:spPr>
          <a:xfrm>
            <a:off x="594360" y="4224528"/>
            <a:ext cx="109728" cy="109728"/>
          </a:xfrm>
          <a:prstGeom prst="ellipse">
            <a:avLst/>
          </a:prstGeom>
          <a:solidFill>
            <a:srgbClr val="F59E0B"/>
          </a:solidFill>
          <a:ln w="12700">
            <a:solidFill>
              <a:srgbClr val="F59E0B"/>
            </a:solidFill>
            <a:prstDash val="solid"/>
          </a:ln>
        </p:spPr>
      </p:sp>
      <p:sp>
        <p:nvSpPr>
          <p:cNvPr id="38" name="Text 36"/>
          <p:cNvSpPr/>
          <p:nvPr/>
        </p:nvSpPr>
        <p:spPr>
          <a:xfrm>
            <a:off x="777240" y="4160520"/>
            <a:ext cx="3657600" cy="274320"/>
          </a:xfrm>
          <a:prstGeom prst="rect">
            <a:avLst/>
          </a:prstGeom>
          <a:noFill/>
          <a:ln/>
        </p:spPr>
        <p:txBody>
          <a:bodyPr wrap="square" lIns="0" tIns="0" rIns="0" bIns="0" rtlCol="0" anchor="ctr"/>
          <a:lstStyle/>
          <a:p>
            <a:pPr indent="0" marL="0">
              <a:buNone/>
            </a:pPr>
            <a:r>
              <a:rPr lang="en-US" sz="1000" dirty="0">
                <a:solidFill>
                  <a:srgbClr val="CBD5E1"/>
                </a:solidFill>
              </a:rPr>
              <a:t>Docker</a:t>
            </a:r>
            <a:endParaRPr lang="en-US" sz="1000" dirty="0"/>
          </a:p>
        </p:txBody>
      </p:sp>
      <p:sp>
        <p:nvSpPr>
          <p:cNvPr id="39" name="Shape 37"/>
          <p:cNvSpPr/>
          <p:nvPr/>
        </p:nvSpPr>
        <p:spPr>
          <a:xfrm>
            <a:off x="594360" y="4507992"/>
            <a:ext cx="109728" cy="109728"/>
          </a:xfrm>
          <a:prstGeom prst="ellipse">
            <a:avLst/>
          </a:prstGeom>
          <a:solidFill>
            <a:srgbClr val="F59E0B"/>
          </a:solidFill>
          <a:ln w="12700">
            <a:solidFill>
              <a:srgbClr val="F59E0B"/>
            </a:solidFill>
            <a:prstDash val="solid"/>
          </a:ln>
        </p:spPr>
      </p:sp>
      <p:sp>
        <p:nvSpPr>
          <p:cNvPr id="40" name="Text 38"/>
          <p:cNvSpPr/>
          <p:nvPr/>
        </p:nvSpPr>
        <p:spPr>
          <a:xfrm>
            <a:off x="777240" y="4443984"/>
            <a:ext cx="3657600" cy="274320"/>
          </a:xfrm>
          <a:prstGeom prst="rect">
            <a:avLst/>
          </a:prstGeom>
          <a:noFill/>
          <a:ln/>
        </p:spPr>
        <p:txBody>
          <a:bodyPr wrap="square" lIns="0" tIns="0" rIns="0" bIns="0" rtlCol="0" anchor="ctr"/>
          <a:lstStyle/>
          <a:p>
            <a:pPr indent="0" marL="0">
              <a:buNone/>
            </a:pPr>
            <a:r>
              <a:rPr lang="en-US" sz="1000" dirty="0">
                <a:solidFill>
                  <a:srgbClr val="CBD5E1"/>
                </a:solidFill>
              </a:rPr>
              <a:t>GitHub CI/CD</a:t>
            </a:r>
            <a:endParaRPr lang="en-US" sz="1000" dirty="0"/>
          </a:p>
        </p:txBody>
      </p:sp>
      <p:sp>
        <p:nvSpPr>
          <p:cNvPr id="41" name="Shape 39"/>
          <p:cNvSpPr/>
          <p:nvPr/>
        </p:nvSpPr>
        <p:spPr>
          <a:xfrm>
            <a:off x="594360" y="4791456"/>
            <a:ext cx="109728" cy="109728"/>
          </a:xfrm>
          <a:prstGeom prst="ellipse">
            <a:avLst/>
          </a:prstGeom>
          <a:solidFill>
            <a:srgbClr val="F59E0B"/>
          </a:solidFill>
          <a:ln w="12700">
            <a:solidFill>
              <a:srgbClr val="F59E0B"/>
            </a:solidFill>
            <a:prstDash val="solid"/>
          </a:ln>
        </p:spPr>
      </p:sp>
      <p:sp>
        <p:nvSpPr>
          <p:cNvPr id="42" name="Text 40"/>
          <p:cNvSpPr/>
          <p:nvPr/>
        </p:nvSpPr>
        <p:spPr>
          <a:xfrm>
            <a:off x="777240" y="4727448"/>
            <a:ext cx="3657600" cy="274320"/>
          </a:xfrm>
          <a:prstGeom prst="rect">
            <a:avLst/>
          </a:prstGeom>
          <a:noFill/>
          <a:ln/>
        </p:spPr>
        <p:txBody>
          <a:bodyPr wrap="square" lIns="0" tIns="0" rIns="0" bIns="0" rtlCol="0" anchor="ctr"/>
          <a:lstStyle/>
          <a:p>
            <a:pPr indent="0" marL="0">
              <a:buNone/>
            </a:pPr>
            <a:r>
              <a:rPr lang="en-US" sz="1000" dirty="0">
                <a:solidFill>
                  <a:srgbClr val="CBD5E1"/>
                </a:solidFill>
              </a:rPr>
              <a:t>Signed URL Auth</a:t>
            </a:r>
            <a:endParaRPr lang="en-US" sz="1000" dirty="0"/>
          </a:p>
        </p:txBody>
      </p:sp>
      <p:sp>
        <p:nvSpPr>
          <p:cNvPr id="43" name="Shape 41"/>
          <p:cNvSpPr/>
          <p:nvPr/>
        </p:nvSpPr>
        <p:spPr>
          <a:xfrm>
            <a:off x="4800600" y="3154680"/>
            <a:ext cx="4114800" cy="192024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44" name="Shape 42"/>
          <p:cNvSpPr/>
          <p:nvPr/>
        </p:nvSpPr>
        <p:spPr>
          <a:xfrm>
            <a:off x="4800600" y="3154680"/>
            <a:ext cx="4114800" cy="347472"/>
          </a:xfrm>
          <a:prstGeom prst="rect">
            <a:avLst/>
          </a:prstGeom>
          <a:solidFill>
            <a:srgbClr val="10B981">
              <a:alpha val="85000"/>
            </a:srgbClr>
          </a:solidFill>
          <a:ln w="12700">
            <a:solidFill>
              <a:srgbClr val="10B981"/>
            </a:solidFill>
            <a:prstDash val="solid"/>
          </a:ln>
        </p:spPr>
      </p:sp>
      <p:sp>
        <p:nvSpPr>
          <p:cNvPr id="45" name="Text 43"/>
          <p:cNvSpPr/>
          <p:nvPr/>
        </p:nvSpPr>
        <p:spPr>
          <a:xfrm>
            <a:off x="4937760" y="3154680"/>
            <a:ext cx="3840480" cy="347472"/>
          </a:xfrm>
          <a:prstGeom prst="rect">
            <a:avLst/>
          </a:prstGeom>
          <a:noFill/>
          <a:ln/>
        </p:spPr>
        <p:txBody>
          <a:bodyPr wrap="square" lIns="0" tIns="0" rIns="0" bIns="0" rtlCol="0" anchor="ctr"/>
          <a:lstStyle/>
          <a:p>
            <a:pPr indent="0" marL="0">
              <a:buNone/>
            </a:pPr>
            <a:r>
              <a:rPr lang="en-US" sz="1200" b="1" dirty="0">
                <a:solidFill>
                  <a:srgbClr val="FFFFFF"/>
                </a:solidFill>
              </a:rPr>
              <a:t>AI Systems</a:t>
            </a:r>
            <a:endParaRPr lang="en-US" sz="1200" dirty="0"/>
          </a:p>
        </p:txBody>
      </p:sp>
      <p:sp>
        <p:nvSpPr>
          <p:cNvPr id="46" name="Shape 44"/>
          <p:cNvSpPr/>
          <p:nvPr/>
        </p:nvSpPr>
        <p:spPr>
          <a:xfrm>
            <a:off x="4937760" y="3657600"/>
            <a:ext cx="109728" cy="109728"/>
          </a:xfrm>
          <a:prstGeom prst="ellipse">
            <a:avLst/>
          </a:prstGeom>
          <a:solidFill>
            <a:srgbClr val="10B981"/>
          </a:solidFill>
          <a:ln w="12700">
            <a:solidFill>
              <a:srgbClr val="10B981"/>
            </a:solidFill>
            <a:prstDash val="solid"/>
          </a:ln>
        </p:spPr>
      </p:sp>
      <p:sp>
        <p:nvSpPr>
          <p:cNvPr id="47" name="Text 45"/>
          <p:cNvSpPr/>
          <p:nvPr/>
        </p:nvSpPr>
        <p:spPr>
          <a:xfrm>
            <a:off x="5120640" y="3593592"/>
            <a:ext cx="3657600" cy="274320"/>
          </a:xfrm>
          <a:prstGeom prst="rect">
            <a:avLst/>
          </a:prstGeom>
          <a:noFill/>
          <a:ln/>
        </p:spPr>
        <p:txBody>
          <a:bodyPr wrap="square" lIns="0" tIns="0" rIns="0" bIns="0" rtlCol="0" anchor="ctr"/>
          <a:lstStyle/>
          <a:p>
            <a:pPr indent="0" marL="0">
              <a:buNone/>
            </a:pPr>
            <a:r>
              <a:rPr lang="en-US" sz="1000" dirty="0">
                <a:solidFill>
                  <a:srgbClr val="CBD5E1"/>
                </a:solidFill>
              </a:rPr>
              <a:t>Retrieval Pipeline</a:t>
            </a:r>
            <a:endParaRPr lang="en-US" sz="1000" dirty="0"/>
          </a:p>
        </p:txBody>
      </p:sp>
      <p:sp>
        <p:nvSpPr>
          <p:cNvPr id="48" name="Shape 46"/>
          <p:cNvSpPr/>
          <p:nvPr/>
        </p:nvSpPr>
        <p:spPr>
          <a:xfrm>
            <a:off x="4937760" y="3941064"/>
            <a:ext cx="109728" cy="109728"/>
          </a:xfrm>
          <a:prstGeom prst="ellipse">
            <a:avLst/>
          </a:prstGeom>
          <a:solidFill>
            <a:srgbClr val="10B981"/>
          </a:solidFill>
          <a:ln w="12700">
            <a:solidFill>
              <a:srgbClr val="10B981"/>
            </a:solidFill>
            <a:prstDash val="solid"/>
          </a:ln>
        </p:spPr>
      </p:sp>
      <p:sp>
        <p:nvSpPr>
          <p:cNvPr id="49" name="Text 47"/>
          <p:cNvSpPr/>
          <p:nvPr/>
        </p:nvSpPr>
        <p:spPr>
          <a:xfrm>
            <a:off x="5120640" y="3877056"/>
            <a:ext cx="3657600" cy="274320"/>
          </a:xfrm>
          <a:prstGeom prst="rect">
            <a:avLst/>
          </a:prstGeom>
          <a:noFill/>
          <a:ln/>
        </p:spPr>
        <p:txBody>
          <a:bodyPr wrap="square" lIns="0" tIns="0" rIns="0" bIns="0" rtlCol="0" anchor="ctr"/>
          <a:lstStyle/>
          <a:p>
            <a:pPr indent="0" marL="0">
              <a:buNone/>
            </a:pPr>
            <a:r>
              <a:rPr lang="en-US" sz="1000" dirty="0">
                <a:solidFill>
                  <a:srgbClr val="CBD5E1"/>
                </a:solidFill>
              </a:rPr>
              <a:t>Composite Scoring</a:t>
            </a:r>
            <a:endParaRPr lang="en-US" sz="1000" dirty="0"/>
          </a:p>
        </p:txBody>
      </p:sp>
      <p:sp>
        <p:nvSpPr>
          <p:cNvPr id="50" name="Shape 48"/>
          <p:cNvSpPr/>
          <p:nvPr/>
        </p:nvSpPr>
        <p:spPr>
          <a:xfrm>
            <a:off x="4937760" y="4224528"/>
            <a:ext cx="109728" cy="109728"/>
          </a:xfrm>
          <a:prstGeom prst="ellipse">
            <a:avLst/>
          </a:prstGeom>
          <a:solidFill>
            <a:srgbClr val="10B981"/>
          </a:solidFill>
          <a:ln w="12700">
            <a:solidFill>
              <a:srgbClr val="10B981"/>
            </a:solidFill>
            <a:prstDash val="solid"/>
          </a:ln>
        </p:spPr>
      </p:sp>
      <p:sp>
        <p:nvSpPr>
          <p:cNvPr id="51" name="Text 49"/>
          <p:cNvSpPr/>
          <p:nvPr/>
        </p:nvSpPr>
        <p:spPr>
          <a:xfrm>
            <a:off x="5120640" y="4160520"/>
            <a:ext cx="3657600" cy="274320"/>
          </a:xfrm>
          <a:prstGeom prst="rect">
            <a:avLst/>
          </a:prstGeom>
          <a:noFill/>
          <a:ln/>
        </p:spPr>
        <p:txBody>
          <a:bodyPr wrap="square" lIns="0" tIns="0" rIns="0" bIns="0" rtlCol="0" anchor="ctr"/>
          <a:lstStyle/>
          <a:p>
            <a:pPr indent="0" marL="0">
              <a:buNone/>
            </a:pPr>
            <a:r>
              <a:rPr lang="en-US" sz="1000" dirty="0">
                <a:solidFill>
                  <a:srgbClr val="CBD5E1"/>
                </a:solidFill>
              </a:rPr>
              <a:t>RAG Knowledge Base</a:t>
            </a:r>
            <a:endParaRPr lang="en-US" sz="1000" dirty="0"/>
          </a:p>
        </p:txBody>
      </p:sp>
      <p:sp>
        <p:nvSpPr>
          <p:cNvPr id="52" name="Shape 50"/>
          <p:cNvSpPr/>
          <p:nvPr/>
        </p:nvSpPr>
        <p:spPr>
          <a:xfrm>
            <a:off x="4937760" y="4507992"/>
            <a:ext cx="109728" cy="109728"/>
          </a:xfrm>
          <a:prstGeom prst="ellipse">
            <a:avLst/>
          </a:prstGeom>
          <a:solidFill>
            <a:srgbClr val="10B981"/>
          </a:solidFill>
          <a:ln w="12700">
            <a:solidFill>
              <a:srgbClr val="10B981"/>
            </a:solidFill>
            <a:prstDash val="solid"/>
          </a:ln>
        </p:spPr>
      </p:sp>
      <p:sp>
        <p:nvSpPr>
          <p:cNvPr id="53" name="Text 51"/>
          <p:cNvSpPr/>
          <p:nvPr/>
        </p:nvSpPr>
        <p:spPr>
          <a:xfrm>
            <a:off x="5120640" y="4443984"/>
            <a:ext cx="3657600" cy="274320"/>
          </a:xfrm>
          <a:prstGeom prst="rect">
            <a:avLst/>
          </a:prstGeom>
          <a:noFill/>
          <a:ln/>
        </p:spPr>
        <p:txBody>
          <a:bodyPr wrap="square" lIns="0" tIns="0" rIns="0" bIns="0" rtlCol="0" anchor="ctr"/>
          <a:lstStyle/>
          <a:p>
            <a:pPr indent="0" marL="0">
              <a:buNone/>
            </a:pPr>
            <a:r>
              <a:rPr lang="en-US" sz="1000" dirty="0">
                <a:solidFill>
                  <a:srgbClr val="CBD5E1"/>
                </a:solidFill>
              </a:rPr>
              <a:t>Confidence Scoring</a:t>
            </a:r>
            <a:endParaRPr lang="en-US" sz="1000" dirty="0"/>
          </a:p>
        </p:txBody>
      </p:sp>
      <p:sp>
        <p:nvSpPr>
          <p:cNvPr id="54" name="Shape 52"/>
          <p:cNvSpPr/>
          <p:nvPr/>
        </p:nvSpPr>
        <p:spPr>
          <a:xfrm>
            <a:off x="4937760" y="4791456"/>
            <a:ext cx="109728" cy="109728"/>
          </a:xfrm>
          <a:prstGeom prst="ellipse">
            <a:avLst/>
          </a:prstGeom>
          <a:solidFill>
            <a:srgbClr val="10B981"/>
          </a:solidFill>
          <a:ln w="12700">
            <a:solidFill>
              <a:srgbClr val="10B981"/>
            </a:solidFill>
            <a:prstDash val="solid"/>
          </a:ln>
        </p:spPr>
      </p:sp>
      <p:sp>
        <p:nvSpPr>
          <p:cNvPr id="55" name="Text 53"/>
          <p:cNvSpPr/>
          <p:nvPr/>
        </p:nvSpPr>
        <p:spPr>
          <a:xfrm>
            <a:off x="5120640" y="4727448"/>
            <a:ext cx="3657600" cy="274320"/>
          </a:xfrm>
          <a:prstGeom prst="rect">
            <a:avLst/>
          </a:prstGeom>
          <a:noFill/>
          <a:ln/>
        </p:spPr>
        <p:txBody>
          <a:bodyPr wrap="square" lIns="0" tIns="0" rIns="0" bIns="0" rtlCol="0" anchor="ctr"/>
          <a:lstStyle/>
          <a:p>
            <a:pPr indent="0" marL="0">
              <a:buNone/>
            </a:pPr>
            <a:r>
              <a:rPr lang="en-US" sz="1000" dirty="0">
                <a:solidFill>
                  <a:srgbClr val="CBD5E1"/>
                </a:solidFill>
              </a:rPr>
              <a:t>Explainability Engine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12</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AI-Assisted Engineering — The Real Story</a:t>
            </a:r>
            <a:endParaRPr lang="en-US" sz="3000" dirty="0"/>
          </a:p>
        </p:txBody>
      </p:sp>
      <p:sp>
        <p:nvSpPr>
          <p:cNvPr id="4" name="Shape 2"/>
          <p:cNvSpPr/>
          <p:nvPr/>
        </p:nvSpPr>
        <p:spPr>
          <a:xfrm>
            <a:off x="457200" y="960120"/>
            <a:ext cx="3931920" cy="384048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5" name="Shape 3"/>
          <p:cNvSpPr/>
          <p:nvPr/>
        </p:nvSpPr>
        <p:spPr>
          <a:xfrm>
            <a:off x="457200" y="960120"/>
            <a:ext cx="3931920" cy="347472"/>
          </a:xfrm>
          <a:prstGeom prst="rect">
            <a:avLst/>
          </a:prstGeom>
          <a:solidFill>
            <a:srgbClr val="10B981">
              <a:alpha val="80000"/>
            </a:srgbClr>
          </a:solidFill>
          <a:ln w="12700">
            <a:solidFill>
              <a:srgbClr val="10B981"/>
            </a:solidFill>
            <a:prstDash val="solid"/>
          </a:ln>
        </p:spPr>
      </p:sp>
      <p:sp>
        <p:nvSpPr>
          <p:cNvPr id="6" name="Text 4"/>
          <p:cNvSpPr/>
          <p:nvPr/>
        </p:nvSpPr>
        <p:spPr>
          <a:xfrm>
            <a:off x="594360" y="960120"/>
            <a:ext cx="3657600" cy="347472"/>
          </a:xfrm>
          <a:prstGeom prst="rect">
            <a:avLst/>
          </a:prstGeom>
          <a:noFill/>
          <a:ln/>
        </p:spPr>
        <p:txBody>
          <a:bodyPr wrap="square" lIns="0" tIns="0" rIns="0" bIns="0" rtlCol="0" anchor="ctr"/>
          <a:lstStyle/>
          <a:p>
            <a:pPr indent="0" marL="0">
              <a:buNone/>
            </a:pPr>
            <a:r>
              <a:rPr lang="en-US" sz="1300" b="1" dirty="0">
                <a:solidFill>
                  <a:srgbClr val="FFFFFF"/>
                </a:solidFill>
              </a:rPr>
              <a:t>What AI Did</a:t>
            </a:r>
            <a:endParaRPr lang="en-US" sz="1300" dirty="0"/>
          </a:p>
        </p:txBody>
      </p:sp>
      <p:sp>
        <p:nvSpPr>
          <p:cNvPr id="7" name="Shape 5"/>
          <p:cNvSpPr/>
          <p:nvPr/>
        </p:nvSpPr>
        <p:spPr>
          <a:xfrm>
            <a:off x="594360" y="1463040"/>
            <a:ext cx="109728" cy="109728"/>
          </a:xfrm>
          <a:prstGeom prst="ellipse">
            <a:avLst/>
          </a:prstGeom>
          <a:solidFill>
            <a:srgbClr val="10B981"/>
          </a:solidFill>
          <a:ln w="12700">
            <a:solidFill>
              <a:srgbClr val="10B981"/>
            </a:solidFill>
            <a:prstDash val="solid"/>
          </a:ln>
        </p:spPr>
      </p:sp>
      <p:sp>
        <p:nvSpPr>
          <p:cNvPr id="8" name="Text 6"/>
          <p:cNvSpPr/>
          <p:nvPr/>
        </p:nvSpPr>
        <p:spPr>
          <a:xfrm>
            <a:off x="777240" y="1399032"/>
            <a:ext cx="3474720" cy="365760"/>
          </a:xfrm>
          <a:prstGeom prst="rect">
            <a:avLst/>
          </a:prstGeom>
          <a:noFill/>
          <a:ln/>
        </p:spPr>
        <p:txBody>
          <a:bodyPr wrap="square" lIns="0" tIns="0" rIns="0" bIns="0" rtlCol="0" anchor="ctr"/>
          <a:lstStyle/>
          <a:p>
            <a:pPr indent="0" marL="0">
              <a:buNone/>
            </a:pPr>
            <a:r>
              <a:rPr lang="en-US" sz="1000" dirty="0">
                <a:solidFill>
                  <a:srgbClr val="CBD5E1"/>
                </a:solidFill>
              </a:rPr>
              <a:t>Scaffolded boilerplate components</a:t>
            </a:r>
            <a:endParaRPr lang="en-US" sz="1000" dirty="0"/>
          </a:p>
        </p:txBody>
      </p:sp>
      <p:sp>
        <p:nvSpPr>
          <p:cNvPr id="9" name="Shape 7"/>
          <p:cNvSpPr/>
          <p:nvPr/>
        </p:nvSpPr>
        <p:spPr>
          <a:xfrm>
            <a:off x="594360" y="1874520"/>
            <a:ext cx="109728" cy="109728"/>
          </a:xfrm>
          <a:prstGeom prst="ellipse">
            <a:avLst/>
          </a:prstGeom>
          <a:solidFill>
            <a:srgbClr val="10B981"/>
          </a:solidFill>
          <a:ln w="12700">
            <a:solidFill>
              <a:srgbClr val="10B981"/>
            </a:solidFill>
            <a:prstDash val="solid"/>
          </a:ln>
        </p:spPr>
      </p:sp>
      <p:sp>
        <p:nvSpPr>
          <p:cNvPr id="10" name="Text 8"/>
          <p:cNvSpPr/>
          <p:nvPr/>
        </p:nvSpPr>
        <p:spPr>
          <a:xfrm>
            <a:off x="777240" y="1810512"/>
            <a:ext cx="3474720" cy="365760"/>
          </a:xfrm>
          <a:prstGeom prst="rect">
            <a:avLst/>
          </a:prstGeom>
          <a:noFill/>
          <a:ln/>
        </p:spPr>
        <p:txBody>
          <a:bodyPr wrap="square" lIns="0" tIns="0" rIns="0" bIns="0" rtlCol="0" anchor="ctr"/>
          <a:lstStyle/>
          <a:p>
            <a:pPr indent="0" marL="0">
              <a:buNone/>
            </a:pPr>
            <a:r>
              <a:rPr lang="en-US" sz="1000" dirty="0">
                <a:solidFill>
                  <a:srgbClr val="CBD5E1"/>
                </a:solidFill>
              </a:rPr>
              <a:t>Generated first-pass implementations</a:t>
            </a:r>
            <a:endParaRPr lang="en-US" sz="1000" dirty="0"/>
          </a:p>
        </p:txBody>
      </p:sp>
      <p:sp>
        <p:nvSpPr>
          <p:cNvPr id="11" name="Shape 9"/>
          <p:cNvSpPr/>
          <p:nvPr/>
        </p:nvSpPr>
        <p:spPr>
          <a:xfrm>
            <a:off x="594360" y="2286000"/>
            <a:ext cx="109728" cy="109728"/>
          </a:xfrm>
          <a:prstGeom prst="ellipse">
            <a:avLst/>
          </a:prstGeom>
          <a:solidFill>
            <a:srgbClr val="10B981"/>
          </a:solidFill>
          <a:ln w="12700">
            <a:solidFill>
              <a:srgbClr val="10B981"/>
            </a:solidFill>
            <a:prstDash val="solid"/>
          </a:ln>
        </p:spPr>
      </p:sp>
      <p:sp>
        <p:nvSpPr>
          <p:cNvPr id="12" name="Text 10"/>
          <p:cNvSpPr/>
          <p:nvPr/>
        </p:nvSpPr>
        <p:spPr>
          <a:xfrm>
            <a:off x="777240" y="2221992"/>
            <a:ext cx="3474720" cy="365760"/>
          </a:xfrm>
          <a:prstGeom prst="rect">
            <a:avLst/>
          </a:prstGeom>
          <a:noFill/>
          <a:ln/>
        </p:spPr>
        <p:txBody>
          <a:bodyPr wrap="square" lIns="0" tIns="0" rIns="0" bIns="0" rtlCol="0" anchor="ctr"/>
          <a:lstStyle/>
          <a:p>
            <a:pPr indent="0" marL="0">
              <a:buNone/>
            </a:pPr>
            <a:r>
              <a:rPr lang="en-US" sz="1000" dirty="0">
                <a:solidFill>
                  <a:srgbClr val="CBD5E1"/>
                </a:solidFill>
              </a:rPr>
              <a:t>Suggested React patterns</a:t>
            </a:r>
            <a:endParaRPr lang="en-US" sz="1000" dirty="0"/>
          </a:p>
        </p:txBody>
      </p:sp>
      <p:sp>
        <p:nvSpPr>
          <p:cNvPr id="13" name="Shape 11"/>
          <p:cNvSpPr/>
          <p:nvPr/>
        </p:nvSpPr>
        <p:spPr>
          <a:xfrm>
            <a:off x="594360" y="2697480"/>
            <a:ext cx="109728" cy="109728"/>
          </a:xfrm>
          <a:prstGeom prst="ellipse">
            <a:avLst/>
          </a:prstGeom>
          <a:solidFill>
            <a:srgbClr val="10B981"/>
          </a:solidFill>
          <a:ln w="12700">
            <a:solidFill>
              <a:srgbClr val="10B981"/>
            </a:solidFill>
            <a:prstDash val="solid"/>
          </a:ln>
        </p:spPr>
      </p:sp>
      <p:sp>
        <p:nvSpPr>
          <p:cNvPr id="14" name="Text 12"/>
          <p:cNvSpPr/>
          <p:nvPr/>
        </p:nvSpPr>
        <p:spPr>
          <a:xfrm>
            <a:off x="777240" y="2633472"/>
            <a:ext cx="3474720" cy="365760"/>
          </a:xfrm>
          <a:prstGeom prst="rect">
            <a:avLst/>
          </a:prstGeom>
          <a:noFill/>
          <a:ln/>
        </p:spPr>
        <p:txBody>
          <a:bodyPr wrap="square" lIns="0" tIns="0" rIns="0" bIns="0" rtlCol="0" anchor="ctr"/>
          <a:lstStyle/>
          <a:p>
            <a:pPr indent="0" marL="0">
              <a:buNone/>
            </a:pPr>
            <a:r>
              <a:rPr lang="en-US" sz="1000" dirty="0">
                <a:solidFill>
                  <a:srgbClr val="CBD5E1"/>
                </a:solidFill>
              </a:rPr>
              <a:t>100+ autonomous tool operations</a:t>
            </a:r>
            <a:endParaRPr lang="en-US" sz="1000" dirty="0"/>
          </a:p>
        </p:txBody>
      </p:sp>
      <p:sp>
        <p:nvSpPr>
          <p:cNvPr id="15" name="Shape 13"/>
          <p:cNvSpPr/>
          <p:nvPr/>
        </p:nvSpPr>
        <p:spPr>
          <a:xfrm>
            <a:off x="594360" y="3108960"/>
            <a:ext cx="109728" cy="109728"/>
          </a:xfrm>
          <a:prstGeom prst="ellipse">
            <a:avLst/>
          </a:prstGeom>
          <a:solidFill>
            <a:srgbClr val="10B981"/>
          </a:solidFill>
          <a:ln w="12700">
            <a:solidFill>
              <a:srgbClr val="10B981"/>
            </a:solidFill>
            <a:prstDash val="solid"/>
          </a:ln>
        </p:spPr>
      </p:sp>
      <p:sp>
        <p:nvSpPr>
          <p:cNvPr id="16" name="Text 14"/>
          <p:cNvSpPr/>
          <p:nvPr/>
        </p:nvSpPr>
        <p:spPr>
          <a:xfrm>
            <a:off x="777240" y="3044952"/>
            <a:ext cx="3474720" cy="365760"/>
          </a:xfrm>
          <a:prstGeom prst="rect">
            <a:avLst/>
          </a:prstGeom>
          <a:noFill/>
          <a:ln/>
        </p:spPr>
        <p:txBody>
          <a:bodyPr wrap="square" lIns="0" tIns="0" rIns="0" bIns="0" rtlCol="0" anchor="ctr"/>
          <a:lstStyle/>
          <a:p>
            <a:pPr indent="0" marL="0">
              <a:buNone/>
            </a:pPr>
            <a:r>
              <a:rPr lang="en-US" sz="1000" dirty="0">
                <a:solidFill>
                  <a:srgbClr val="CBD5E1"/>
                </a:solidFill>
              </a:rPr>
              <a:t>TypeScript · ESLint · Build verification</a:t>
            </a:r>
            <a:endParaRPr lang="en-US" sz="1000" dirty="0"/>
          </a:p>
        </p:txBody>
      </p:sp>
      <p:sp>
        <p:nvSpPr>
          <p:cNvPr id="17" name="Shape 15"/>
          <p:cNvSpPr/>
          <p:nvPr/>
        </p:nvSpPr>
        <p:spPr>
          <a:xfrm>
            <a:off x="594360" y="3520440"/>
            <a:ext cx="109728" cy="109728"/>
          </a:xfrm>
          <a:prstGeom prst="ellipse">
            <a:avLst/>
          </a:prstGeom>
          <a:solidFill>
            <a:srgbClr val="10B981"/>
          </a:solidFill>
          <a:ln w="12700">
            <a:solidFill>
              <a:srgbClr val="10B981"/>
            </a:solidFill>
            <a:prstDash val="solid"/>
          </a:ln>
        </p:spPr>
      </p:sp>
      <p:sp>
        <p:nvSpPr>
          <p:cNvPr id="18" name="Text 16"/>
          <p:cNvSpPr/>
          <p:nvPr/>
        </p:nvSpPr>
        <p:spPr>
          <a:xfrm>
            <a:off x="777240" y="3456432"/>
            <a:ext cx="3474720" cy="365760"/>
          </a:xfrm>
          <a:prstGeom prst="rect">
            <a:avLst/>
          </a:prstGeom>
          <a:noFill/>
          <a:ln/>
        </p:spPr>
        <p:txBody>
          <a:bodyPr wrap="square" lIns="0" tIns="0" rIns="0" bIns="0" rtlCol="0" anchor="ctr"/>
          <a:lstStyle/>
          <a:p>
            <a:pPr indent="0" marL="0">
              <a:buNone/>
            </a:pPr>
            <a:r>
              <a:rPr lang="en-US" sz="1000" dirty="0">
                <a:solidFill>
                  <a:srgbClr val="CBD5E1"/>
                </a:solidFill>
              </a:rPr>
              <a:t>Continuous phase-by-phase execution</a:t>
            </a:r>
            <a:endParaRPr lang="en-US" sz="1000" dirty="0"/>
          </a:p>
        </p:txBody>
      </p:sp>
      <p:sp>
        <p:nvSpPr>
          <p:cNvPr id="19" name="Shape 17"/>
          <p:cNvSpPr/>
          <p:nvPr/>
        </p:nvSpPr>
        <p:spPr>
          <a:xfrm>
            <a:off x="4754880" y="960120"/>
            <a:ext cx="3931920" cy="384048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20" name="Shape 18"/>
          <p:cNvSpPr/>
          <p:nvPr/>
        </p:nvSpPr>
        <p:spPr>
          <a:xfrm>
            <a:off x="4754880" y="960120"/>
            <a:ext cx="3931920" cy="347472"/>
          </a:xfrm>
          <a:prstGeom prst="rect">
            <a:avLst/>
          </a:prstGeom>
          <a:solidFill>
            <a:srgbClr val="7C3AED">
              <a:alpha val="80000"/>
            </a:srgbClr>
          </a:solidFill>
          <a:ln w="12700">
            <a:solidFill>
              <a:srgbClr val="7C3AED"/>
            </a:solidFill>
            <a:prstDash val="solid"/>
          </a:ln>
        </p:spPr>
      </p:sp>
      <p:sp>
        <p:nvSpPr>
          <p:cNvPr id="21" name="Text 19"/>
          <p:cNvSpPr/>
          <p:nvPr/>
        </p:nvSpPr>
        <p:spPr>
          <a:xfrm>
            <a:off x="4892040" y="960120"/>
            <a:ext cx="3657600" cy="347472"/>
          </a:xfrm>
          <a:prstGeom prst="rect">
            <a:avLst/>
          </a:prstGeom>
          <a:noFill/>
          <a:ln/>
        </p:spPr>
        <p:txBody>
          <a:bodyPr wrap="square" lIns="0" tIns="0" rIns="0" bIns="0" rtlCol="0" anchor="ctr"/>
          <a:lstStyle/>
          <a:p>
            <a:pPr indent="0" marL="0">
              <a:buNone/>
            </a:pPr>
            <a:r>
              <a:rPr lang="en-US" sz="1300" b="1" dirty="0">
                <a:solidFill>
                  <a:srgbClr val="FFFFFF"/>
                </a:solidFill>
              </a:rPr>
              <a:t>What Stayed Human</a:t>
            </a:r>
            <a:endParaRPr lang="en-US" sz="1300" dirty="0"/>
          </a:p>
        </p:txBody>
      </p:sp>
      <p:sp>
        <p:nvSpPr>
          <p:cNvPr id="22" name="Shape 20"/>
          <p:cNvSpPr/>
          <p:nvPr/>
        </p:nvSpPr>
        <p:spPr>
          <a:xfrm>
            <a:off x="4892040" y="1463040"/>
            <a:ext cx="109728" cy="109728"/>
          </a:xfrm>
          <a:prstGeom prst="ellipse">
            <a:avLst/>
          </a:prstGeom>
          <a:solidFill>
            <a:srgbClr val="7C3AED"/>
          </a:solidFill>
          <a:ln w="12700">
            <a:solidFill>
              <a:srgbClr val="7C3AED"/>
            </a:solidFill>
            <a:prstDash val="solid"/>
          </a:ln>
        </p:spPr>
      </p:sp>
      <p:sp>
        <p:nvSpPr>
          <p:cNvPr id="23" name="Text 21"/>
          <p:cNvSpPr/>
          <p:nvPr/>
        </p:nvSpPr>
        <p:spPr>
          <a:xfrm>
            <a:off x="5074920" y="1399032"/>
            <a:ext cx="3474720" cy="365760"/>
          </a:xfrm>
          <a:prstGeom prst="rect">
            <a:avLst/>
          </a:prstGeom>
          <a:noFill/>
          <a:ln/>
        </p:spPr>
        <p:txBody>
          <a:bodyPr wrap="square" lIns="0" tIns="0" rIns="0" bIns="0" rtlCol="0" anchor="ctr"/>
          <a:lstStyle/>
          <a:p>
            <a:pPr indent="0" marL="0">
              <a:buNone/>
            </a:pPr>
            <a:r>
              <a:rPr lang="en-US" sz="1000" dirty="0">
                <a:solidFill>
                  <a:srgbClr val="CBD5E1"/>
                </a:solidFill>
              </a:rPr>
              <a:t>System architecture — every layer</a:t>
            </a:r>
            <a:endParaRPr lang="en-US" sz="1000" dirty="0"/>
          </a:p>
        </p:txBody>
      </p:sp>
      <p:sp>
        <p:nvSpPr>
          <p:cNvPr id="24" name="Shape 22"/>
          <p:cNvSpPr/>
          <p:nvPr/>
        </p:nvSpPr>
        <p:spPr>
          <a:xfrm>
            <a:off x="4892040" y="1874520"/>
            <a:ext cx="109728" cy="109728"/>
          </a:xfrm>
          <a:prstGeom prst="ellipse">
            <a:avLst/>
          </a:prstGeom>
          <a:solidFill>
            <a:srgbClr val="7C3AED"/>
          </a:solidFill>
          <a:ln w="12700">
            <a:solidFill>
              <a:srgbClr val="7C3AED"/>
            </a:solidFill>
            <a:prstDash val="solid"/>
          </a:ln>
        </p:spPr>
      </p:sp>
      <p:sp>
        <p:nvSpPr>
          <p:cNvPr id="25" name="Text 23"/>
          <p:cNvSpPr/>
          <p:nvPr/>
        </p:nvSpPr>
        <p:spPr>
          <a:xfrm>
            <a:off x="5074920" y="1810512"/>
            <a:ext cx="3474720" cy="365760"/>
          </a:xfrm>
          <a:prstGeom prst="rect">
            <a:avLst/>
          </a:prstGeom>
          <a:noFill/>
          <a:ln/>
        </p:spPr>
        <p:txBody>
          <a:bodyPr wrap="square" lIns="0" tIns="0" rIns="0" bIns="0" rtlCol="0" anchor="ctr"/>
          <a:lstStyle/>
          <a:p>
            <a:pPr indent="0" marL="0">
              <a:buNone/>
            </a:pPr>
            <a:r>
              <a:rPr lang="en-US" sz="1000" dirty="0">
                <a:solidFill>
                  <a:srgbClr val="CBD5E1"/>
                </a:solidFill>
              </a:rPr>
              <a:t>Scoring weight calibration</a:t>
            </a:r>
            <a:endParaRPr lang="en-US" sz="1000" dirty="0"/>
          </a:p>
        </p:txBody>
      </p:sp>
      <p:sp>
        <p:nvSpPr>
          <p:cNvPr id="26" name="Shape 24"/>
          <p:cNvSpPr/>
          <p:nvPr/>
        </p:nvSpPr>
        <p:spPr>
          <a:xfrm>
            <a:off x="4892040" y="2286000"/>
            <a:ext cx="109728" cy="109728"/>
          </a:xfrm>
          <a:prstGeom prst="ellipse">
            <a:avLst/>
          </a:prstGeom>
          <a:solidFill>
            <a:srgbClr val="7C3AED"/>
          </a:solidFill>
          <a:ln w="12700">
            <a:solidFill>
              <a:srgbClr val="7C3AED"/>
            </a:solidFill>
            <a:prstDash val="solid"/>
          </a:ln>
        </p:spPr>
      </p:sp>
      <p:sp>
        <p:nvSpPr>
          <p:cNvPr id="27" name="Text 25"/>
          <p:cNvSpPr/>
          <p:nvPr/>
        </p:nvSpPr>
        <p:spPr>
          <a:xfrm>
            <a:off x="5074920" y="2221992"/>
            <a:ext cx="3474720" cy="365760"/>
          </a:xfrm>
          <a:prstGeom prst="rect">
            <a:avLst/>
          </a:prstGeom>
          <a:noFill/>
          <a:ln/>
        </p:spPr>
        <p:txBody>
          <a:bodyPr wrap="square" lIns="0" tIns="0" rIns="0" bIns="0" rtlCol="0" anchor="ctr"/>
          <a:lstStyle/>
          <a:p>
            <a:pPr indent="0" marL="0">
              <a:buNone/>
            </a:pPr>
            <a:r>
              <a:rPr lang="en-US" sz="1000" dirty="0">
                <a:solidFill>
                  <a:srgbClr val="CBD5E1"/>
                </a:solidFill>
              </a:rPr>
              <a:t>Explainability design philosophy</a:t>
            </a:r>
            <a:endParaRPr lang="en-US" sz="1000" dirty="0"/>
          </a:p>
        </p:txBody>
      </p:sp>
      <p:sp>
        <p:nvSpPr>
          <p:cNvPr id="28" name="Shape 26"/>
          <p:cNvSpPr/>
          <p:nvPr/>
        </p:nvSpPr>
        <p:spPr>
          <a:xfrm>
            <a:off x="4892040" y="2697480"/>
            <a:ext cx="109728" cy="109728"/>
          </a:xfrm>
          <a:prstGeom prst="ellipse">
            <a:avLst/>
          </a:prstGeom>
          <a:solidFill>
            <a:srgbClr val="7C3AED"/>
          </a:solidFill>
          <a:ln w="12700">
            <a:solidFill>
              <a:srgbClr val="7C3AED"/>
            </a:solidFill>
            <a:prstDash val="solid"/>
          </a:ln>
        </p:spPr>
      </p:sp>
      <p:sp>
        <p:nvSpPr>
          <p:cNvPr id="29" name="Text 27"/>
          <p:cNvSpPr/>
          <p:nvPr/>
        </p:nvSpPr>
        <p:spPr>
          <a:xfrm>
            <a:off x="5074920" y="2633472"/>
            <a:ext cx="3474720" cy="365760"/>
          </a:xfrm>
          <a:prstGeom prst="rect">
            <a:avLst/>
          </a:prstGeom>
          <a:noFill/>
          <a:ln/>
        </p:spPr>
        <p:txBody>
          <a:bodyPr wrap="square" lIns="0" tIns="0" rIns="0" bIns="0" rtlCol="0" anchor="ctr"/>
          <a:lstStyle/>
          <a:p>
            <a:pPr indent="0" marL="0">
              <a:buNone/>
            </a:pPr>
            <a:r>
              <a:rPr lang="en-US" sz="1000" dirty="0">
                <a:solidFill>
                  <a:srgbClr val="CBD5E1"/>
                </a:solidFill>
              </a:rPr>
              <a:t>Product direction and UX decisions</a:t>
            </a:r>
            <a:endParaRPr lang="en-US" sz="1000" dirty="0"/>
          </a:p>
        </p:txBody>
      </p:sp>
      <p:sp>
        <p:nvSpPr>
          <p:cNvPr id="30" name="Shape 28"/>
          <p:cNvSpPr/>
          <p:nvPr/>
        </p:nvSpPr>
        <p:spPr>
          <a:xfrm>
            <a:off x="4892040" y="3108960"/>
            <a:ext cx="109728" cy="109728"/>
          </a:xfrm>
          <a:prstGeom prst="ellipse">
            <a:avLst/>
          </a:prstGeom>
          <a:solidFill>
            <a:srgbClr val="7C3AED"/>
          </a:solidFill>
          <a:ln w="12700">
            <a:solidFill>
              <a:srgbClr val="7C3AED"/>
            </a:solidFill>
            <a:prstDash val="solid"/>
          </a:ln>
        </p:spPr>
      </p:sp>
      <p:sp>
        <p:nvSpPr>
          <p:cNvPr id="31" name="Text 29"/>
          <p:cNvSpPr/>
          <p:nvPr/>
        </p:nvSpPr>
        <p:spPr>
          <a:xfrm>
            <a:off x="5074920" y="3044952"/>
            <a:ext cx="3474720" cy="365760"/>
          </a:xfrm>
          <a:prstGeom prst="rect">
            <a:avLst/>
          </a:prstGeom>
          <a:noFill/>
          <a:ln/>
        </p:spPr>
        <p:txBody>
          <a:bodyPr wrap="square" lIns="0" tIns="0" rIns="0" bIns="0" rtlCol="0" anchor="ctr"/>
          <a:lstStyle/>
          <a:p>
            <a:pPr indent="0" marL="0">
              <a:buNone/>
            </a:pPr>
            <a:r>
              <a:rPr lang="en-US" sz="1000" dirty="0">
                <a:solidFill>
                  <a:srgbClr val="CBD5E1"/>
                </a:solidFill>
              </a:rPr>
              <a:t>Quality bar enforcement</a:t>
            </a:r>
            <a:endParaRPr lang="en-US" sz="1000" dirty="0"/>
          </a:p>
        </p:txBody>
      </p:sp>
      <p:sp>
        <p:nvSpPr>
          <p:cNvPr id="32" name="Shape 30"/>
          <p:cNvSpPr/>
          <p:nvPr/>
        </p:nvSpPr>
        <p:spPr>
          <a:xfrm>
            <a:off x="4892040" y="3520440"/>
            <a:ext cx="109728" cy="109728"/>
          </a:xfrm>
          <a:prstGeom prst="ellipse">
            <a:avLst/>
          </a:prstGeom>
          <a:solidFill>
            <a:srgbClr val="7C3AED"/>
          </a:solidFill>
          <a:ln w="12700">
            <a:solidFill>
              <a:srgbClr val="7C3AED"/>
            </a:solidFill>
            <a:prstDash val="solid"/>
          </a:ln>
        </p:spPr>
      </p:sp>
      <p:sp>
        <p:nvSpPr>
          <p:cNvPr id="33" name="Text 31"/>
          <p:cNvSpPr/>
          <p:nvPr/>
        </p:nvSpPr>
        <p:spPr>
          <a:xfrm>
            <a:off x="5074920" y="3456432"/>
            <a:ext cx="3474720" cy="365760"/>
          </a:xfrm>
          <a:prstGeom prst="rect">
            <a:avLst/>
          </a:prstGeom>
          <a:noFill/>
          <a:ln/>
        </p:spPr>
        <p:txBody>
          <a:bodyPr wrap="square" lIns="0" tIns="0" rIns="0" bIns="0" rtlCol="0" anchor="ctr"/>
          <a:lstStyle/>
          <a:p>
            <a:pPr indent="0" marL="0">
              <a:buNone/>
            </a:pPr>
            <a:r>
              <a:rPr lang="en-US" sz="1000" dirty="0">
                <a:solidFill>
                  <a:srgbClr val="CBD5E1"/>
                </a:solidFill>
              </a:rPr>
              <a:t>Rejection of outputs that broke design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13</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Shift That Made It Work</a:t>
            </a:r>
            <a:endParaRPr lang="en-US" sz="3000" dirty="0"/>
          </a:p>
        </p:txBody>
      </p:sp>
      <p:sp>
        <p:nvSpPr>
          <p:cNvPr id="4" name="Shape 2"/>
          <p:cNvSpPr/>
          <p:nvPr/>
        </p:nvSpPr>
        <p:spPr>
          <a:xfrm>
            <a:off x="457200" y="1005840"/>
            <a:ext cx="3840480" cy="1645920"/>
          </a:xfrm>
          <a:prstGeom prst="rect">
            <a:avLst/>
          </a:prstGeom>
          <a:solidFill>
            <a:srgbClr val="1A1A2E"/>
          </a:solidFill>
          <a:ln w="12700">
            <a:solidFill>
              <a:srgbClr val="EF4444"/>
            </a:solidFill>
            <a:prstDash val="solid"/>
          </a:ln>
          <a:effectLst>
            <a:outerShdw sx="100000" sy="100000" kx="0" ky="0" algn="bl" rotWithShape="0" blurRad="152400" dist="50800" dir="8100000">
              <a:srgbClr val="000000">
                <a:alpha val="30000"/>
              </a:srgbClr>
            </a:outerShdw>
          </a:effectLst>
        </p:spPr>
      </p:sp>
      <p:sp>
        <p:nvSpPr>
          <p:cNvPr id="5" name="Shape 3"/>
          <p:cNvSpPr/>
          <p:nvPr/>
        </p:nvSpPr>
        <p:spPr>
          <a:xfrm>
            <a:off x="594360" y="1051560"/>
            <a:ext cx="704088" cy="256032"/>
          </a:xfrm>
          <a:prstGeom prst="roundRect">
            <a:avLst>
              <a:gd name="adj" fmla="val 14286"/>
            </a:avLst>
          </a:prstGeom>
          <a:solidFill>
            <a:srgbClr val="EF4444">
              <a:alpha val="80000"/>
            </a:srgbClr>
          </a:solidFill>
          <a:ln w="12700">
            <a:solidFill>
              <a:srgbClr val="EF4444"/>
            </a:solidFill>
            <a:prstDash val="solid"/>
          </a:ln>
        </p:spPr>
      </p:sp>
      <p:sp>
        <p:nvSpPr>
          <p:cNvPr id="6" name="Text 4"/>
          <p:cNvSpPr/>
          <p:nvPr/>
        </p:nvSpPr>
        <p:spPr>
          <a:xfrm>
            <a:off x="594360" y="1051560"/>
            <a:ext cx="704088" cy="256032"/>
          </a:xfrm>
          <a:prstGeom prst="rect">
            <a:avLst/>
          </a:prstGeom>
          <a:noFill/>
          <a:ln/>
        </p:spPr>
        <p:txBody>
          <a:bodyPr wrap="square" lIns="0" tIns="0" rIns="0" bIns="0" rtlCol="0" anchor="ctr"/>
          <a:lstStyle/>
          <a:p>
            <a:pPr algn="ctr" indent="0" marL="0">
              <a:buNone/>
            </a:pPr>
            <a:r>
              <a:rPr lang="en-US" sz="900" b="1" dirty="0">
                <a:solidFill>
                  <a:srgbClr val="FFFFFF"/>
                </a:solidFill>
              </a:rPr>
              <a:t>BEFORE</a:t>
            </a:r>
            <a:endParaRPr lang="en-US" sz="900" dirty="0"/>
          </a:p>
        </p:txBody>
      </p:sp>
      <p:sp>
        <p:nvSpPr>
          <p:cNvPr id="7" name="Text 5"/>
          <p:cNvSpPr/>
          <p:nvPr/>
        </p:nvSpPr>
        <p:spPr>
          <a:xfrm>
            <a:off x="640080" y="1417320"/>
            <a:ext cx="3474720" cy="548640"/>
          </a:xfrm>
          <a:prstGeom prst="rect">
            <a:avLst/>
          </a:prstGeom>
          <a:noFill/>
          <a:ln/>
        </p:spPr>
        <p:txBody>
          <a:bodyPr wrap="square" rtlCol="0" anchor="ctr"/>
          <a:lstStyle/>
          <a:p>
            <a:pPr algn="ctr" indent="0" marL="0">
              <a:buNone/>
            </a:pPr>
            <a:r>
              <a:rPr lang="en-US" sz="2200" b="1" i="1" dirty="0">
                <a:solidFill>
                  <a:srgbClr val="FFFFFF"/>
                </a:solidFill>
              </a:rPr>
              <a:t>"Build a page."</a:t>
            </a:r>
            <a:endParaRPr lang="en-US" sz="2200" dirty="0"/>
          </a:p>
        </p:txBody>
      </p:sp>
      <p:sp>
        <p:nvSpPr>
          <p:cNvPr id="8" name="Text 6"/>
          <p:cNvSpPr/>
          <p:nvPr/>
        </p:nvSpPr>
        <p:spPr>
          <a:xfrm>
            <a:off x="640080" y="2011680"/>
            <a:ext cx="3474720" cy="548640"/>
          </a:xfrm>
          <a:prstGeom prst="rect">
            <a:avLst/>
          </a:prstGeom>
          <a:noFill/>
          <a:ln/>
        </p:spPr>
        <p:txBody>
          <a:bodyPr wrap="square" rtlCol="0" anchor="ctr"/>
          <a:lstStyle/>
          <a:p>
            <a:pPr algn="ctr" indent="0" marL="0">
              <a:buNone/>
            </a:pPr>
            <a:r>
              <a:rPr lang="en-US" sz="1100" dirty="0">
                <a:solidFill>
                  <a:srgbClr val="CBD5E1"/>
                </a:solidFill>
              </a:rPr>
              <a:t>Mediocre results at speed.</a:t>
            </a:r>
            <a:endParaRPr lang="en-US" sz="1100" dirty="0"/>
          </a:p>
          <a:p>
            <a:pPr algn="ctr" indent="0" marL="0">
              <a:buNone/>
            </a:pPr>
            <a:r>
              <a:rPr lang="en-US" sz="1100" dirty="0">
                <a:solidFill>
                  <a:srgbClr val="CBD5E1"/>
                </a:solidFill>
              </a:rPr>
              <a:t>Not the same as good results.</a:t>
            </a:r>
            <a:endParaRPr lang="en-US" sz="1100" dirty="0"/>
          </a:p>
        </p:txBody>
      </p:sp>
      <p:sp>
        <p:nvSpPr>
          <p:cNvPr id="9" name="Shape 7"/>
          <p:cNvSpPr/>
          <p:nvPr/>
        </p:nvSpPr>
        <p:spPr>
          <a:xfrm>
            <a:off x="4389120" y="1783080"/>
            <a:ext cx="365760" cy="0"/>
          </a:xfrm>
          <a:prstGeom prst="line">
            <a:avLst/>
          </a:prstGeom>
          <a:noFill/>
          <a:ln w="25400">
            <a:solidFill>
              <a:srgbClr val="94A3B8"/>
            </a:solidFill>
            <a:prstDash val="solid"/>
          </a:ln>
        </p:spPr>
      </p:sp>
      <p:sp>
        <p:nvSpPr>
          <p:cNvPr id="10" name="Text 8"/>
          <p:cNvSpPr/>
          <p:nvPr/>
        </p:nvSpPr>
        <p:spPr>
          <a:xfrm>
            <a:off x="4343400" y="1645920"/>
            <a:ext cx="457200" cy="320040"/>
          </a:xfrm>
          <a:prstGeom prst="rect">
            <a:avLst/>
          </a:prstGeom>
          <a:noFill/>
          <a:ln/>
        </p:spPr>
        <p:txBody>
          <a:bodyPr wrap="square" rtlCol="0" anchor="ctr"/>
          <a:lstStyle/>
          <a:p>
            <a:pPr algn="ctr" indent="0" marL="0">
              <a:buNone/>
            </a:pPr>
            <a:r>
              <a:rPr lang="en-US" sz="2000" dirty="0">
                <a:solidFill>
                  <a:srgbClr val="94A3B8"/>
                </a:solidFill>
              </a:rPr>
              <a:t>→</a:t>
            </a:r>
            <a:endParaRPr lang="en-US" sz="2000" dirty="0"/>
          </a:p>
        </p:txBody>
      </p:sp>
      <p:sp>
        <p:nvSpPr>
          <p:cNvPr id="11" name="Shape 9"/>
          <p:cNvSpPr/>
          <p:nvPr/>
        </p:nvSpPr>
        <p:spPr>
          <a:xfrm>
            <a:off x="4846320" y="1005840"/>
            <a:ext cx="3840480" cy="164592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12" name="Shape 10"/>
          <p:cNvSpPr/>
          <p:nvPr/>
        </p:nvSpPr>
        <p:spPr>
          <a:xfrm>
            <a:off x="4983480" y="1051560"/>
            <a:ext cx="617220" cy="256032"/>
          </a:xfrm>
          <a:prstGeom prst="roundRect">
            <a:avLst>
              <a:gd name="adj" fmla="val 14286"/>
            </a:avLst>
          </a:prstGeom>
          <a:solidFill>
            <a:srgbClr val="10B981">
              <a:alpha val="80000"/>
            </a:srgbClr>
          </a:solidFill>
          <a:ln w="12700">
            <a:solidFill>
              <a:srgbClr val="10B981"/>
            </a:solidFill>
            <a:prstDash val="solid"/>
          </a:ln>
        </p:spPr>
      </p:sp>
      <p:sp>
        <p:nvSpPr>
          <p:cNvPr id="13" name="Text 11"/>
          <p:cNvSpPr/>
          <p:nvPr/>
        </p:nvSpPr>
        <p:spPr>
          <a:xfrm>
            <a:off x="4983480" y="1051560"/>
            <a:ext cx="617220" cy="256032"/>
          </a:xfrm>
          <a:prstGeom prst="rect">
            <a:avLst/>
          </a:prstGeom>
          <a:noFill/>
          <a:ln/>
        </p:spPr>
        <p:txBody>
          <a:bodyPr wrap="square" lIns="0" tIns="0" rIns="0" bIns="0" rtlCol="0" anchor="ctr"/>
          <a:lstStyle/>
          <a:p>
            <a:pPr algn="ctr" indent="0" marL="0">
              <a:buNone/>
            </a:pPr>
            <a:r>
              <a:rPr lang="en-US" sz="900" b="1" dirty="0">
                <a:solidFill>
                  <a:srgbClr val="FFFFFF"/>
                </a:solidFill>
              </a:rPr>
              <a:t>AFTER</a:t>
            </a:r>
            <a:endParaRPr lang="en-US" sz="900" dirty="0"/>
          </a:p>
        </p:txBody>
      </p:sp>
      <p:sp>
        <p:nvSpPr>
          <p:cNvPr id="14" name="Text 12"/>
          <p:cNvSpPr/>
          <p:nvPr/>
        </p:nvSpPr>
        <p:spPr>
          <a:xfrm>
            <a:off x="5029200" y="1371600"/>
            <a:ext cx="3474720" cy="1005840"/>
          </a:xfrm>
          <a:prstGeom prst="rect">
            <a:avLst/>
          </a:prstGeom>
          <a:noFill/>
          <a:ln/>
        </p:spPr>
        <p:txBody>
          <a:bodyPr wrap="square" rtlCol="0" anchor="ctr"/>
          <a:lstStyle/>
          <a:p>
            <a:pPr algn="ctr" indent="0" marL="0">
              <a:buNone/>
            </a:pPr>
            <a:r>
              <a:rPr lang="en-US" sz="1300" b="1" i="1" dirty="0">
                <a:solidFill>
                  <a:srgbClr val="FFFFFF"/>
                </a:solidFill>
              </a:rPr>
              <a:t>"Operate as a senior product engineer and execute incrementally with production-grade standards."</a:t>
            </a:r>
            <a:endParaRPr lang="en-US" sz="1300" dirty="0"/>
          </a:p>
        </p:txBody>
      </p:sp>
      <p:sp>
        <p:nvSpPr>
          <p:cNvPr id="15" name="Shape 13"/>
          <p:cNvSpPr/>
          <p:nvPr/>
        </p:nvSpPr>
        <p:spPr>
          <a:xfrm>
            <a:off x="457200" y="2834640"/>
            <a:ext cx="8229600" cy="118872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16" name="Text 14"/>
          <p:cNvSpPr/>
          <p:nvPr/>
        </p:nvSpPr>
        <p:spPr>
          <a:xfrm>
            <a:off x="640080" y="2834640"/>
            <a:ext cx="7863840" cy="1188720"/>
          </a:xfrm>
          <a:prstGeom prst="rect">
            <a:avLst/>
          </a:prstGeom>
          <a:noFill/>
          <a:ln/>
        </p:spPr>
        <p:txBody>
          <a:bodyPr wrap="square" rtlCol="0" anchor="ctr"/>
          <a:lstStyle/>
          <a:p>
            <a:pPr algn="ctr" indent="0" marL="0">
              <a:buNone/>
            </a:pPr>
            <a:r>
              <a:rPr lang="en-US" sz="1800" b="1" i="1" dirty="0">
                <a:solidFill>
                  <a:srgbClr val="DDD6FE"/>
                </a:solidFill>
              </a:rPr>
              <a:t>The engineer's job is not to ask AI for outputs.</a:t>
            </a:r>
            <a:endParaRPr lang="en-US" sz="1800" dirty="0"/>
          </a:p>
          <a:p>
            <a:pPr algn="ctr" indent="0" marL="0">
              <a:buNone/>
            </a:pPr>
            <a:r>
              <a:rPr lang="en-US" sz="1800" b="1" i="1" dirty="0">
                <a:solidFill>
                  <a:srgbClr val="DDD6FE"/>
                </a:solidFill>
              </a:rPr>
              <a:t>It is to direct AI toward outcomes.</a:t>
            </a:r>
            <a:endParaRPr lang="en-US" sz="1800" dirty="0"/>
          </a:p>
        </p:txBody>
      </p:sp>
      <p:sp>
        <p:nvSpPr>
          <p:cNvPr id="17" name="Text 15"/>
          <p:cNvSpPr/>
          <p:nvPr/>
        </p:nvSpPr>
        <p:spPr>
          <a:xfrm>
            <a:off x="457200" y="4160520"/>
            <a:ext cx="8229600" cy="365760"/>
          </a:xfrm>
          <a:prstGeom prst="rect">
            <a:avLst/>
          </a:prstGeom>
          <a:noFill/>
          <a:ln/>
        </p:spPr>
        <p:txBody>
          <a:bodyPr wrap="square" rtlCol="0" anchor="ctr"/>
          <a:lstStyle/>
          <a:p>
            <a:pPr algn="ctr" indent="0" marL="0">
              <a:buNone/>
            </a:pPr>
            <a:r>
              <a:rPr lang="en-US" sz="1300" i="1" dirty="0">
                <a:solidFill>
                  <a:srgbClr val="94A3B8"/>
                </a:solidFill>
              </a:rPr>
              <a:t>AI amplifies capability — but only when directed with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14</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People Who Made This Possible</a:t>
            </a:r>
            <a:endParaRPr lang="en-US" sz="3000" dirty="0"/>
          </a:p>
        </p:txBody>
      </p:sp>
      <p:sp>
        <p:nvSpPr>
          <p:cNvPr id="4" name="Shape 2"/>
          <p:cNvSpPr/>
          <p:nvPr/>
        </p:nvSpPr>
        <p:spPr>
          <a:xfrm>
            <a:off x="457200" y="1005840"/>
            <a:ext cx="2743200" cy="1737360"/>
          </a:xfrm>
          <a:prstGeom prst="rect">
            <a:avLst/>
          </a:prstGeom>
          <a:solidFill>
            <a:srgbClr val="1A1A2E"/>
          </a:solidFill>
          <a:ln w="12700">
            <a:solidFill>
              <a:srgbClr val="F59E0B"/>
            </a:solidFill>
            <a:prstDash val="solid"/>
          </a:ln>
          <a:effectLst>
            <a:outerShdw sx="100000" sy="100000" kx="0" ky="0" algn="bl" rotWithShape="0" blurRad="152400" dist="50800" dir="8100000">
              <a:srgbClr val="000000">
                <a:alpha val="30000"/>
              </a:srgbClr>
            </a:outerShdw>
          </a:effectLst>
        </p:spPr>
      </p:sp>
      <p:sp>
        <p:nvSpPr>
          <p:cNvPr id="5" name="Shape 3"/>
          <p:cNvSpPr/>
          <p:nvPr/>
        </p:nvSpPr>
        <p:spPr>
          <a:xfrm>
            <a:off x="457200" y="1005840"/>
            <a:ext cx="2743200" cy="45720"/>
          </a:xfrm>
          <a:prstGeom prst="rect">
            <a:avLst/>
          </a:prstGeom>
          <a:solidFill>
            <a:srgbClr val="F59E0B"/>
          </a:solidFill>
          <a:ln w="12700">
            <a:solidFill>
              <a:srgbClr val="F59E0B"/>
            </a:solidFill>
            <a:prstDash val="solid"/>
          </a:ln>
        </p:spPr>
      </p:sp>
      <p:sp>
        <p:nvSpPr>
          <p:cNvPr id="6" name="Text 4"/>
          <p:cNvSpPr/>
          <p:nvPr/>
        </p:nvSpPr>
        <p:spPr>
          <a:xfrm>
            <a:off x="566928" y="1097280"/>
            <a:ext cx="2523744" cy="292608"/>
          </a:xfrm>
          <a:prstGeom prst="rect">
            <a:avLst/>
          </a:prstGeom>
          <a:noFill/>
          <a:ln/>
        </p:spPr>
        <p:txBody>
          <a:bodyPr wrap="square" lIns="0" tIns="0" rIns="0" bIns="0" rtlCol="0" anchor="ctr"/>
          <a:lstStyle/>
          <a:p>
            <a:pPr indent="0" marL="0">
              <a:buNone/>
            </a:pPr>
            <a:r>
              <a:rPr lang="en-US" sz="1200" b="1" dirty="0">
                <a:solidFill>
                  <a:srgbClr val="FFFFFF"/>
                </a:solidFill>
              </a:rPr>
              <a:t>Tamica Fairley</a:t>
            </a:r>
            <a:endParaRPr lang="en-US" sz="1200" dirty="0"/>
          </a:p>
        </p:txBody>
      </p:sp>
      <p:sp>
        <p:nvSpPr>
          <p:cNvPr id="7" name="Text 5"/>
          <p:cNvSpPr/>
          <p:nvPr/>
        </p:nvSpPr>
        <p:spPr>
          <a:xfrm>
            <a:off x="566928" y="1389888"/>
            <a:ext cx="2523744" cy="228600"/>
          </a:xfrm>
          <a:prstGeom prst="rect">
            <a:avLst/>
          </a:prstGeom>
          <a:noFill/>
          <a:ln/>
        </p:spPr>
        <p:txBody>
          <a:bodyPr wrap="square" lIns="0" tIns="0" rIns="0" bIns="0" rtlCol="0" anchor="ctr"/>
          <a:lstStyle/>
          <a:p>
            <a:pPr indent="0" marL="0">
              <a:buNone/>
            </a:pPr>
            <a:r>
              <a:rPr lang="en-US" sz="900" i="1" dirty="0">
                <a:solidFill>
                  <a:srgbClr val="F59E0B"/>
                </a:solidFill>
              </a:rPr>
              <a:t>CUNY 2X Tech</a:t>
            </a:r>
            <a:endParaRPr lang="en-US" sz="900" dirty="0"/>
          </a:p>
        </p:txBody>
      </p:sp>
      <p:sp>
        <p:nvSpPr>
          <p:cNvPr id="8" name="Text 6"/>
          <p:cNvSpPr/>
          <p:nvPr/>
        </p:nvSpPr>
        <p:spPr>
          <a:xfrm>
            <a:off x="566928" y="1664208"/>
            <a:ext cx="2523744" cy="987552"/>
          </a:xfrm>
          <a:prstGeom prst="rect">
            <a:avLst/>
          </a:prstGeom>
          <a:noFill/>
          <a:ln/>
        </p:spPr>
        <p:txBody>
          <a:bodyPr wrap="square" lIns="0" tIns="0" rIns="0" bIns="0" rtlCol="0" anchor="ctr"/>
          <a:lstStyle/>
          <a:p>
            <a:pPr indent="0" marL="0">
              <a:buNone/>
            </a:pPr>
            <a:r>
              <a:rPr lang="en-US" sz="900" dirty="0">
                <a:solidFill>
                  <a:srgbClr val="CBD5E1"/>
                </a:solidFill>
              </a:rPr>
              <a:t>Transformed how I see myself as an engineer. Redirected my path from student to systems builder.</a:t>
            </a:r>
            <a:endParaRPr lang="en-US" sz="900" dirty="0"/>
          </a:p>
        </p:txBody>
      </p:sp>
      <p:sp>
        <p:nvSpPr>
          <p:cNvPr id="9" name="Shape 7"/>
          <p:cNvSpPr/>
          <p:nvPr/>
        </p:nvSpPr>
        <p:spPr>
          <a:xfrm>
            <a:off x="3337560" y="1005840"/>
            <a:ext cx="2743200" cy="173736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10" name="Shape 8"/>
          <p:cNvSpPr/>
          <p:nvPr/>
        </p:nvSpPr>
        <p:spPr>
          <a:xfrm>
            <a:off x="3337560" y="1005840"/>
            <a:ext cx="2743200" cy="45720"/>
          </a:xfrm>
          <a:prstGeom prst="rect">
            <a:avLst/>
          </a:prstGeom>
          <a:solidFill>
            <a:srgbClr val="7C3AED"/>
          </a:solidFill>
          <a:ln w="12700">
            <a:solidFill>
              <a:srgbClr val="7C3AED"/>
            </a:solidFill>
            <a:prstDash val="solid"/>
          </a:ln>
        </p:spPr>
      </p:sp>
      <p:sp>
        <p:nvSpPr>
          <p:cNvPr id="11" name="Text 9"/>
          <p:cNvSpPr/>
          <p:nvPr/>
        </p:nvSpPr>
        <p:spPr>
          <a:xfrm>
            <a:off x="3447288" y="1097280"/>
            <a:ext cx="2523744" cy="292608"/>
          </a:xfrm>
          <a:prstGeom prst="rect">
            <a:avLst/>
          </a:prstGeom>
          <a:noFill/>
          <a:ln/>
        </p:spPr>
        <p:txBody>
          <a:bodyPr wrap="square" lIns="0" tIns="0" rIns="0" bIns="0" rtlCol="0" anchor="ctr"/>
          <a:lstStyle/>
          <a:p>
            <a:pPr indent="0" marL="0">
              <a:buNone/>
            </a:pPr>
            <a:r>
              <a:rPr lang="en-US" sz="1200" b="1" dirty="0">
                <a:solidFill>
                  <a:srgbClr val="FFFFFF"/>
                </a:solidFill>
              </a:rPr>
              <a:t>Jason Wodicka</a:t>
            </a:r>
            <a:endParaRPr lang="en-US" sz="1200" dirty="0"/>
          </a:p>
        </p:txBody>
      </p:sp>
      <p:sp>
        <p:nvSpPr>
          <p:cNvPr id="12" name="Text 10"/>
          <p:cNvSpPr/>
          <p:nvPr/>
        </p:nvSpPr>
        <p:spPr>
          <a:xfrm>
            <a:off x="3447288" y="1389888"/>
            <a:ext cx="2523744" cy="228600"/>
          </a:xfrm>
          <a:prstGeom prst="rect">
            <a:avLst/>
          </a:prstGeom>
          <a:noFill/>
          <a:ln/>
        </p:spPr>
        <p:txBody>
          <a:bodyPr wrap="square" lIns="0" tIns="0" rIns="0" bIns="0" rtlCol="0" anchor="ctr"/>
          <a:lstStyle/>
          <a:p>
            <a:pPr indent="0" marL="0">
              <a:buNone/>
            </a:pPr>
            <a:r>
              <a:rPr lang="en-US" sz="900" i="1" dirty="0">
                <a:solidFill>
                  <a:srgbClr val="7C3AED"/>
                </a:solidFill>
              </a:rPr>
              <a:t>Amazon · CodePath AI110</a:t>
            </a:r>
            <a:endParaRPr lang="en-US" sz="900" dirty="0"/>
          </a:p>
        </p:txBody>
      </p:sp>
      <p:sp>
        <p:nvSpPr>
          <p:cNvPr id="13" name="Text 11"/>
          <p:cNvSpPr/>
          <p:nvPr/>
        </p:nvSpPr>
        <p:spPr>
          <a:xfrm>
            <a:off x="3447288" y="1664208"/>
            <a:ext cx="2523744" cy="987552"/>
          </a:xfrm>
          <a:prstGeom prst="rect">
            <a:avLst/>
          </a:prstGeom>
          <a:noFill/>
          <a:ln/>
        </p:spPr>
        <p:txBody>
          <a:bodyPr wrap="square" lIns="0" tIns="0" rIns="0" bIns="0" rtlCol="0" anchor="ctr"/>
          <a:lstStyle/>
          <a:p>
            <a:pPr indent="0" marL="0">
              <a:buNone/>
            </a:pPr>
            <a:r>
              <a:rPr lang="en-US" sz="900" dirty="0">
                <a:solidFill>
                  <a:srgbClr val="CBD5E1"/>
                </a:solidFill>
              </a:rPr>
              <a:t>Taught that AI tools amplify discipline, not replace it. Core foundations make engineers irreplaceable.</a:t>
            </a:r>
            <a:endParaRPr lang="en-US" sz="900" dirty="0"/>
          </a:p>
        </p:txBody>
      </p:sp>
      <p:sp>
        <p:nvSpPr>
          <p:cNvPr id="14" name="Shape 12"/>
          <p:cNvSpPr/>
          <p:nvPr/>
        </p:nvSpPr>
        <p:spPr>
          <a:xfrm>
            <a:off x="6217920" y="1005840"/>
            <a:ext cx="2743200" cy="173736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15" name="Shape 13"/>
          <p:cNvSpPr/>
          <p:nvPr/>
        </p:nvSpPr>
        <p:spPr>
          <a:xfrm>
            <a:off x="6217920" y="1005840"/>
            <a:ext cx="2743200" cy="45720"/>
          </a:xfrm>
          <a:prstGeom prst="rect">
            <a:avLst/>
          </a:prstGeom>
          <a:solidFill>
            <a:srgbClr val="06B6D4"/>
          </a:solidFill>
          <a:ln w="12700">
            <a:solidFill>
              <a:srgbClr val="06B6D4"/>
            </a:solidFill>
            <a:prstDash val="solid"/>
          </a:ln>
        </p:spPr>
      </p:sp>
      <p:sp>
        <p:nvSpPr>
          <p:cNvPr id="16" name="Text 14"/>
          <p:cNvSpPr/>
          <p:nvPr/>
        </p:nvSpPr>
        <p:spPr>
          <a:xfrm>
            <a:off x="6327648" y="1097280"/>
            <a:ext cx="2523744" cy="292608"/>
          </a:xfrm>
          <a:prstGeom prst="rect">
            <a:avLst/>
          </a:prstGeom>
          <a:noFill/>
          <a:ln/>
        </p:spPr>
        <p:txBody>
          <a:bodyPr wrap="square" lIns="0" tIns="0" rIns="0" bIns="0" rtlCol="0" anchor="ctr"/>
          <a:lstStyle/>
          <a:p>
            <a:pPr indent="0" marL="0">
              <a:buNone/>
            </a:pPr>
            <a:r>
              <a:rPr lang="en-US" sz="1200" b="1" dirty="0">
                <a:solidFill>
                  <a:srgbClr val="FFFFFF"/>
                </a:solidFill>
              </a:rPr>
              <a:t>TeLisa Daughtry</a:t>
            </a:r>
            <a:endParaRPr lang="en-US" sz="1200" dirty="0"/>
          </a:p>
        </p:txBody>
      </p:sp>
      <p:sp>
        <p:nvSpPr>
          <p:cNvPr id="17" name="Text 15"/>
          <p:cNvSpPr/>
          <p:nvPr/>
        </p:nvSpPr>
        <p:spPr>
          <a:xfrm>
            <a:off x="6327648" y="1389888"/>
            <a:ext cx="2523744" cy="228600"/>
          </a:xfrm>
          <a:prstGeom prst="rect">
            <a:avLst/>
          </a:prstGeom>
          <a:noFill/>
          <a:ln/>
        </p:spPr>
        <p:txBody>
          <a:bodyPr wrap="square" lIns="0" tIns="0" rIns="0" bIns="0" rtlCol="0" anchor="ctr"/>
          <a:lstStyle/>
          <a:p>
            <a:pPr indent="0" marL="0">
              <a:buNone/>
            </a:pPr>
            <a:r>
              <a:rPr lang="en-US" sz="900" i="1" dirty="0">
                <a:solidFill>
                  <a:srgbClr val="06B6D4"/>
                </a:solidFill>
              </a:rPr>
              <a:t>CUNY 2X Tech</a:t>
            </a:r>
            <a:endParaRPr lang="en-US" sz="900" dirty="0"/>
          </a:p>
        </p:txBody>
      </p:sp>
      <p:sp>
        <p:nvSpPr>
          <p:cNvPr id="18" name="Text 16"/>
          <p:cNvSpPr/>
          <p:nvPr/>
        </p:nvSpPr>
        <p:spPr>
          <a:xfrm>
            <a:off x="6327648" y="1664208"/>
            <a:ext cx="2523744" cy="987552"/>
          </a:xfrm>
          <a:prstGeom prst="rect">
            <a:avLst/>
          </a:prstGeom>
          <a:noFill/>
          <a:ln/>
        </p:spPr>
        <p:txBody>
          <a:bodyPr wrap="square" lIns="0" tIns="0" rIns="0" bIns="0" rtlCol="0" anchor="ctr"/>
          <a:lstStyle/>
          <a:p>
            <a:pPr indent="0" marL="0">
              <a:buNone/>
            </a:pPr>
            <a:r>
              <a:rPr lang="en-US" sz="900" dirty="0">
                <a:solidFill>
                  <a:srgbClr val="CBD5E1"/>
                </a:solidFill>
              </a:rPr>
              <a:t>Connected me to the Walkspan internship. Bridge between academic learning and industry.</a:t>
            </a:r>
            <a:endParaRPr lang="en-US" sz="900" dirty="0"/>
          </a:p>
        </p:txBody>
      </p:sp>
      <p:sp>
        <p:nvSpPr>
          <p:cNvPr id="19" name="Shape 17"/>
          <p:cNvSpPr/>
          <p:nvPr/>
        </p:nvSpPr>
        <p:spPr>
          <a:xfrm>
            <a:off x="457200" y="2971800"/>
            <a:ext cx="2743200" cy="173736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20" name="Shape 18"/>
          <p:cNvSpPr/>
          <p:nvPr/>
        </p:nvSpPr>
        <p:spPr>
          <a:xfrm>
            <a:off x="457200" y="2971800"/>
            <a:ext cx="2743200" cy="45720"/>
          </a:xfrm>
          <a:prstGeom prst="rect">
            <a:avLst/>
          </a:prstGeom>
          <a:solidFill>
            <a:srgbClr val="10B981"/>
          </a:solidFill>
          <a:ln w="12700">
            <a:solidFill>
              <a:srgbClr val="10B981"/>
            </a:solidFill>
            <a:prstDash val="solid"/>
          </a:ln>
        </p:spPr>
      </p:sp>
      <p:sp>
        <p:nvSpPr>
          <p:cNvPr id="21" name="Text 19"/>
          <p:cNvSpPr/>
          <p:nvPr/>
        </p:nvSpPr>
        <p:spPr>
          <a:xfrm>
            <a:off x="566928" y="3063240"/>
            <a:ext cx="2523744" cy="292608"/>
          </a:xfrm>
          <a:prstGeom prst="rect">
            <a:avLst/>
          </a:prstGeom>
          <a:noFill/>
          <a:ln/>
        </p:spPr>
        <p:txBody>
          <a:bodyPr wrap="square" lIns="0" tIns="0" rIns="0" bIns="0" rtlCol="0" anchor="ctr"/>
          <a:lstStyle/>
          <a:p>
            <a:pPr indent="0" marL="0">
              <a:buNone/>
            </a:pPr>
            <a:r>
              <a:rPr lang="en-US" sz="1200" b="1" dirty="0">
                <a:solidFill>
                  <a:srgbClr val="FFFFFF"/>
                </a:solidFill>
              </a:rPr>
              <a:t>Prof. Louise Yan</a:t>
            </a:r>
            <a:endParaRPr lang="en-US" sz="1200" dirty="0"/>
          </a:p>
        </p:txBody>
      </p:sp>
      <p:sp>
        <p:nvSpPr>
          <p:cNvPr id="22" name="Text 20"/>
          <p:cNvSpPr/>
          <p:nvPr/>
        </p:nvSpPr>
        <p:spPr>
          <a:xfrm>
            <a:off x="566928" y="3355848"/>
            <a:ext cx="2523744" cy="228600"/>
          </a:xfrm>
          <a:prstGeom prst="rect">
            <a:avLst/>
          </a:prstGeom>
          <a:noFill/>
          <a:ln/>
        </p:spPr>
        <p:txBody>
          <a:bodyPr wrap="square" lIns="0" tIns="0" rIns="0" bIns="0" rtlCol="0" anchor="ctr"/>
          <a:lstStyle/>
          <a:p>
            <a:pPr indent="0" marL="0">
              <a:buNone/>
            </a:pPr>
            <a:r>
              <a:rPr lang="en-US" sz="900" i="1" dirty="0">
                <a:solidFill>
                  <a:srgbClr val="10B981"/>
                </a:solidFill>
              </a:rPr>
              <a:t>BMCC · CSC 231</a:t>
            </a:r>
            <a:endParaRPr lang="en-US" sz="900" dirty="0"/>
          </a:p>
        </p:txBody>
      </p:sp>
      <p:sp>
        <p:nvSpPr>
          <p:cNvPr id="23" name="Text 21"/>
          <p:cNvSpPr/>
          <p:nvPr/>
        </p:nvSpPr>
        <p:spPr>
          <a:xfrm>
            <a:off x="566928" y="3630168"/>
            <a:ext cx="2523744" cy="987552"/>
          </a:xfrm>
          <a:prstGeom prst="rect">
            <a:avLst/>
          </a:prstGeom>
          <a:noFill/>
          <a:ln/>
        </p:spPr>
        <p:txBody>
          <a:bodyPr wrap="square" lIns="0" tIns="0" rIns="0" bIns="0" rtlCol="0" anchor="ctr"/>
          <a:lstStyle/>
          <a:p>
            <a:pPr indent="0" marL="0">
              <a:buNone/>
            </a:pPr>
            <a:r>
              <a:rPr lang="en-US" sz="900" dirty="0">
                <a:solidFill>
                  <a:srgbClr val="CBD5E1"/>
                </a:solidFill>
              </a:rPr>
              <a:t>Discrete math foundations. Co-organized CUNY AI Innovation Challenge. The math in the scoring engine.</a:t>
            </a:r>
            <a:endParaRPr lang="en-US" sz="900" dirty="0"/>
          </a:p>
        </p:txBody>
      </p:sp>
      <p:sp>
        <p:nvSpPr>
          <p:cNvPr id="24" name="Shape 22"/>
          <p:cNvSpPr/>
          <p:nvPr/>
        </p:nvSpPr>
        <p:spPr>
          <a:xfrm>
            <a:off x="3337560" y="2971800"/>
            <a:ext cx="2743200" cy="173736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25" name="Shape 23"/>
          <p:cNvSpPr/>
          <p:nvPr/>
        </p:nvSpPr>
        <p:spPr>
          <a:xfrm>
            <a:off x="3337560" y="2971800"/>
            <a:ext cx="2743200" cy="45720"/>
          </a:xfrm>
          <a:prstGeom prst="rect">
            <a:avLst/>
          </a:prstGeom>
          <a:solidFill>
            <a:srgbClr val="7C3AED"/>
          </a:solidFill>
          <a:ln w="12700">
            <a:solidFill>
              <a:srgbClr val="7C3AED"/>
            </a:solidFill>
            <a:prstDash val="solid"/>
          </a:ln>
        </p:spPr>
      </p:sp>
      <p:sp>
        <p:nvSpPr>
          <p:cNvPr id="26" name="Text 24"/>
          <p:cNvSpPr/>
          <p:nvPr/>
        </p:nvSpPr>
        <p:spPr>
          <a:xfrm>
            <a:off x="3447288" y="3063240"/>
            <a:ext cx="2523744" cy="292608"/>
          </a:xfrm>
          <a:prstGeom prst="rect">
            <a:avLst/>
          </a:prstGeom>
          <a:noFill/>
          <a:ln/>
        </p:spPr>
        <p:txBody>
          <a:bodyPr wrap="square" lIns="0" tIns="0" rIns="0" bIns="0" rtlCol="0" anchor="ctr"/>
          <a:lstStyle/>
          <a:p>
            <a:pPr indent="0" marL="0">
              <a:buNone/>
            </a:pPr>
            <a:r>
              <a:rPr lang="en-US" sz="1200" b="1" dirty="0">
                <a:solidFill>
                  <a:srgbClr val="FFFFFF"/>
                </a:solidFill>
              </a:rPr>
              <a:t>Dr. Kevin Byron</a:t>
            </a:r>
            <a:endParaRPr lang="en-US" sz="1200" dirty="0"/>
          </a:p>
        </p:txBody>
      </p:sp>
      <p:sp>
        <p:nvSpPr>
          <p:cNvPr id="27" name="Text 25"/>
          <p:cNvSpPr/>
          <p:nvPr/>
        </p:nvSpPr>
        <p:spPr>
          <a:xfrm>
            <a:off x="3447288" y="3355848"/>
            <a:ext cx="2523744" cy="228600"/>
          </a:xfrm>
          <a:prstGeom prst="rect">
            <a:avLst/>
          </a:prstGeom>
          <a:noFill/>
          <a:ln/>
        </p:spPr>
        <p:txBody>
          <a:bodyPr wrap="square" lIns="0" tIns="0" rIns="0" bIns="0" rtlCol="0" anchor="ctr"/>
          <a:lstStyle/>
          <a:p>
            <a:pPr indent="0" marL="0">
              <a:buNone/>
            </a:pPr>
            <a:r>
              <a:rPr lang="en-US" sz="900" i="1" dirty="0">
                <a:solidFill>
                  <a:srgbClr val="7C3AED"/>
                </a:solidFill>
              </a:rPr>
              <a:t>BMCC · CIS 362</a:t>
            </a:r>
            <a:endParaRPr lang="en-US" sz="900" dirty="0"/>
          </a:p>
        </p:txBody>
      </p:sp>
      <p:sp>
        <p:nvSpPr>
          <p:cNvPr id="28" name="Text 26"/>
          <p:cNvSpPr/>
          <p:nvPr/>
        </p:nvSpPr>
        <p:spPr>
          <a:xfrm>
            <a:off x="3447288" y="3630168"/>
            <a:ext cx="2523744" cy="987552"/>
          </a:xfrm>
          <a:prstGeom prst="rect">
            <a:avLst/>
          </a:prstGeom>
          <a:noFill/>
          <a:ln/>
        </p:spPr>
        <p:txBody>
          <a:bodyPr wrap="square" lIns="0" tIns="0" rIns="0" bIns="0" rtlCol="0" anchor="ctr"/>
          <a:lstStyle/>
          <a:p>
            <a:pPr indent="0" marL="0">
              <a:buNone/>
            </a:pPr>
            <a:r>
              <a:rPr lang="en-US" sz="900" dirty="0">
                <a:solidFill>
                  <a:srgbClr val="CBD5E1"/>
                </a:solidFill>
              </a:rPr>
              <a:t>Cloud computing foundations. The infrastructure layer of this platform traces to this course.</a:t>
            </a:r>
            <a:endParaRPr lang="en-US" sz="900" dirty="0"/>
          </a:p>
        </p:txBody>
      </p:sp>
      <p:sp>
        <p:nvSpPr>
          <p:cNvPr id="29" name="Shape 27"/>
          <p:cNvSpPr/>
          <p:nvPr/>
        </p:nvSpPr>
        <p:spPr>
          <a:xfrm>
            <a:off x="6217920" y="2971800"/>
            <a:ext cx="2743200" cy="173736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30" name="Shape 28"/>
          <p:cNvSpPr/>
          <p:nvPr/>
        </p:nvSpPr>
        <p:spPr>
          <a:xfrm>
            <a:off x="6217920" y="2971800"/>
            <a:ext cx="2743200" cy="45720"/>
          </a:xfrm>
          <a:prstGeom prst="rect">
            <a:avLst/>
          </a:prstGeom>
          <a:solidFill>
            <a:srgbClr val="06B6D4"/>
          </a:solidFill>
          <a:ln w="12700">
            <a:solidFill>
              <a:srgbClr val="06B6D4"/>
            </a:solidFill>
            <a:prstDash val="solid"/>
          </a:ln>
        </p:spPr>
      </p:sp>
      <p:sp>
        <p:nvSpPr>
          <p:cNvPr id="31" name="Text 29"/>
          <p:cNvSpPr/>
          <p:nvPr/>
        </p:nvSpPr>
        <p:spPr>
          <a:xfrm>
            <a:off x="6327648" y="3063240"/>
            <a:ext cx="2523744" cy="292608"/>
          </a:xfrm>
          <a:prstGeom prst="rect">
            <a:avLst/>
          </a:prstGeom>
          <a:noFill/>
          <a:ln/>
        </p:spPr>
        <p:txBody>
          <a:bodyPr wrap="square" lIns="0" tIns="0" rIns="0" bIns="0" rtlCol="0" anchor="ctr"/>
          <a:lstStyle/>
          <a:p>
            <a:pPr indent="0" marL="0">
              <a:buNone/>
            </a:pPr>
            <a:r>
              <a:rPr lang="en-US" sz="1200" b="1" dirty="0">
                <a:solidFill>
                  <a:srgbClr val="FFFFFF"/>
                </a:solidFill>
              </a:rPr>
              <a:t>Prof. Azhar</a:t>
            </a:r>
            <a:endParaRPr lang="en-US" sz="1200" dirty="0"/>
          </a:p>
        </p:txBody>
      </p:sp>
      <p:sp>
        <p:nvSpPr>
          <p:cNvPr id="32" name="Text 30"/>
          <p:cNvSpPr/>
          <p:nvPr/>
        </p:nvSpPr>
        <p:spPr>
          <a:xfrm>
            <a:off x="6327648" y="3355848"/>
            <a:ext cx="2523744" cy="228600"/>
          </a:xfrm>
          <a:prstGeom prst="rect">
            <a:avLst/>
          </a:prstGeom>
          <a:noFill/>
          <a:ln/>
        </p:spPr>
        <p:txBody>
          <a:bodyPr wrap="square" lIns="0" tIns="0" rIns="0" bIns="0" rtlCol="0" anchor="ctr"/>
          <a:lstStyle/>
          <a:p>
            <a:pPr indent="0" marL="0">
              <a:buNone/>
            </a:pPr>
            <a:r>
              <a:rPr lang="en-US" sz="900" i="1" dirty="0">
                <a:solidFill>
                  <a:srgbClr val="06B6D4"/>
                </a:solidFill>
              </a:rPr>
              <a:t>BMCC · AI Innovation Hub</a:t>
            </a:r>
            <a:endParaRPr lang="en-US" sz="900" dirty="0"/>
          </a:p>
        </p:txBody>
      </p:sp>
      <p:sp>
        <p:nvSpPr>
          <p:cNvPr id="33" name="Text 31"/>
          <p:cNvSpPr/>
          <p:nvPr/>
        </p:nvSpPr>
        <p:spPr>
          <a:xfrm>
            <a:off x="6327648" y="3630168"/>
            <a:ext cx="2523744" cy="987552"/>
          </a:xfrm>
          <a:prstGeom prst="rect">
            <a:avLst/>
          </a:prstGeom>
          <a:noFill/>
          <a:ln/>
        </p:spPr>
        <p:txBody>
          <a:bodyPr wrap="square" lIns="0" tIns="0" rIns="0" bIns="0" rtlCol="0" anchor="ctr"/>
          <a:lstStyle/>
          <a:p>
            <a:pPr indent="0" marL="0">
              <a:buNone/>
            </a:pPr>
            <a:r>
              <a:rPr lang="en-US" sz="900" dirty="0">
                <a:solidFill>
                  <a:srgbClr val="CBD5E1"/>
                </a:solidFill>
              </a:rPr>
              <a:t>Created the AI innovation environment at BMCC. CUNY AI Innovation Challenge organizer.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15</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Broader Engineering Portfolio</a:t>
            </a:r>
            <a:endParaRPr lang="en-US" sz="3000" dirty="0"/>
          </a:p>
        </p:txBody>
      </p:sp>
      <p:sp>
        <p:nvSpPr>
          <p:cNvPr id="4" name="Shape 2"/>
          <p:cNvSpPr/>
          <p:nvPr/>
        </p:nvSpPr>
        <p:spPr>
          <a:xfrm>
            <a:off x="457200" y="1005840"/>
            <a:ext cx="3931920" cy="374904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5" name="Shape 3"/>
          <p:cNvSpPr/>
          <p:nvPr/>
        </p:nvSpPr>
        <p:spPr>
          <a:xfrm>
            <a:off x="457200" y="1005840"/>
            <a:ext cx="3931920" cy="347472"/>
          </a:xfrm>
          <a:prstGeom prst="rect">
            <a:avLst/>
          </a:prstGeom>
          <a:solidFill>
            <a:srgbClr val="06B6D4">
              <a:alpha val="85000"/>
            </a:srgbClr>
          </a:solidFill>
          <a:ln w="12700">
            <a:solidFill>
              <a:srgbClr val="06B6D4"/>
            </a:solidFill>
            <a:prstDash val="solid"/>
          </a:ln>
        </p:spPr>
      </p:sp>
      <p:sp>
        <p:nvSpPr>
          <p:cNvPr id="6" name="Shape 4"/>
          <p:cNvSpPr/>
          <p:nvPr/>
        </p:nvSpPr>
        <p:spPr>
          <a:xfrm>
            <a:off x="594360" y="1042416"/>
            <a:ext cx="3657600" cy="256032"/>
          </a:xfrm>
          <a:prstGeom prst="roundRect">
            <a:avLst>
              <a:gd name="adj" fmla="val 14286"/>
            </a:avLst>
          </a:prstGeom>
          <a:solidFill>
            <a:srgbClr val="F59E0B">
              <a:alpha val="80000"/>
            </a:srgbClr>
          </a:solidFill>
          <a:ln w="12700">
            <a:solidFill>
              <a:srgbClr val="F59E0B"/>
            </a:solidFill>
            <a:prstDash val="solid"/>
          </a:ln>
        </p:spPr>
      </p:sp>
      <p:sp>
        <p:nvSpPr>
          <p:cNvPr id="7" name="Text 5"/>
          <p:cNvSpPr/>
          <p:nvPr/>
        </p:nvSpPr>
        <p:spPr>
          <a:xfrm>
            <a:off x="594360" y="1042416"/>
            <a:ext cx="3657600" cy="256032"/>
          </a:xfrm>
          <a:prstGeom prst="rect">
            <a:avLst/>
          </a:prstGeom>
          <a:noFill/>
          <a:ln/>
        </p:spPr>
        <p:txBody>
          <a:bodyPr wrap="square" lIns="0" tIns="0" rIns="0" bIns="0" rtlCol="0" anchor="ctr"/>
          <a:lstStyle/>
          <a:p>
            <a:pPr algn="ctr" indent="0" marL="0">
              <a:buNone/>
            </a:pPr>
            <a:r>
              <a:rPr lang="en-US" sz="900" b="1" dirty="0">
                <a:solidFill>
                  <a:srgbClr val="0D0D1A"/>
                </a:solidFill>
              </a:rPr>
              <a:t>RUNNER-UP · CUNY AI INNOVATION CHALLENGE</a:t>
            </a:r>
            <a:endParaRPr lang="en-US" sz="900" dirty="0"/>
          </a:p>
        </p:txBody>
      </p:sp>
      <p:sp>
        <p:nvSpPr>
          <p:cNvPr id="8" name="Text 6"/>
          <p:cNvSpPr/>
          <p:nvPr/>
        </p:nvSpPr>
        <p:spPr>
          <a:xfrm>
            <a:off x="594360" y="1463040"/>
            <a:ext cx="3657600" cy="411480"/>
          </a:xfrm>
          <a:prstGeom prst="rect">
            <a:avLst/>
          </a:prstGeom>
          <a:noFill/>
          <a:ln/>
        </p:spPr>
        <p:txBody>
          <a:bodyPr wrap="square" lIns="0" tIns="0" rIns="0" bIns="0" rtlCol="0" anchor="ctr"/>
          <a:lstStyle/>
          <a:p>
            <a:pPr indent="0" marL="0">
              <a:buNone/>
            </a:pPr>
            <a:r>
              <a:rPr lang="en-US" sz="2000" b="1" dirty="0">
                <a:solidFill>
                  <a:srgbClr val="FFFFFF"/>
                </a:solidFill>
              </a:rPr>
              <a:t>BridgeAI</a:t>
            </a:r>
            <a:endParaRPr lang="en-US" sz="2000" dirty="0"/>
          </a:p>
        </p:txBody>
      </p:sp>
      <p:sp>
        <p:nvSpPr>
          <p:cNvPr id="9" name="Text 7"/>
          <p:cNvSpPr/>
          <p:nvPr/>
        </p:nvSpPr>
        <p:spPr>
          <a:xfrm>
            <a:off x="594360" y="1874520"/>
            <a:ext cx="3657600" cy="274320"/>
          </a:xfrm>
          <a:prstGeom prst="rect">
            <a:avLst/>
          </a:prstGeom>
          <a:noFill/>
          <a:ln/>
        </p:spPr>
        <p:txBody>
          <a:bodyPr wrap="square" lIns="0" tIns="0" rIns="0" bIns="0" rtlCol="0" anchor="ctr"/>
          <a:lstStyle/>
          <a:p>
            <a:pPr indent="0" marL="0">
              <a:buNone/>
            </a:pPr>
            <a:r>
              <a:rPr lang="en-US" sz="1100" dirty="0">
                <a:solidFill>
                  <a:srgbClr val="06B6D4"/>
                </a:solidFill>
              </a:rPr>
              <a:t>Civic Resource Discovery Platform</a:t>
            </a:r>
            <a:endParaRPr lang="en-US" sz="1100" dirty="0"/>
          </a:p>
        </p:txBody>
      </p:sp>
      <p:sp>
        <p:nvSpPr>
          <p:cNvPr id="10" name="Text 8"/>
          <p:cNvSpPr/>
          <p:nvPr/>
        </p:nvSpPr>
        <p:spPr>
          <a:xfrm>
            <a:off x="594360" y="2194560"/>
            <a:ext cx="3657600" cy="2468880"/>
          </a:xfrm>
          <a:prstGeom prst="rect">
            <a:avLst/>
          </a:prstGeom>
          <a:noFill/>
          <a:ln/>
        </p:spPr>
        <p:txBody>
          <a:bodyPr wrap="square" lIns="0" tIns="0" rIns="0" bIns="0" rtlCol="0" anchor="ctr"/>
          <a:lstStyle/>
          <a:p>
            <a:pPr indent="0" marL="0">
              <a:buNone/>
            </a:pPr>
            <a:r>
              <a:rPr lang="en-US" sz="1000" dirty="0">
                <a:solidFill>
                  <a:srgbClr val="CBD5E1"/>
                </a:solidFill>
              </a:rPr>
              <a:t>AI-powered platform helping CUNY students find scholarships, benefits, internships, and support programs through intelligent recommendation and eligibility matching.</a:t>
            </a:r>
            <a:endParaRPr lang="en-US" sz="1000" dirty="0"/>
          </a:p>
          <a:p>
            <a:pPr indent="0" marL="0">
              <a:buNone/>
            </a:pPr>
            <a:endParaRPr lang="en-US" sz="1000" dirty="0"/>
          </a:p>
          <a:p>
            <a:pPr indent="0" marL="0">
              <a:buNone/>
            </a:pPr>
            <a:r>
              <a:rPr lang="en-US" sz="1000" dirty="0">
                <a:solidFill>
                  <a:srgbClr val="CBD5E1"/>
                </a:solidFill>
              </a:rPr>
              <a:t>Next.js · TypeScript · FastAPI · Python · Docker · CI/CD</a:t>
            </a:r>
            <a:endParaRPr lang="en-US" sz="1000" dirty="0"/>
          </a:p>
          <a:p>
            <a:pPr indent="0" marL="0">
              <a:buNone/>
            </a:pPr>
            <a:endParaRPr lang="en-US" sz="1000" dirty="0"/>
          </a:p>
          <a:p>
            <a:pPr indent="0" marL="0">
              <a:buNone/>
            </a:pPr>
            <a:r>
              <a:rPr lang="en-US" sz="1000" dirty="0">
                <a:solidFill>
                  <a:srgbClr val="CBD5E1"/>
                </a:solidFill>
              </a:rPr>
              <a:t>Full-stack: typed API contracts, health checks, Playwright E2E testing, SQLite persistence.</a:t>
            </a:r>
            <a:endParaRPr lang="en-US" sz="1000" dirty="0"/>
          </a:p>
        </p:txBody>
      </p:sp>
      <p:sp>
        <p:nvSpPr>
          <p:cNvPr id="11" name="Shape 9"/>
          <p:cNvSpPr/>
          <p:nvPr/>
        </p:nvSpPr>
        <p:spPr>
          <a:xfrm>
            <a:off x="4754880" y="1005840"/>
            <a:ext cx="3931920" cy="374904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12" name="Shape 10"/>
          <p:cNvSpPr/>
          <p:nvPr/>
        </p:nvSpPr>
        <p:spPr>
          <a:xfrm>
            <a:off x="4754880" y="1005840"/>
            <a:ext cx="3931920" cy="347472"/>
          </a:xfrm>
          <a:prstGeom prst="rect">
            <a:avLst/>
          </a:prstGeom>
          <a:solidFill>
            <a:srgbClr val="7C3AED">
              <a:alpha val="85000"/>
            </a:srgbClr>
          </a:solidFill>
          <a:ln w="12700">
            <a:solidFill>
              <a:srgbClr val="7C3AED"/>
            </a:solidFill>
            <a:prstDash val="solid"/>
          </a:ln>
        </p:spPr>
      </p:sp>
      <p:sp>
        <p:nvSpPr>
          <p:cNvPr id="13" name="Shape 11"/>
          <p:cNvSpPr/>
          <p:nvPr/>
        </p:nvSpPr>
        <p:spPr>
          <a:xfrm>
            <a:off x="4892040" y="1042416"/>
            <a:ext cx="3570732" cy="256032"/>
          </a:xfrm>
          <a:prstGeom prst="roundRect">
            <a:avLst>
              <a:gd name="adj" fmla="val 14286"/>
            </a:avLst>
          </a:prstGeom>
          <a:solidFill>
            <a:srgbClr val="7C3AED">
              <a:alpha val="80000"/>
            </a:srgbClr>
          </a:solidFill>
          <a:ln w="12700">
            <a:solidFill>
              <a:srgbClr val="7C3AED"/>
            </a:solidFill>
            <a:prstDash val="solid"/>
          </a:ln>
        </p:spPr>
      </p:sp>
      <p:sp>
        <p:nvSpPr>
          <p:cNvPr id="14" name="Text 12"/>
          <p:cNvSpPr/>
          <p:nvPr/>
        </p:nvSpPr>
        <p:spPr>
          <a:xfrm>
            <a:off x="4892040" y="1042416"/>
            <a:ext cx="3570732" cy="256032"/>
          </a:xfrm>
          <a:prstGeom prst="rect">
            <a:avLst/>
          </a:prstGeom>
          <a:noFill/>
          <a:ln/>
        </p:spPr>
        <p:txBody>
          <a:bodyPr wrap="square" lIns="0" tIns="0" rIns="0" bIns="0" rtlCol="0" anchor="ctr"/>
          <a:lstStyle/>
          <a:p>
            <a:pPr algn="ctr" indent="0" marL="0">
              <a:buNone/>
            </a:pPr>
            <a:r>
              <a:rPr lang="en-US" sz="900" b="1" dirty="0">
                <a:solidFill>
                  <a:srgbClr val="FFFFFF"/>
                </a:solidFill>
              </a:rPr>
              <a:t>PROFESSIONAL INTERNSHIP · WALKSPAN INC.</a:t>
            </a:r>
            <a:endParaRPr lang="en-US" sz="900" dirty="0"/>
          </a:p>
        </p:txBody>
      </p:sp>
      <p:sp>
        <p:nvSpPr>
          <p:cNvPr id="15" name="Text 13"/>
          <p:cNvSpPr/>
          <p:nvPr/>
        </p:nvSpPr>
        <p:spPr>
          <a:xfrm>
            <a:off x="4892040" y="1463040"/>
            <a:ext cx="3657600" cy="411480"/>
          </a:xfrm>
          <a:prstGeom prst="rect">
            <a:avLst/>
          </a:prstGeom>
          <a:noFill/>
          <a:ln/>
        </p:spPr>
        <p:txBody>
          <a:bodyPr wrap="square" lIns="0" tIns="0" rIns="0" bIns="0" rtlCol="0" anchor="ctr"/>
          <a:lstStyle/>
          <a:p>
            <a:pPr indent="0" marL="0">
              <a:buNone/>
            </a:pPr>
            <a:r>
              <a:rPr lang="en-US" sz="2000" b="1" dirty="0">
                <a:solidFill>
                  <a:srgbClr val="FFFFFF"/>
                </a:solidFill>
              </a:rPr>
              <a:t>Walkspan AI</a:t>
            </a:r>
            <a:endParaRPr lang="en-US" sz="2000" dirty="0"/>
          </a:p>
        </p:txBody>
      </p:sp>
      <p:sp>
        <p:nvSpPr>
          <p:cNvPr id="16" name="Text 14"/>
          <p:cNvSpPr/>
          <p:nvPr/>
        </p:nvSpPr>
        <p:spPr>
          <a:xfrm>
            <a:off x="4892040" y="1874520"/>
            <a:ext cx="3657600" cy="274320"/>
          </a:xfrm>
          <a:prstGeom prst="rect">
            <a:avLst/>
          </a:prstGeom>
          <a:noFill/>
          <a:ln/>
        </p:spPr>
        <p:txBody>
          <a:bodyPr wrap="square" lIns="0" tIns="0" rIns="0" bIns="0" rtlCol="0" anchor="ctr"/>
          <a:lstStyle/>
          <a:p>
            <a:pPr indent="0" marL="0">
              <a:buNone/>
            </a:pPr>
            <a:r>
              <a:rPr lang="en-US" sz="1100" dirty="0">
                <a:solidFill>
                  <a:srgbClr val="DDD6FE"/>
                </a:solidFill>
              </a:rPr>
              <a:t>Computer Vision — Sidewalk Hazard Detection</a:t>
            </a:r>
            <a:endParaRPr lang="en-US" sz="1100" dirty="0"/>
          </a:p>
        </p:txBody>
      </p:sp>
      <p:sp>
        <p:nvSpPr>
          <p:cNvPr id="17" name="Text 15"/>
          <p:cNvSpPr/>
          <p:nvPr/>
        </p:nvSpPr>
        <p:spPr>
          <a:xfrm>
            <a:off x="4892040" y="2194560"/>
            <a:ext cx="3657600" cy="2468880"/>
          </a:xfrm>
          <a:prstGeom prst="rect">
            <a:avLst/>
          </a:prstGeom>
          <a:noFill/>
          <a:ln/>
        </p:spPr>
        <p:txBody>
          <a:bodyPr wrap="square" lIns="0" tIns="0" rIns="0" bIns="0" rtlCol="0" anchor="ctr"/>
          <a:lstStyle/>
          <a:p>
            <a:pPr indent="0" marL="0">
              <a:buNone/>
            </a:pPr>
            <a:r>
              <a:rPr lang="en-US" sz="1000" dirty="0">
                <a:solidFill>
                  <a:srgbClr val="CBD5E1"/>
                </a:solidFill>
              </a:rPr>
              <a:t>DeepLabV3 + ResNet-50 semantic segmentation for pixel-level pavement crack detection.</a:t>
            </a:r>
            <a:endParaRPr lang="en-US" sz="1000" dirty="0"/>
          </a:p>
          <a:p>
            <a:pPr indent="0" marL="0">
              <a:buNone/>
            </a:pPr>
            <a:endParaRPr lang="en-US" sz="1000" dirty="0"/>
          </a:p>
          <a:p>
            <a:pPr indent="0" marL="0">
              <a:buNone/>
            </a:pPr>
            <a:r>
              <a:rPr lang="en-US" sz="1000" dirty="0">
                <a:solidFill>
                  <a:srgbClr val="CBD5E1"/>
                </a:solidFill>
              </a:rPr>
              <a:t>237+ image-mask pairs processed</a:t>
            </a:r>
            <a:endParaRPr lang="en-US" sz="1000" dirty="0"/>
          </a:p>
          <a:p>
            <a:pPr indent="0" marL="0">
              <a:buNone/>
            </a:pPr>
            <a:r>
              <a:rPr lang="en-US" sz="1000" dirty="0">
                <a:solidFill>
                  <a:srgbClr val="CBD5E1"/>
                </a:solidFill>
              </a:rPr>
              <a:t>46.4% IoU · 59.0% F1 Score</a:t>
            </a:r>
            <a:endParaRPr lang="en-US" sz="1000" dirty="0"/>
          </a:p>
          <a:p>
            <a:pPr indent="0" marL="0">
              <a:buNone/>
            </a:pPr>
            <a:r>
              <a:rPr lang="en-US" sz="1000" dirty="0">
                <a:solidFill>
                  <a:srgbClr val="CBD5E1"/>
                </a:solidFill>
              </a:rPr>
              <a:t>Streamlit visualization dashboard</a:t>
            </a:r>
            <a:endParaRPr lang="en-US" sz="1000" dirty="0"/>
          </a:p>
          <a:p>
            <a:pPr indent="0" marL="0">
              <a:buNone/>
            </a:pPr>
            <a:r>
              <a:rPr lang="en-US" sz="1000" dirty="0">
                <a:solidFill>
                  <a:srgbClr val="CBD5E1"/>
                </a:solidFill>
              </a:rPr>
              <a:t>NSF-aligned proposal narrative</a:t>
            </a:r>
            <a:endParaRPr lang="en-US" sz="1000" dirty="0"/>
          </a:p>
          <a:p>
            <a:pPr indent="0" marL="0">
              <a:buNone/>
            </a:pPr>
            <a:endParaRPr lang="en-US" sz="1000" dirty="0"/>
          </a:p>
          <a:p>
            <a:pPr indent="0" marL="0">
              <a:buNone/>
            </a:pPr>
            <a:r>
              <a:rPr lang="en-US" sz="1000" dirty="0">
                <a:solidFill>
                  <a:srgbClr val="CBD5E1"/>
                </a:solidFill>
              </a:rPr>
              <a:t>CEO Bernardita Calinao: "exceeded expectations" — offered as professional reference.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16</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This Project Taught Me</a:t>
            </a:r>
            <a:endParaRPr lang="en-US" sz="3000" dirty="0"/>
          </a:p>
        </p:txBody>
      </p:sp>
      <p:sp>
        <p:nvSpPr>
          <p:cNvPr id="4" name="Shape 2"/>
          <p:cNvSpPr/>
          <p:nvPr/>
        </p:nvSpPr>
        <p:spPr>
          <a:xfrm>
            <a:off x="457200" y="1005840"/>
            <a:ext cx="4114800" cy="182880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5" name="Shape 3"/>
          <p:cNvSpPr/>
          <p:nvPr/>
        </p:nvSpPr>
        <p:spPr>
          <a:xfrm>
            <a:off x="457200" y="1005840"/>
            <a:ext cx="73152" cy="1828800"/>
          </a:xfrm>
          <a:prstGeom prst="rect">
            <a:avLst/>
          </a:prstGeom>
          <a:solidFill>
            <a:srgbClr val="10B981"/>
          </a:solidFill>
          <a:ln w="12700">
            <a:solidFill>
              <a:srgbClr val="10B981"/>
            </a:solidFill>
            <a:prstDash val="solid"/>
          </a:ln>
        </p:spPr>
      </p:sp>
      <p:sp>
        <p:nvSpPr>
          <p:cNvPr id="6" name="Text 4"/>
          <p:cNvSpPr/>
          <p:nvPr/>
        </p:nvSpPr>
        <p:spPr>
          <a:xfrm>
            <a:off x="621792" y="1143000"/>
            <a:ext cx="3840480" cy="594360"/>
          </a:xfrm>
          <a:prstGeom prst="rect">
            <a:avLst/>
          </a:prstGeom>
          <a:noFill/>
          <a:ln/>
        </p:spPr>
        <p:txBody>
          <a:bodyPr wrap="square" lIns="0" tIns="0" rIns="0" bIns="0" rtlCol="0" anchor="ctr"/>
          <a:lstStyle/>
          <a:p>
            <a:pPr indent="0" marL="0">
              <a:buNone/>
            </a:pPr>
            <a:r>
              <a:rPr lang="en-US" sz="1500" b="1" dirty="0">
                <a:solidFill>
                  <a:srgbClr val="FFFFFF"/>
                </a:solidFill>
              </a:rPr>
              <a:t>Reliability is designed in,</a:t>
            </a:r>
            <a:endParaRPr lang="en-US" sz="1500" dirty="0"/>
          </a:p>
          <a:p>
            <a:pPr indent="0" marL="0">
              <a:buNone/>
            </a:pPr>
            <a:r>
              <a:rPr lang="en-US" sz="1500" b="1" dirty="0">
                <a:solidFill>
                  <a:srgbClr val="FFFFFF"/>
                </a:solidFill>
              </a:rPr>
              <a:t>not tested in.</a:t>
            </a:r>
            <a:endParaRPr lang="en-US" sz="1500" dirty="0"/>
          </a:p>
        </p:txBody>
      </p:sp>
      <p:sp>
        <p:nvSpPr>
          <p:cNvPr id="7" name="Text 5"/>
          <p:cNvSpPr/>
          <p:nvPr/>
        </p:nvSpPr>
        <p:spPr>
          <a:xfrm>
            <a:off x="621792" y="1783080"/>
            <a:ext cx="3840480" cy="960120"/>
          </a:xfrm>
          <a:prstGeom prst="rect">
            <a:avLst/>
          </a:prstGeom>
          <a:noFill/>
          <a:ln/>
        </p:spPr>
        <p:txBody>
          <a:bodyPr wrap="square" lIns="0" tIns="0" rIns="0" bIns="0" rtlCol="0" anchor="ctr"/>
          <a:lstStyle/>
          <a:p>
            <a:pPr indent="0" marL="0">
              <a:buNone/>
            </a:pPr>
            <a:r>
              <a:rPr lang="en-US" sz="1000" dirty="0">
                <a:solidFill>
                  <a:srgbClr val="CBD5E1"/>
                </a:solidFill>
              </a:rPr>
              <a:t>You cannot add reliability at the end. Confidence scoring, fallback behavior, and guardrails were part of the architecture from day one.</a:t>
            </a:r>
            <a:endParaRPr lang="en-US" sz="1000" dirty="0"/>
          </a:p>
        </p:txBody>
      </p:sp>
      <p:sp>
        <p:nvSpPr>
          <p:cNvPr id="8" name="Shape 6"/>
          <p:cNvSpPr/>
          <p:nvPr/>
        </p:nvSpPr>
        <p:spPr>
          <a:xfrm>
            <a:off x="4800600" y="1005840"/>
            <a:ext cx="4114800" cy="182880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9" name="Shape 7"/>
          <p:cNvSpPr/>
          <p:nvPr/>
        </p:nvSpPr>
        <p:spPr>
          <a:xfrm>
            <a:off x="4800600" y="1005840"/>
            <a:ext cx="73152" cy="1828800"/>
          </a:xfrm>
          <a:prstGeom prst="rect">
            <a:avLst/>
          </a:prstGeom>
          <a:solidFill>
            <a:srgbClr val="7C3AED"/>
          </a:solidFill>
          <a:ln w="12700">
            <a:solidFill>
              <a:srgbClr val="7C3AED"/>
            </a:solidFill>
            <a:prstDash val="solid"/>
          </a:ln>
        </p:spPr>
      </p:sp>
      <p:sp>
        <p:nvSpPr>
          <p:cNvPr id="10" name="Text 8"/>
          <p:cNvSpPr/>
          <p:nvPr/>
        </p:nvSpPr>
        <p:spPr>
          <a:xfrm>
            <a:off x="4965192" y="1143000"/>
            <a:ext cx="3840480" cy="594360"/>
          </a:xfrm>
          <a:prstGeom prst="rect">
            <a:avLst/>
          </a:prstGeom>
          <a:noFill/>
          <a:ln/>
        </p:spPr>
        <p:txBody>
          <a:bodyPr wrap="square" lIns="0" tIns="0" rIns="0" bIns="0" rtlCol="0" anchor="ctr"/>
          <a:lstStyle/>
          <a:p>
            <a:pPr indent="0" marL="0">
              <a:buNone/>
            </a:pPr>
            <a:r>
              <a:rPr lang="en-US" sz="1500" b="1" dirty="0">
                <a:solidFill>
                  <a:srgbClr val="FFFFFF"/>
                </a:solidFill>
              </a:rPr>
              <a:t>AI amplifies judgment,</a:t>
            </a:r>
            <a:endParaRPr lang="en-US" sz="1500" dirty="0"/>
          </a:p>
          <a:p>
            <a:pPr indent="0" marL="0">
              <a:buNone/>
            </a:pPr>
            <a:r>
              <a:rPr lang="en-US" sz="1500" b="1" dirty="0">
                <a:solidFill>
                  <a:srgbClr val="FFFFFF"/>
                </a:solidFill>
              </a:rPr>
              <a:t>not replaces it.</a:t>
            </a:r>
            <a:endParaRPr lang="en-US" sz="1500" dirty="0"/>
          </a:p>
        </p:txBody>
      </p:sp>
      <p:sp>
        <p:nvSpPr>
          <p:cNvPr id="11" name="Text 9"/>
          <p:cNvSpPr/>
          <p:nvPr/>
        </p:nvSpPr>
        <p:spPr>
          <a:xfrm>
            <a:off x="4965192" y="1783080"/>
            <a:ext cx="3840480" cy="960120"/>
          </a:xfrm>
          <a:prstGeom prst="rect">
            <a:avLst/>
          </a:prstGeom>
          <a:noFill/>
          <a:ln/>
        </p:spPr>
        <p:txBody>
          <a:bodyPr wrap="square" lIns="0" tIns="0" rIns="0" bIns="0" rtlCol="0" anchor="ctr"/>
          <a:lstStyle/>
          <a:p>
            <a:pPr indent="0" marL="0">
              <a:buNone/>
            </a:pPr>
            <a:r>
              <a:rPr lang="en-US" sz="1000" dirty="0">
                <a:solidFill>
                  <a:srgbClr val="CBD5E1"/>
                </a:solidFill>
              </a:rPr>
              <a:t>The engineers who thrive with AI tools are not the ones who use them most — they are the ones who use them most intentionally.</a:t>
            </a:r>
            <a:endParaRPr lang="en-US" sz="1000" dirty="0"/>
          </a:p>
        </p:txBody>
      </p:sp>
      <p:sp>
        <p:nvSpPr>
          <p:cNvPr id="12" name="Shape 10"/>
          <p:cNvSpPr/>
          <p:nvPr/>
        </p:nvSpPr>
        <p:spPr>
          <a:xfrm>
            <a:off x="457200" y="3017520"/>
            <a:ext cx="4114800" cy="182880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13" name="Shape 11"/>
          <p:cNvSpPr/>
          <p:nvPr/>
        </p:nvSpPr>
        <p:spPr>
          <a:xfrm>
            <a:off x="457200" y="3017520"/>
            <a:ext cx="73152" cy="1828800"/>
          </a:xfrm>
          <a:prstGeom prst="rect">
            <a:avLst/>
          </a:prstGeom>
          <a:solidFill>
            <a:srgbClr val="06B6D4"/>
          </a:solidFill>
          <a:ln w="12700">
            <a:solidFill>
              <a:srgbClr val="06B6D4"/>
            </a:solidFill>
            <a:prstDash val="solid"/>
          </a:ln>
        </p:spPr>
      </p:sp>
      <p:sp>
        <p:nvSpPr>
          <p:cNvPr id="14" name="Text 12"/>
          <p:cNvSpPr/>
          <p:nvPr/>
        </p:nvSpPr>
        <p:spPr>
          <a:xfrm>
            <a:off x="621792" y="3154680"/>
            <a:ext cx="3840480" cy="594360"/>
          </a:xfrm>
          <a:prstGeom prst="rect">
            <a:avLst/>
          </a:prstGeom>
          <a:noFill/>
          <a:ln/>
        </p:spPr>
        <p:txBody>
          <a:bodyPr wrap="square" lIns="0" tIns="0" rIns="0" bIns="0" rtlCol="0" anchor="ctr"/>
          <a:lstStyle/>
          <a:p>
            <a:pPr indent="0" marL="0">
              <a:buNone/>
            </a:pPr>
            <a:r>
              <a:rPr lang="en-US" sz="1500" b="1" dirty="0">
                <a:solidFill>
                  <a:srgbClr val="FFFFFF"/>
                </a:solidFill>
              </a:rPr>
              <a:t>Constraints force</a:t>
            </a:r>
            <a:endParaRPr lang="en-US" sz="1500" dirty="0"/>
          </a:p>
          <a:p>
            <a:pPr indent="0" marL="0">
              <a:buNone/>
            </a:pPr>
            <a:r>
              <a:rPr lang="en-US" sz="1500" b="1" dirty="0">
                <a:solidFill>
                  <a:srgbClr val="FFFFFF"/>
                </a:solidFill>
              </a:rPr>
              <a:t>better decisions.</a:t>
            </a:r>
            <a:endParaRPr lang="en-US" sz="1500" dirty="0"/>
          </a:p>
        </p:txBody>
      </p:sp>
      <p:sp>
        <p:nvSpPr>
          <p:cNvPr id="15" name="Text 13"/>
          <p:cNvSpPr/>
          <p:nvPr/>
        </p:nvSpPr>
        <p:spPr>
          <a:xfrm>
            <a:off x="621792" y="3794760"/>
            <a:ext cx="3840480" cy="960120"/>
          </a:xfrm>
          <a:prstGeom prst="rect">
            <a:avLst/>
          </a:prstGeom>
          <a:noFill/>
          <a:ln/>
        </p:spPr>
        <p:txBody>
          <a:bodyPr wrap="square" lIns="0" tIns="0" rIns="0" bIns="0" rtlCol="0" anchor="ctr"/>
          <a:lstStyle/>
          <a:p>
            <a:pPr indent="0" marL="0">
              <a:buNone/>
            </a:pPr>
            <a:r>
              <a:rPr lang="en-US" sz="1000" dirty="0">
                <a:solidFill>
                  <a:srgbClr val="CBD5E1"/>
                </a:solidFill>
              </a:rPr>
              <a:t>A small dataset, single engineer, compressed timeline — these produced explainability over opacity, clarity over complexity.</a:t>
            </a:r>
            <a:endParaRPr lang="en-US" sz="1000" dirty="0"/>
          </a:p>
        </p:txBody>
      </p:sp>
      <p:sp>
        <p:nvSpPr>
          <p:cNvPr id="16" name="Shape 14"/>
          <p:cNvSpPr/>
          <p:nvPr/>
        </p:nvSpPr>
        <p:spPr>
          <a:xfrm>
            <a:off x="4800600" y="3017520"/>
            <a:ext cx="4114800" cy="1828800"/>
          </a:xfrm>
          <a:prstGeom prst="rect">
            <a:avLst/>
          </a:prstGeom>
          <a:solidFill>
            <a:srgbClr val="1A1A2E"/>
          </a:solidFill>
          <a:ln w="12700">
            <a:solidFill>
              <a:srgbClr val="F59E0B"/>
            </a:solidFill>
            <a:prstDash val="solid"/>
          </a:ln>
          <a:effectLst>
            <a:outerShdw sx="100000" sy="100000" kx="0" ky="0" algn="bl" rotWithShape="0" blurRad="152400" dist="50800" dir="8100000">
              <a:srgbClr val="000000">
                <a:alpha val="30000"/>
              </a:srgbClr>
            </a:outerShdw>
          </a:effectLst>
        </p:spPr>
      </p:sp>
      <p:sp>
        <p:nvSpPr>
          <p:cNvPr id="17" name="Shape 15"/>
          <p:cNvSpPr/>
          <p:nvPr/>
        </p:nvSpPr>
        <p:spPr>
          <a:xfrm>
            <a:off x="4800600" y="3017520"/>
            <a:ext cx="73152" cy="1828800"/>
          </a:xfrm>
          <a:prstGeom prst="rect">
            <a:avLst/>
          </a:prstGeom>
          <a:solidFill>
            <a:srgbClr val="F59E0B"/>
          </a:solidFill>
          <a:ln w="12700">
            <a:solidFill>
              <a:srgbClr val="F59E0B"/>
            </a:solidFill>
            <a:prstDash val="solid"/>
          </a:ln>
        </p:spPr>
      </p:sp>
      <p:sp>
        <p:nvSpPr>
          <p:cNvPr id="18" name="Text 16"/>
          <p:cNvSpPr/>
          <p:nvPr/>
        </p:nvSpPr>
        <p:spPr>
          <a:xfrm>
            <a:off x="4965192" y="3154680"/>
            <a:ext cx="3840480" cy="594360"/>
          </a:xfrm>
          <a:prstGeom prst="rect">
            <a:avLst/>
          </a:prstGeom>
          <a:noFill/>
          <a:ln/>
        </p:spPr>
        <p:txBody>
          <a:bodyPr wrap="square" lIns="0" tIns="0" rIns="0" bIns="0" rtlCol="0" anchor="ctr"/>
          <a:lstStyle/>
          <a:p>
            <a:pPr indent="0" marL="0">
              <a:buNone/>
            </a:pPr>
            <a:r>
              <a:rPr lang="en-US" sz="1500" b="1" dirty="0">
                <a:solidFill>
                  <a:srgbClr val="FFFFFF"/>
                </a:solidFill>
              </a:rPr>
              <a:t>Trust is built through</a:t>
            </a:r>
            <a:endParaRPr lang="en-US" sz="1500" dirty="0"/>
          </a:p>
          <a:p>
            <a:pPr indent="0" marL="0">
              <a:buNone/>
            </a:pPr>
            <a:r>
              <a:rPr lang="en-US" sz="1500" b="1" dirty="0">
                <a:solidFill>
                  <a:srgbClr val="FFFFFF"/>
                </a:solidFill>
              </a:rPr>
              <a:t>transparency.</a:t>
            </a:r>
            <a:endParaRPr lang="en-US" sz="1500" dirty="0"/>
          </a:p>
        </p:txBody>
      </p:sp>
      <p:sp>
        <p:nvSpPr>
          <p:cNvPr id="19" name="Text 17"/>
          <p:cNvSpPr/>
          <p:nvPr/>
        </p:nvSpPr>
        <p:spPr>
          <a:xfrm>
            <a:off x="4965192" y="3794760"/>
            <a:ext cx="3840480" cy="960120"/>
          </a:xfrm>
          <a:prstGeom prst="rect">
            <a:avLst/>
          </a:prstGeom>
          <a:noFill/>
          <a:ln/>
        </p:spPr>
        <p:txBody>
          <a:bodyPr wrap="square" lIns="0" tIns="0" rIns="0" bIns="0" rtlCol="0" anchor="ctr"/>
          <a:lstStyle/>
          <a:p>
            <a:pPr indent="0" marL="0">
              <a:buNone/>
            </a:pPr>
            <a:r>
              <a:rPr lang="en-US" sz="1000" dirty="0">
                <a:solidFill>
                  <a:srgbClr val="CBD5E1"/>
                </a:solidFill>
              </a:rPr>
              <a:t>A system that shows its work earns more trust than one that delivers answers from nowhere. Explainability is not optional.</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17</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Future of Engineering</a:t>
            </a:r>
            <a:endParaRPr lang="en-US" sz="3000" dirty="0"/>
          </a:p>
        </p:txBody>
      </p:sp>
      <p:sp>
        <p:nvSpPr>
          <p:cNvPr id="4" name="Shape 2"/>
          <p:cNvSpPr/>
          <p:nvPr/>
        </p:nvSpPr>
        <p:spPr>
          <a:xfrm>
            <a:off x="457200" y="914400"/>
            <a:ext cx="3840480" cy="3749040"/>
          </a:xfrm>
          <a:prstGeom prst="rect">
            <a:avLst/>
          </a:prstGeom>
          <a:solidFill>
            <a:srgbClr val="1A1A2E"/>
          </a:solidFill>
          <a:ln w="12700">
            <a:solidFill>
              <a:srgbClr val="94A3B8"/>
            </a:solidFill>
            <a:prstDash val="solid"/>
          </a:ln>
          <a:effectLst>
            <a:outerShdw sx="100000" sy="100000" kx="0" ky="0" algn="bl" rotWithShape="0" blurRad="152400" dist="50800" dir="8100000">
              <a:srgbClr val="000000">
                <a:alpha val="30000"/>
              </a:srgbClr>
            </a:outerShdw>
          </a:effectLst>
        </p:spPr>
      </p:sp>
      <p:sp>
        <p:nvSpPr>
          <p:cNvPr id="5" name="Shape 3"/>
          <p:cNvSpPr/>
          <p:nvPr/>
        </p:nvSpPr>
        <p:spPr>
          <a:xfrm>
            <a:off x="457200" y="914400"/>
            <a:ext cx="3840480" cy="347472"/>
          </a:xfrm>
          <a:prstGeom prst="rect">
            <a:avLst/>
          </a:prstGeom>
          <a:solidFill>
            <a:srgbClr val="94A3B8">
              <a:alpha val="70000"/>
            </a:srgbClr>
          </a:solidFill>
          <a:ln w="12700">
            <a:solidFill>
              <a:srgbClr val="94A3B8"/>
            </a:solidFill>
            <a:prstDash val="solid"/>
          </a:ln>
        </p:spPr>
      </p:sp>
      <p:sp>
        <p:nvSpPr>
          <p:cNvPr id="6" name="Text 4"/>
          <p:cNvSpPr/>
          <p:nvPr/>
        </p:nvSpPr>
        <p:spPr>
          <a:xfrm>
            <a:off x="594360" y="914400"/>
            <a:ext cx="3566160" cy="347472"/>
          </a:xfrm>
          <a:prstGeom prst="rect">
            <a:avLst/>
          </a:prstGeom>
          <a:noFill/>
          <a:ln/>
        </p:spPr>
        <p:txBody>
          <a:bodyPr wrap="square" lIns="0" tIns="0" rIns="0" bIns="0" rtlCol="0" anchor="ctr"/>
          <a:lstStyle/>
          <a:p>
            <a:pPr indent="0" marL="0">
              <a:buNone/>
            </a:pPr>
            <a:r>
              <a:rPr lang="en-US" sz="1400" b="1" dirty="0">
                <a:solidFill>
                  <a:srgbClr val="FFFFFF"/>
                </a:solidFill>
              </a:rPr>
              <a:t>Old Model</a:t>
            </a:r>
            <a:endParaRPr lang="en-US" sz="1400" dirty="0"/>
          </a:p>
        </p:txBody>
      </p:sp>
      <p:sp>
        <p:nvSpPr>
          <p:cNvPr id="7" name="Text 5"/>
          <p:cNvSpPr/>
          <p:nvPr/>
        </p:nvSpPr>
        <p:spPr>
          <a:xfrm>
            <a:off x="594360" y="1417320"/>
            <a:ext cx="3566160" cy="411480"/>
          </a:xfrm>
          <a:prstGeom prst="rect">
            <a:avLst/>
          </a:prstGeom>
          <a:noFill/>
          <a:ln/>
        </p:spPr>
        <p:txBody>
          <a:bodyPr wrap="square" lIns="0" tIns="0" rIns="0" bIns="0" rtlCol="0" anchor="ctr"/>
          <a:lstStyle/>
          <a:p>
            <a:pPr indent="0" marL="0">
              <a:buNone/>
            </a:pPr>
            <a:r>
              <a:rPr lang="en-US" sz="1100" dirty="0">
                <a:solidFill>
                  <a:srgbClr val="94A3B8"/>
                </a:solidFill>
              </a:rPr>
              <a:t>✗  Write every line manually</a:t>
            </a:r>
            <a:endParaRPr lang="en-US" sz="1100" dirty="0"/>
          </a:p>
        </p:txBody>
      </p:sp>
      <p:sp>
        <p:nvSpPr>
          <p:cNvPr id="8" name="Text 6"/>
          <p:cNvSpPr/>
          <p:nvPr/>
        </p:nvSpPr>
        <p:spPr>
          <a:xfrm>
            <a:off x="594360" y="1920240"/>
            <a:ext cx="3566160" cy="411480"/>
          </a:xfrm>
          <a:prstGeom prst="rect">
            <a:avLst/>
          </a:prstGeom>
          <a:noFill/>
          <a:ln/>
        </p:spPr>
        <p:txBody>
          <a:bodyPr wrap="square" lIns="0" tIns="0" rIns="0" bIns="0" rtlCol="0" anchor="ctr"/>
          <a:lstStyle/>
          <a:p>
            <a:pPr indent="0" marL="0">
              <a:buNone/>
            </a:pPr>
            <a:r>
              <a:rPr lang="en-US" sz="1100" dirty="0">
                <a:solidFill>
                  <a:srgbClr val="94A3B8"/>
                </a:solidFill>
              </a:rPr>
              <a:t>✗  AI as autocomplete</a:t>
            </a:r>
            <a:endParaRPr lang="en-US" sz="1100" dirty="0"/>
          </a:p>
        </p:txBody>
      </p:sp>
      <p:sp>
        <p:nvSpPr>
          <p:cNvPr id="9" name="Text 7"/>
          <p:cNvSpPr/>
          <p:nvPr/>
        </p:nvSpPr>
        <p:spPr>
          <a:xfrm>
            <a:off x="594360" y="2423160"/>
            <a:ext cx="3566160" cy="411480"/>
          </a:xfrm>
          <a:prstGeom prst="rect">
            <a:avLst/>
          </a:prstGeom>
          <a:noFill/>
          <a:ln/>
        </p:spPr>
        <p:txBody>
          <a:bodyPr wrap="square" lIns="0" tIns="0" rIns="0" bIns="0" rtlCol="0" anchor="ctr"/>
          <a:lstStyle/>
          <a:p>
            <a:pPr indent="0" marL="0">
              <a:buNone/>
            </a:pPr>
            <a:r>
              <a:rPr lang="en-US" sz="1100" dirty="0">
                <a:solidFill>
                  <a:srgbClr val="94A3B8"/>
                </a:solidFill>
              </a:rPr>
              <a:t>✗  Ship fast, fix later</a:t>
            </a:r>
            <a:endParaRPr lang="en-US" sz="1100" dirty="0"/>
          </a:p>
        </p:txBody>
      </p:sp>
      <p:sp>
        <p:nvSpPr>
          <p:cNvPr id="10" name="Text 8"/>
          <p:cNvSpPr/>
          <p:nvPr/>
        </p:nvSpPr>
        <p:spPr>
          <a:xfrm>
            <a:off x="594360" y="2926080"/>
            <a:ext cx="3566160" cy="411480"/>
          </a:xfrm>
          <a:prstGeom prst="rect">
            <a:avLst/>
          </a:prstGeom>
          <a:noFill/>
          <a:ln/>
        </p:spPr>
        <p:txBody>
          <a:bodyPr wrap="square" lIns="0" tIns="0" rIns="0" bIns="0" rtlCol="0" anchor="ctr"/>
          <a:lstStyle/>
          <a:p>
            <a:pPr indent="0" marL="0">
              <a:buNone/>
            </a:pPr>
            <a:r>
              <a:rPr lang="en-US" sz="1100" dirty="0">
                <a:solidFill>
                  <a:srgbClr val="94A3B8"/>
                </a:solidFill>
              </a:rPr>
              <a:t>✗  Features as the product</a:t>
            </a:r>
            <a:endParaRPr lang="en-US" sz="1100" dirty="0"/>
          </a:p>
        </p:txBody>
      </p:sp>
      <p:sp>
        <p:nvSpPr>
          <p:cNvPr id="11" name="Text 9"/>
          <p:cNvSpPr/>
          <p:nvPr/>
        </p:nvSpPr>
        <p:spPr>
          <a:xfrm>
            <a:off x="594360" y="3429000"/>
            <a:ext cx="3566160" cy="411480"/>
          </a:xfrm>
          <a:prstGeom prst="rect">
            <a:avLst/>
          </a:prstGeom>
          <a:noFill/>
          <a:ln/>
        </p:spPr>
        <p:txBody>
          <a:bodyPr wrap="square" lIns="0" tIns="0" rIns="0" bIns="0" rtlCol="0" anchor="ctr"/>
          <a:lstStyle/>
          <a:p>
            <a:pPr indent="0" marL="0">
              <a:buNone/>
            </a:pPr>
            <a:r>
              <a:rPr lang="en-US" sz="1100" dirty="0">
                <a:solidFill>
                  <a:srgbClr val="94A3B8"/>
                </a:solidFill>
              </a:rPr>
              <a:t>✗  Prompting for output</a:t>
            </a:r>
            <a:endParaRPr lang="en-US" sz="1100" dirty="0"/>
          </a:p>
        </p:txBody>
      </p:sp>
      <p:sp>
        <p:nvSpPr>
          <p:cNvPr id="12" name="Text 10"/>
          <p:cNvSpPr/>
          <p:nvPr/>
        </p:nvSpPr>
        <p:spPr>
          <a:xfrm>
            <a:off x="4389120" y="2468880"/>
            <a:ext cx="365760" cy="457200"/>
          </a:xfrm>
          <a:prstGeom prst="rect">
            <a:avLst/>
          </a:prstGeom>
          <a:noFill/>
          <a:ln/>
        </p:spPr>
        <p:txBody>
          <a:bodyPr wrap="square" rtlCol="0" anchor="ctr"/>
          <a:lstStyle/>
          <a:p>
            <a:pPr algn="ctr" indent="0" marL="0">
              <a:buNone/>
            </a:pPr>
            <a:r>
              <a:rPr lang="en-US" sz="2800" b="1" dirty="0">
                <a:solidFill>
                  <a:srgbClr val="7C3AED"/>
                </a:solidFill>
              </a:rPr>
              <a:t>→</a:t>
            </a:r>
            <a:endParaRPr lang="en-US" sz="2800" dirty="0"/>
          </a:p>
        </p:txBody>
      </p:sp>
      <p:sp>
        <p:nvSpPr>
          <p:cNvPr id="13" name="Shape 11"/>
          <p:cNvSpPr/>
          <p:nvPr/>
        </p:nvSpPr>
        <p:spPr>
          <a:xfrm>
            <a:off x="4846320" y="914400"/>
            <a:ext cx="3840480" cy="374904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14" name="Shape 12"/>
          <p:cNvSpPr/>
          <p:nvPr/>
        </p:nvSpPr>
        <p:spPr>
          <a:xfrm>
            <a:off x="4846320" y="914400"/>
            <a:ext cx="3840480" cy="347472"/>
          </a:xfrm>
          <a:prstGeom prst="rect">
            <a:avLst/>
          </a:prstGeom>
          <a:solidFill>
            <a:srgbClr val="7C3AED">
              <a:alpha val="85000"/>
            </a:srgbClr>
          </a:solidFill>
          <a:ln w="12700">
            <a:solidFill>
              <a:srgbClr val="7C3AED"/>
            </a:solidFill>
            <a:prstDash val="solid"/>
          </a:ln>
        </p:spPr>
      </p:sp>
      <p:sp>
        <p:nvSpPr>
          <p:cNvPr id="15" name="Text 13"/>
          <p:cNvSpPr/>
          <p:nvPr/>
        </p:nvSpPr>
        <p:spPr>
          <a:xfrm>
            <a:off x="4983480" y="914400"/>
            <a:ext cx="3566160" cy="347472"/>
          </a:xfrm>
          <a:prstGeom prst="rect">
            <a:avLst/>
          </a:prstGeom>
          <a:noFill/>
          <a:ln/>
        </p:spPr>
        <p:txBody>
          <a:bodyPr wrap="square" lIns="0" tIns="0" rIns="0" bIns="0" rtlCol="0" anchor="ctr"/>
          <a:lstStyle/>
          <a:p>
            <a:pPr indent="0" marL="0">
              <a:buNone/>
            </a:pPr>
            <a:r>
              <a:rPr lang="en-US" sz="1400" b="1" dirty="0">
                <a:solidFill>
                  <a:srgbClr val="FFFFFF"/>
                </a:solidFill>
              </a:rPr>
              <a:t>New Model</a:t>
            </a:r>
            <a:endParaRPr lang="en-US" sz="1400" dirty="0"/>
          </a:p>
        </p:txBody>
      </p:sp>
      <p:sp>
        <p:nvSpPr>
          <p:cNvPr id="16" name="Text 14"/>
          <p:cNvSpPr/>
          <p:nvPr/>
        </p:nvSpPr>
        <p:spPr>
          <a:xfrm>
            <a:off x="4983480" y="1417320"/>
            <a:ext cx="3566160" cy="411480"/>
          </a:xfrm>
          <a:prstGeom prst="rect">
            <a:avLst/>
          </a:prstGeom>
          <a:noFill/>
          <a:ln/>
        </p:spPr>
        <p:txBody>
          <a:bodyPr wrap="square" lIns="0" tIns="0" rIns="0" bIns="0" rtlCol="0" anchor="ctr"/>
          <a:lstStyle/>
          <a:p>
            <a:pPr indent="0" marL="0">
              <a:buNone/>
            </a:pPr>
            <a:r>
              <a:rPr lang="en-US" sz="1100" dirty="0">
                <a:solidFill>
                  <a:srgbClr val="10B981"/>
                </a:solidFill>
              </a:rPr>
              <a:t>✓  Architect systems, supervise execution</a:t>
            </a:r>
            <a:endParaRPr lang="en-US" sz="1100" dirty="0"/>
          </a:p>
        </p:txBody>
      </p:sp>
      <p:sp>
        <p:nvSpPr>
          <p:cNvPr id="17" name="Text 15"/>
          <p:cNvSpPr/>
          <p:nvPr/>
        </p:nvSpPr>
        <p:spPr>
          <a:xfrm>
            <a:off x="4983480" y="1920240"/>
            <a:ext cx="3566160" cy="411480"/>
          </a:xfrm>
          <a:prstGeom prst="rect">
            <a:avLst/>
          </a:prstGeom>
          <a:noFill/>
          <a:ln/>
        </p:spPr>
        <p:txBody>
          <a:bodyPr wrap="square" lIns="0" tIns="0" rIns="0" bIns="0" rtlCol="0" anchor="ctr"/>
          <a:lstStyle/>
          <a:p>
            <a:pPr indent="0" marL="0">
              <a:buNone/>
            </a:pPr>
            <a:r>
              <a:rPr lang="en-US" sz="1100" dirty="0">
                <a:solidFill>
                  <a:srgbClr val="10B981"/>
                </a:solidFill>
              </a:rPr>
              <a:t>✓  AI as engineering collaborator</a:t>
            </a:r>
            <a:endParaRPr lang="en-US" sz="1100" dirty="0"/>
          </a:p>
        </p:txBody>
      </p:sp>
      <p:sp>
        <p:nvSpPr>
          <p:cNvPr id="18" name="Text 16"/>
          <p:cNvSpPr/>
          <p:nvPr/>
        </p:nvSpPr>
        <p:spPr>
          <a:xfrm>
            <a:off x="4983480" y="2423160"/>
            <a:ext cx="3566160" cy="411480"/>
          </a:xfrm>
          <a:prstGeom prst="rect">
            <a:avLst/>
          </a:prstGeom>
          <a:noFill/>
          <a:ln/>
        </p:spPr>
        <p:txBody>
          <a:bodyPr wrap="square" lIns="0" tIns="0" rIns="0" bIns="0" rtlCol="0" anchor="ctr"/>
          <a:lstStyle/>
          <a:p>
            <a:pPr indent="0" marL="0">
              <a:buNone/>
            </a:pPr>
            <a:r>
              <a:rPr lang="en-US" sz="1100" dirty="0">
                <a:solidFill>
                  <a:srgbClr val="10B981"/>
                </a:solidFill>
              </a:rPr>
              <a:t>✓  Verify each phase, hold quality gates</a:t>
            </a:r>
            <a:endParaRPr lang="en-US" sz="1100" dirty="0"/>
          </a:p>
        </p:txBody>
      </p:sp>
      <p:sp>
        <p:nvSpPr>
          <p:cNvPr id="19" name="Text 17"/>
          <p:cNvSpPr/>
          <p:nvPr/>
        </p:nvSpPr>
        <p:spPr>
          <a:xfrm>
            <a:off x="4983480" y="2926080"/>
            <a:ext cx="3566160" cy="411480"/>
          </a:xfrm>
          <a:prstGeom prst="rect">
            <a:avLst/>
          </a:prstGeom>
          <a:noFill/>
          <a:ln/>
        </p:spPr>
        <p:txBody>
          <a:bodyPr wrap="square" lIns="0" tIns="0" rIns="0" bIns="0" rtlCol="0" anchor="ctr"/>
          <a:lstStyle/>
          <a:p>
            <a:pPr indent="0" marL="0">
              <a:buNone/>
            </a:pPr>
            <a:r>
              <a:rPr lang="en-US" sz="1100" dirty="0">
                <a:solidFill>
                  <a:srgbClr val="10B981"/>
                </a:solidFill>
              </a:rPr>
              <a:t>✓  Architecture as the foundation</a:t>
            </a:r>
            <a:endParaRPr lang="en-US" sz="1100" dirty="0"/>
          </a:p>
        </p:txBody>
      </p:sp>
      <p:sp>
        <p:nvSpPr>
          <p:cNvPr id="20" name="Text 18"/>
          <p:cNvSpPr/>
          <p:nvPr/>
        </p:nvSpPr>
        <p:spPr>
          <a:xfrm>
            <a:off x="4983480" y="3429000"/>
            <a:ext cx="3566160" cy="411480"/>
          </a:xfrm>
          <a:prstGeom prst="rect">
            <a:avLst/>
          </a:prstGeom>
          <a:noFill/>
          <a:ln/>
        </p:spPr>
        <p:txBody>
          <a:bodyPr wrap="square" lIns="0" tIns="0" rIns="0" bIns="0" rtlCol="0" anchor="ctr"/>
          <a:lstStyle/>
          <a:p>
            <a:pPr indent="0" marL="0">
              <a:buNone/>
            </a:pPr>
            <a:r>
              <a:rPr lang="en-US" sz="1100" dirty="0">
                <a:solidFill>
                  <a:srgbClr val="10B981"/>
                </a:solidFill>
              </a:rPr>
              <a:t>✓  Prompting for engineering behavior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18</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Comes Next</a:t>
            </a:r>
            <a:endParaRPr lang="en-US" sz="3000" dirty="0"/>
          </a:p>
        </p:txBody>
      </p:sp>
      <p:sp>
        <p:nvSpPr>
          <p:cNvPr id="4" name="Shape 2"/>
          <p:cNvSpPr/>
          <p:nvPr/>
        </p:nvSpPr>
        <p:spPr>
          <a:xfrm>
            <a:off x="457200" y="1005840"/>
            <a:ext cx="8229600" cy="576072"/>
          </a:xfrm>
          <a:prstGeom prst="rect">
            <a:avLst/>
          </a:prstGeom>
          <a:solidFill>
            <a:srgbClr val="1A1A2E"/>
          </a:solidFill>
          <a:ln w="12700">
            <a:solidFill>
              <a:srgbClr val="10B981"/>
            </a:solidFill>
            <a:prstDash val="solid"/>
          </a:ln>
        </p:spPr>
      </p:sp>
      <p:sp>
        <p:nvSpPr>
          <p:cNvPr id="5" name="Shape 3"/>
          <p:cNvSpPr/>
          <p:nvPr/>
        </p:nvSpPr>
        <p:spPr>
          <a:xfrm>
            <a:off x="457200" y="1005840"/>
            <a:ext cx="64008" cy="576072"/>
          </a:xfrm>
          <a:prstGeom prst="rect">
            <a:avLst/>
          </a:prstGeom>
          <a:solidFill>
            <a:srgbClr val="10B981"/>
          </a:solidFill>
          <a:ln w="12700">
            <a:solidFill>
              <a:srgbClr val="10B981"/>
            </a:solidFill>
            <a:prstDash val="solid"/>
          </a:ln>
        </p:spPr>
      </p:sp>
      <p:sp>
        <p:nvSpPr>
          <p:cNvPr id="6" name="Shape 4"/>
          <p:cNvSpPr/>
          <p:nvPr/>
        </p:nvSpPr>
        <p:spPr>
          <a:xfrm>
            <a:off x="7726680" y="1161288"/>
            <a:ext cx="530352" cy="256032"/>
          </a:xfrm>
          <a:prstGeom prst="roundRect">
            <a:avLst>
              <a:gd name="adj" fmla="val 14286"/>
            </a:avLst>
          </a:prstGeom>
          <a:solidFill>
            <a:srgbClr val="7C3AED">
              <a:alpha val="80000"/>
            </a:srgbClr>
          </a:solidFill>
          <a:ln w="12700">
            <a:solidFill>
              <a:srgbClr val="7C3AED"/>
            </a:solidFill>
            <a:prstDash val="solid"/>
          </a:ln>
        </p:spPr>
      </p:sp>
      <p:sp>
        <p:nvSpPr>
          <p:cNvPr id="7" name="Text 5"/>
          <p:cNvSpPr/>
          <p:nvPr/>
        </p:nvSpPr>
        <p:spPr>
          <a:xfrm>
            <a:off x="7726680" y="1161288"/>
            <a:ext cx="530352" cy="256032"/>
          </a:xfrm>
          <a:prstGeom prst="rect">
            <a:avLst/>
          </a:prstGeom>
          <a:noFill/>
          <a:ln/>
        </p:spPr>
        <p:txBody>
          <a:bodyPr wrap="square" lIns="0" tIns="0" rIns="0" bIns="0" rtlCol="0" anchor="ctr"/>
          <a:lstStyle/>
          <a:p>
            <a:pPr algn="ctr" indent="0" marL="0">
              <a:buNone/>
            </a:pPr>
            <a:r>
              <a:rPr lang="en-US" sz="900" b="1" dirty="0">
                <a:solidFill>
                  <a:srgbClr val="FFFFFF"/>
                </a:solidFill>
              </a:rPr>
              <a:t>High</a:t>
            </a:r>
            <a:endParaRPr lang="en-US" sz="900" dirty="0"/>
          </a:p>
        </p:txBody>
      </p:sp>
      <p:sp>
        <p:nvSpPr>
          <p:cNvPr id="8" name="Text 6"/>
          <p:cNvSpPr/>
          <p:nvPr/>
        </p:nvSpPr>
        <p:spPr>
          <a:xfrm>
            <a:off x="658368" y="1051560"/>
            <a:ext cx="6858000" cy="256032"/>
          </a:xfrm>
          <a:prstGeom prst="rect">
            <a:avLst/>
          </a:prstGeom>
          <a:noFill/>
          <a:ln/>
        </p:spPr>
        <p:txBody>
          <a:bodyPr wrap="square" lIns="0" tIns="0" rIns="0" bIns="0" rtlCol="0" anchor="ctr"/>
          <a:lstStyle/>
          <a:p>
            <a:pPr indent="0" marL="0">
              <a:buNone/>
            </a:pPr>
            <a:r>
              <a:rPr lang="en-US" sz="1200" b="1" dirty="0">
                <a:solidFill>
                  <a:srgbClr val="FFFFFF"/>
                </a:solidFill>
              </a:rPr>
              <a:t>Spotify OAuth + Playback</a:t>
            </a:r>
            <a:endParaRPr lang="en-US" sz="1200" dirty="0"/>
          </a:p>
        </p:txBody>
      </p:sp>
      <p:sp>
        <p:nvSpPr>
          <p:cNvPr id="9" name="Text 7"/>
          <p:cNvSpPr/>
          <p:nvPr/>
        </p:nvSpPr>
        <p:spPr>
          <a:xfrm>
            <a:off x="658368" y="1307592"/>
            <a:ext cx="6858000" cy="228600"/>
          </a:xfrm>
          <a:prstGeom prst="rect">
            <a:avLst/>
          </a:prstGeom>
          <a:noFill/>
          <a:ln/>
        </p:spPr>
        <p:txBody>
          <a:bodyPr wrap="square" lIns="0" tIns="0" rIns="0" bIns="0" rtlCol="0" anchor="ctr"/>
          <a:lstStyle/>
          <a:p>
            <a:pPr indent="0" marL="0">
              <a:buNone/>
            </a:pPr>
            <a:r>
              <a:rPr lang="en-US" sz="950" dirty="0">
                <a:solidFill>
                  <a:srgbClr val="CBD5E1"/>
                </a:solidFill>
              </a:rPr>
              <a:t>Full real-time playback integration with listening history sync</a:t>
            </a:r>
            <a:endParaRPr lang="en-US" sz="950" dirty="0"/>
          </a:p>
        </p:txBody>
      </p:sp>
      <p:sp>
        <p:nvSpPr>
          <p:cNvPr id="10" name="Shape 8"/>
          <p:cNvSpPr/>
          <p:nvPr/>
        </p:nvSpPr>
        <p:spPr>
          <a:xfrm>
            <a:off x="457200" y="1673352"/>
            <a:ext cx="8229600" cy="576072"/>
          </a:xfrm>
          <a:prstGeom prst="rect">
            <a:avLst/>
          </a:prstGeom>
          <a:solidFill>
            <a:srgbClr val="1A1A2E"/>
          </a:solidFill>
          <a:ln w="12700">
            <a:solidFill>
              <a:srgbClr val="7C3AED"/>
            </a:solidFill>
            <a:prstDash val="solid"/>
          </a:ln>
        </p:spPr>
      </p:sp>
      <p:sp>
        <p:nvSpPr>
          <p:cNvPr id="11" name="Shape 9"/>
          <p:cNvSpPr/>
          <p:nvPr/>
        </p:nvSpPr>
        <p:spPr>
          <a:xfrm>
            <a:off x="457200" y="1673352"/>
            <a:ext cx="64008" cy="576072"/>
          </a:xfrm>
          <a:prstGeom prst="rect">
            <a:avLst/>
          </a:prstGeom>
          <a:solidFill>
            <a:srgbClr val="7C3AED"/>
          </a:solidFill>
          <a:ln w="12700">
            <a:solidFill>
              <a:srgbClr val="7C3AED"/>
            </a:solidFill>
            <a:prstDash val="solid"/>
          </a:ln>
        </p:spPr>
      </p:sp>
      <p:sp>
        <p:nvSpPr>
          <p:cNvPr id="12" name="Shape 10"/>
          <p:cNvSpPr/>
          <p:nvPr/>
        </p:nvSpPr>
        <p:spPr>
          <a:xfrm>
            <a:off x="7726680" y="1828800"/>
            <a:ext cx="530352" cy="256032"/>
          </a:xfrm>
          <a:prstGeom prst="roundRect">
            <a:avLst>
              <a:gd name="adj" fmla="val 14286"/>
            </a:avLst>
          </a:prstGeom>
          <a:solidFill>
            <a:srgbClr val="7C3AED">
              <a:alpha val="80000"/>
            </a:srgbClr>
          </a:solidFill>
          <a:ln w="12700">
            <a:solidFill>
              <a:srgbClr val="7C3AED"/>
            </a:solidFill>
            <a:prstDash val="solid"/>
          </a:ln>
        </p:spPr>
      </p:sp>
      <p:sp>
        <p:nvSpPr>
          <p:cNvPr id="13" name="Text 11"/>
          <p:cNvSpPr/>
          <p:nvPr/>
        </p:nvSpPr>
        <p:spPr>
          <a:xfrm>
            <a:off x="7726680" y="1828800"/>
            <a:ext cx="530352" cy="256032"/>
          </a:xfrm>
          <a:prstGeom prst="rect">
            <a:avLst/>
          </a:prstGeom>
          <a:noFill/>
          <a:ln/>
        </p:spPr>
        <p:txBody>
          <a:bodyPr wrap="square" lIns="0" tIns="0" rIns="0" bIns="0" rtlCol="0" anchor="ctr"/>
          <a:lstStyle/>
          <a:p>
            <a:pPr algn="ctr" indent="0" marL="0">
              <a:buNone/>
            </a:pPr>
            <a:r>
              <a:rPr lang="en-US" sz="900" b="1" dirty="0">
                <a:solidFill>
                  <a:srgbClr val="FFFFFF"/>
                </a:solidFill>
              </a:rPr>
              <a:t>High</a:t>
            </a:r>
            <a:endParaRPr lang="en-US" sz="900" dirty="0"/>
          </a:p>
        </p:txBody>
      </p:sp>
      <p:sp>
        <p:nvSpPr>
          <p:cNvPr id="14" name="Text 12"/>
          <p:cNvSpPr/>
          <p:nvPr/>
        </p:nvSpPr>
        <p:spPr>
          <a:xfrm>
            <a:off x="658368" y="1719072"/>
            <a:ext cx="6858000" cy="256032"/>
          </a:xfrm>
          <a:prstGeom prst="rect">
            <a:avLst/>
          </a:prstGeom>
          <a:noFill/>
          <a:ln/>
        </p:spPr>
        <p:txBody>
          <a:bodyPr wrap="square" lIns="0" tIns="0" rIns="0" bIns="0" rtlCol="0" anchor="ctr"/>
          <a:lstStyle/>
          <a:p>
            <a:pPr indent="0" marL="0">
              <a:buNone/>
            </a:pPr>
            <a:r>
              <a:rPr lang="en-US" sz="1200" b="1" dirty="0">
                <a:solidFill>
                  <a:srgbClr val="FFFFFF"/>
                </a:solidFill>
              </a:rPr>
              <a:t>Vector Embedding Retrieval</a:t>
            </a:r>
            <a:endParaRPr lang="en-US" sz="1200" dirty="0"/>
          </a:p>
        </p:txBody>
      </p:sp>
      <p:sp>
        <p:nvSpPr>
          <p:cNvPr id="15" name="Text 13"/>
          <p:cNvSpPr/>
          <p:nvPr/>
        </p:nvSpPr>
        <p:spPr>
          <a:xfrm>
            <a:off x="658368" y="1975104"/>
            <a:ext cx="6858000" cy="228600"/>
          </a:xfrm>
          <a:prstGeom prst="rect">
            <a:avLst/>
          </a:prstGeom>
          <a:noFill/>
          <a:ln/>
        </p:spPr>
        <p:txBody>
          <a:bodyPr wrap="square" lIns="0" tIns="0" rIns="0" bIns="0" rtlCol="0" anchor="ctr"/>
          <a:lstStyle/>
          <a:p>
            <a:pPr indent="0" marL="0">
              <a:buNone/>
            </a:pPr>
            <a:r>
              <a:rPr lang="en-US" sz="950" dirty="0">
                <a:solidFill>
                  <a:srgbClr val="CBD5E1"/>
                </a:solidFill>
              </a:rPr>
              <a:t>Semantic similarity via embedding models — richer matching</a:t>
            </a:r>
            <a:endParaRPr lang="en-US" sz="950" dirty="0"/>
          </a:p>
        </p:txBody>
      </p:sp>
      <p:sp>
        <p:nvSpPr>
          <p:cNvPr id="16" name="Shape 14"/>
          <p:cNvSpPr/>
          <p:nvPr/>
        </p:nvSpPr>
        <p:spPr>
          <a:xfrm>
            <a:off x="457200" y="2340864"/>
            <a:ext cx="8229600" cy="576072"/>
          </a:xfrm>
          <a:prstGeom prst="rect">
            <a:avLst/>
          </a:prstGeom>
          <a:solidFill>
            <a:srgbClr val="1A1A2E"/>
          </a:solidFill>
          <a:ln w="12700">
            <a:solidFill>
              <a:srgbClr val="06B6D4"/>
            </a:solidFill>
            <a:prstDash val="solid"/>
          </a:ln>
        </p:spPr>
      </p:sp>
      <p:sp>
        <p:nvSpPr>
          <p:cNvPr id="17" name="Shape 15"/>
          <p:cNvSpPr/>
          <p:nvPr/>
        </p:nvSpPr>
        <p:spPr>
          <a:xfrm>
            <a:off x="457200" y="2340864"/>
            <a:ext cx="64008" cy="576072"/>
          </a:xfrm>
          <a:prstGeom prst="rect">
            <a:avLst/>
          </a:prstGeom>
          <a:solidFill>
            <a:srgbClr val="06B6D4"/>
          </a:solidFill>
          <a:ln w="12700">
            <a:solidFill>
              <a:srgbClr val="06B6D4"/>
            </a:solidFill>
            <a:prstDash val="solid"/>
          </a:ln>
        </p:spPr>
      </p:sp>
      <p:sp>
        <p:nvSpPr>
          <p:cNvPr id="18" name="Shape 16"/>
          <p:cNvSpPr/>
          <p:nvPr/>
        </p:nvSpPr>
        <p:spPr>
          <a:xfrm>
            <a:off x="7726680" y="2496312"/>
            <a:ext cx="530352" cy="256032"/>
          </a:xfrm>
          <a:prstGeom prst="roundRect">
            <a:avLst>
              <a:gd name="adj" fmla="val 14286"/>
            </a:avLst>
          </a:prstGeom>
          <a:solidFill>
            <a:srgbClr val="7C3AED">
              <a:alpha val="80000"/>
            </a:srgbClr>
          </a:solidFill>
          <a:ln w="12700">
            <a:solidFill>
              <a:srgbClr val="7C3AED"/>
            </a:solidFill>
            <a:prstDash val="solid"/>
          </a:ln>
        </p:spPr>
      </p:sp>
      <p:sp>
        <p:nvSpPr>
          <p:cNvPr id="19" name="Text 17"/>
          <p:cNvSpPr/>
          <p:nvPr/>
        </p:nvSpPr>
        <p:spPr>
          <a:xfrm>
            <a:off x="7726680" y="2496312"/>
            <a:ext cx="530352" cy="256032"/>
          </a:xfrm>
          <a:prstGeom prst="rect">
            <a:avLst/>
          </a:prstGeom>
          <a:noFill/>
          <a:ln/>
        </p:spPr>
        <p:txBody>
          <a:bodyPr wrap="square" lIns="0" tIns="0" rIns="0" bIns="0" rtlCol="0" anchor="ctr"/>
          <a:lstStyle/>
          <a:p>
            <a:pPr algn="ctr" indent="0" marL="0">
              <a:buNone/>
            </a:pPr>
            <a:r>
              <a:rPr lang="en-US" sz="900" b="1" dirty="0">
                <a:solidFill>
                  <a:srgbClr val="FFFFFF"/>
                </a:solidFill>
              </a:rPr>
              <a:t>High</a:t>
            </a:r>
            <a:endParaRPr lang="en-US" sz="900" dirty="0"/>
          </a:p>
        </p:txBody>
      </p:sp>
      <p:sp>
        <p:nvSpPr>
          <p:cNvPr id="20" name="Text 18"/>
          <p:cNvSpPr/>
          <p:nvPr/>
        </p:nvSpPr>
        <p:spPr>
          <a:xfrm>
            <a:off x="658368" y="2386584"/>
            <a:ext cx="6858000" cy="256032"/>
          </a:xfrm>
          <a:prstGeom prst="rect">
            <a:avLst/>
          </a:prstGeom>
          <a:noFill/>
          <a:ln/>
        </p:spPr>
        <p:txBody>
          <a:bodyPr wrap="square" lIns="0" tIns="0" rIns="0" bIns="0" rtlCol="0" anchor="ctr"/>
          <a:lstStyle/>
          <a:p>
            <a:pPr indent="0" marL="0">
              <a:buNone/>
            </a:pPr>
            <a:r>
              <a:rPr lang="en-US" sz="1200" b="1" dirty="0">
                <a:solidFill>
                  <a:srgbClr val="FFFFFF"/>
                </a:solidFill>
              </a:rPr>
              <a:t>AI Reasoning Chains</a:t>
            </a:r>
            <a:endParaRPr lang="en-US" sz="1200" dirty="0"/>
          </a:p>
        </p:txBody>
      </p:sp>
      <p:sp>
        <p:nvSpPr>
          <p:cNvPr id="21" name="Text 19"/>
          <p:cNvSpPr/>
          <p:nvPr/>
        </p:nvSpPr>
        <p:spPr>
          <a:xfrm>
            <a:off x="658368" y="2642616"/>
            <a:ext cx="6858000" cy="228600"/>
          </a:xfrm>
          <a:prstGeom prst="rect">
            <a:avLst/>
          </a:prstGeom>
          <a:noFill/>
          <a:ln/>
        </p:spPr>
        <p:txBody>
          <a:bodyPr wrap="square" lIns="0" tIns="0" rIns="0" bIns="0" rtlCol="0" anchor="ctr"/>
          <a:lstStyle/>
          <a:p>
            <a:pPr indent="0" marL="0">
              <a:buNone/>
            </a:pPr>
            <a:r>
              <a:rPr lang="en-US" sz="950" dirty="0">
                <a:solidFill>
                  <a:srgbClr val="CBD5E1"/>
                </a:solidFill>
              </a:rPr>
              <a:t>Full chain-of-thought explanation mode — deeper transparency</a:t>
            </a:r>
            <a:endParaRPr lang="en-US" sz="950" dirty="0"/>
          </a:p>
        </p:txBody>
      </p:sp>
      <p:sp>
        <p:nvSpPr>
          <p:cNvPr id="22" name="Shape 20"/>
          <p:cNvSpPr/>
          <p:nvPr/>
        </p:nvSpPr>
        <p:spPr>
          <a:xfrm>
            <a:off x="457200" y="3008376"/>
            <a:ext cx="8229600" cy="576072"/>
          </a:xfrm>
          <a:prstGeom prst="rect">
            <a:avLst/>
          </a:prstGeom>
          <a:solidFill>
            <a:srgbClr val="1A1A2E"/>
          </a:solidFill>
          <a:ln w="12700">
            <a:solidFill>
              <a:srgbClr val="F59E0B"/>
            </a:solidFill>
            <a:prstDash val="solid"/>
          </a:ln>
        </p:spPr>
      </p:sp>
      <p:sp>
        <p:nvSpPr>
          <p:cNvPr id="23" name="Shape 21"/>
          <p:cNvSpPr/>
          <p:nvPr/>
        </p:nvSpPr>
        <p:spPr>
          <a:xfrm>
            <a:off x="457200" y="3008376"/>
            <a:ext cx="64008" cy="576072"/>
          </a:xfrm>
          <a:prstGeom prst="rect">
            <a:avLst/>
          </a:prstGeom>
          <a:solidFill>
            <a:srgbClr val="F59E0B"/>
          </a:solidFill>
          <a:ln w="12700">
            <a:solidFill>
              <a:srgbClr val="F59E0B"/>
            </a:solidFill>
            <a:prstDash val="solid"/>
          </a:ln>
        </p:spPr>
      </p:sp>
      <p:sp>
        <p:nvSpPr>
          <p:cNvPr id="24" name="Shape 22"/>
          <p:cNvSpPr/>
          <p:nvPr/>
        </p:nvSpPr>
        <p:spPr>
          <a:xfrm>
            <a:off x="7543800" y="3163824"/>
            <a:ext cx="704088" cy="256032"/>
          </a:xfrm>
          <a:prstGeom prst="roundRect">
            <a:avLst>
              <a:gd name="adj" fmla="val 14286"/>
            </a:avLst>
          </a:prstGeom>
          <a:solidFill>
            <a:srgbClr val="F59E0B">
              <a:alpha val="80000"/>
            </a:srgbClr>
          </a:solidFill>
          <a:ln w="12700">
            <a:solidFill>
              <a:srgbClr val="F59E0B"/>
            </a:solidFill>
            <a:prstDash val="solid"/>
          </a:ln>
        </p:spPr>
      </p:sp>
      <p:sp>
        <p:nvSpPr>
          <p:cNvPr id="25" name="Text 23"/>
          <p:cNvSpPr/>
          <p:nvPr/>
        </p:nvSpPr>
        <p:spPr>
          <a:xfrm>
            <a:off x="7543800" y="3163824"/>
            <a:ext cx="704088" cy="256032"/>
          </a:xfrm>
          <a:prstGeom prst="rect">
            <a:avLst/>
          </a:prstGeom>
          <a:noFill/>
          <a:ln/>
        </p:spPr>
        <p:txBody>
          <a:bodyPr wrap="square" lIns="0" tIns="0" rIns="0" bIns="0" rtlCol="0" anchor="ctr"/>
          <a:lstStyle/>
          <a:p>
            <a:pPr algn="ctr" indent="0" marL="0">
              <a:buNone/>
            </a:pPr>
            <a:r>
              <a:rPr lang="en-US" sz="900" b="1" dirty="0">
                <a:solidFill>
                  <a:srgbClr val="FFFFFF"/>
                </a:solidFill>
              </a:rPr>
              <a:t>Medium</a:t>
            </a:r>
            <a:endParaRPr lang="en-US" sz="900" dirty="0"/>
          </a:p>
        </p:txBody>
      </p:sp>
      <p:sp>
        <p:nvSpPr>
          <p:cNvPr id="26" name="Text 24"/>
          <p:cNvSpPr/>
          <p:nvPr/>
        </p:nvSpPr>
        <p:spPr>
          <a:xfrm>
            <a:off x="658368" y="3054096"/>
            <a:ext cx="6858000" cy="256032"/>
          </a:xfrm>
          <a:prstGeom prst="rect">
            <a:avLst/>
          </a:prstGeom>
          <a:noFill/>
          <a:ln/>
        </p:spPr>
        <p:txBody>
          <a:bodyPr wrap="square" lIns="0" tIns="0" rIns="0" bIns="0" rtlCol="0" anchor="ctr"/>
          <a:lstStyle/>
          <a:p>
            <a:pPr indent="0" marL="0">
              <a:buNone/>
            </a:pPr>
            <a:r>
              <a:rPr lang="en-US" sz="1200" b="1" dirty="0">
                <a:solidFill>
                  <a:srgbClr val="FFFFFF"/>
                </a:solidFill>
              </a:rPr>
              <a:t>Collaborative Filtering</a:t>
            </a:r>
            <a:endParaRPr lang="en-US" sz="1200" dirty="0"/>
          </a:p>
        </p:txBody>
      </p:sp>
      <p:sp>
        <p:nvSpPr>
          <p:cNvPr id="27" name="Text 25"/>
          <p:cNvSpPr/>
          <p:nvPr/>
        </p:nvSpPr>
        <p:spPr>
          <a:xfrm>
            <a:off x="658368" y="3310128"/>
            <a:ext cx="6858000" cy="228600"/>
          </a:xfrm>
          <a:prstGeom prst="rect">
            <a:avLst/>
          </a:prstGeom>
          <a:noFill/>
          <a:ln/>
        </p:spPr>
        <p:txBody>
          <a:bodyPr wrap="square" lIns="0" tIns="0" rIns="0" bIns="0" rtlCol="0" anchor="ctr"/>
          <a:lstStyle/>
          <a:p>
            <a:pPr indent="0" marL="0">
              <a:buNone/>
            </a:pPr>
            <a:r>
              <a:rPr lang="en-US" sz="950" dirty="0">
                <a:solidFill>
                  <a:srgbClr val="CBD5E1"/>
                </a:solidFill>
              </a:rPr>
              <a:t>User-to-user similarity modeling layer</a:t>
            </a:r>
            <a:endParaRPr lang="en-US" sz="950" dirty="0"/>
          </a:p>
        </p:txBody>
      </p:sp>
      <p:sp>
        <p:nvSpPr>
          <p:cNvPr id="28" name="Shape 26"/>
          <p:cNvSpPr/>
          <p:nvPr/>
        </p:nvSpPr>
        <p:spPr>
          <a:xfrm>
            <a:off x="457200" y="3675888"/>
            <a:ext cx="8229600" cy="576072"/>
          </a:xfrm>
          <a:prstGeom prst="rect">
            <a:avLst/>
          </a:prstGeom>
          <a:solidFill>
            <a:srgbClr val="1A1A2E"/>
          </a:solidFill>
          <a:ln w="12700">
            <a:solidFill>
              <a:srgbClr val="7C3AED"/>
            </a:solidFill>
            <a:prstDash val="solid"/>
          </a:ln>
        </p:spPr>
      </p:sp>
      <p:sp>
        <p:nvSpPr>
          <p:cNvPr id="29" name="Shape 27"/>
          <p:cNvSpPr/>
          <p:nvPr/>
        </p:nvSpPr>
        <p:spPr>
          <a:xfrm>
            <a:off x="457200" y="3675888"/>
            <a:ext cx="64008" cy="576072"/>
          </a:xfrm>
          <a:prstGeom prst="rect">
            <a:avLst/>
          </a:prstGeom>
          <a:solidFill>
            <a:srgbClr val="7C3AED"/>
          </a:solidFill>
          <a:ln w="12700">
            <a:solidFill>
              <a:srgbClr val="7C3AED"/>
            </a:solidFill>
            <a:prstDash val="solid"/>
          </a:ln>
        </p:spPr>
      </p:sp>
      <p:sp>
        <p:nvSpPr>
          <p:cNvPr id="30" name="Shape 28"/>
          <p:cNvSpPr/>
          <p:nvPr/>
        </p:nvSpPr>
        <p:spPr>
          <a:xfrm>
            <a:off x="7543800" y="3831336"/>
            <a:ext cx="704088" cy="256032"/>
          </a:xfrm>
          <a:prstGeom prst="roundRect">
            <a:avLst>
              <a:gd name="adj" fmla="val 14286"/>
            </a:avLst>
          </a:prstGeom>
          <a:solidFill>
            <a:srgbClr val="F59E0B">
              <a:alpha val="80000"/>
            </a:srgbClr>
          </a:solidFill>
          <a:ln w="12700">
            <a:solidFill>
              <a:srgbClr val="F59E0B"/>
            </a:solidFill>
            <a:prstDash val="solid"/>
          </a:ln>
        </p:spPr>
      </p:sp>
      <p:sp>
        <p:nvSpPr>
          <p:cNvPr id="31" name="Text 29"/>
          <p:cNvSpPr/>
          <p:nvPr/>
        </p:nvSpPr>
        <p:spPr>
          <a:xfrm>
            <a:off x="7543800" y="3831336"/>
            <a:ext cx="704088" cy="256032"/>
          </a:xfrm>
          <a:prstGeom prst="rect">
            <a:avLst/>
          </a:prstGeom>
          <a:noFill/>
          <a:ln/>
        </p:spPr>
        <p:txBody>
          <a:bodyPr wrap="square" lIns="0" tIns="0" rIns="0" bIns="0" rtlCol="0" anchor="ctr"/>
          <a:lstStyle/>
          <a:p>
            <a:pPr algn="ctr" indent="0" marL="0">
              <a:buNone/>
            </a:pPr>
            <a:r>
              <a:rPr lang="en-US" sz="900" b="1" dirty="0">
                <a:solidFill>
                  <a:srgbClr val="FFFFFF"/>
                </a:solidFill>
              </a:rPr>
              <a:t>Medium</a:t>
            </a:r>
            <a:endParaRPr lang="en-US" sz="900" dirty="0"/>
          </a:p>
        </p:txBody>
      </p:sp>
      <p:sp>
        <p:nvSpPr>
          <p:cNvPr id="32" name="Text 30"/>
          <p:cNvSpPr/>
          <p:nvPr/>
        </p:nvSpPr>
        <p:spPr>
          <a:xfrm>
            <a:off x="658368" y="3721608"/>
            <a:ext cx="6858000" cy="256032"/>
          </a:xfrm>
          <a:prstGeom prst="rect">
            <a:avLst/>
          </a:prstGeom>
          <a:noFill/>
          <a:ln/>
        </p:spPr>
        <p:txBody>
          <a:bodyPr wrap="square" lIns="0" tIns="0" rIns="0" bIns="0" rtlCol="0" anchor="ctr"/>
          <a:lstStyle/>
          <a:p>
            <a:pPr indent="0" marL="0">
              <a:buNone/>
            </a:pPr>
            <a:r>
              <a:rPr lang="en-US" sz="1200" b="1" dirty="0">
                <a:solidFill>
                  <a:srgbClr val="FFFFFF"/>
                </a:solidFill>
              </a:rPr>
              <a:t>User Accounts</a:t>
            </a:r>
            <a:endParaRPr lang="en-US" sz="1200" dirty="0"/>
          </a:p>
        </p:txBody>
      </p:sp>
      <p:sp>
        <p:nvSpPr>
          <p:cNvPr id="33" name="Text 31"/>
          <p:cNvSpPr/>
          <p:nvPr/>
        </p:nvSpPr>
        <p:spPr>
          <a:xfrm>
            <a:off x="658368" y="3977640"/>
            <a:ext cx="6858000" cy="228600"/>
          </a:xfrm>
          <a:prstGeom prst="rect">
            <a:avLst/>
          </a:prstGeom>
          <a:noFill/>
          <a:ln/>
        </p:spPr>
        <p:txBody>
          <a:bodyPr wrap="square" lIns="0" tIns="0" rIns="0" bIns="0" rtlCol="0" anchor="ctr"/>
          <a:lstStyle/>
          <a:p>
            <a:pPr indent="0" marL="0">
              <a:buNone/>
            </a:pPr>
            <a:r>
              <a:rPr lang="en-US" sz="950" dirty="0">
                <a:solidFill>
                  <a:srgbClr val="CBD5E1"/>
                </a:solidFill>
              </a:rPr>
              <a:t>Auth, profiles, persistent recommendation history</a:t>
            </a:r>
            <a:endParaRPr lang="en-US" sz="950" dirty="0"/>
          </a:p>
        </p:txBody>
      </p:sp>
      <p:sp>
        <p:nvSpPr>
          <p:cNvPr id="34" name="Shape 32"/>
          <p:cNvSpPr/>
          <p:nvPr/>
        </p:nvSpPr>
        <p:spPr>
          <a:xfrm>
            <a:off x="457200" y="4343400"/>
            <a:ext cx="8229600" cy="576072"/>
          </a:xfrm>
          <a:prstGeom prst="rect">
            <a:avLst/>
          </a:prstGeom>
          <a:solidFill>
            <a:srgbClr val="1A1A2E"/>
          </a:solidFill>
          <a:ln w="12700">
            <a:solidFill>
              <a:srgbClr val="06B6D4"/>
            </a:solidFill>
            <a:prstDash val="solid"/>
          </a:ln>
        </p:spPr>
      </p:sp>
      <p:sp>
        <p:nvSpPr>
          <p:cNvPr id="35" name="Shape 33"/>
          <p:cNvSpPr/>
          <p:nvPr/>
        </p:nvSpPr>
        <p:spPr>
          <a:xfrm>
            <a:off x="457200" y="4343400"/>
            <a:ext cx="64008" cy="576072"/>
          </a:xfrm>
          <a:prstGeom prst="rect">
            <a:avLst/>
          </a:prstGeom>
          <a:solidFill>
            <a:srgbClr val="06B6D4"/>
          </a:solidFill>
          <a:ln w="12700">
            <a:solidFill>
              <a:srgbClr val="06B6D4"/>
            </a:solidFill>
            <a:prstDash val="solid"/>
          </a:ln>
        </p:spPr>
      </p:sp>
      <p:sp>
        <p:nvSpPr>
          <p:cNvPr id="36" name="Shape 34"/>
          <p:cNvSpPr/>
          <p:nvPr/>
        </p:nvSpPr>
        <p:spPr>
          <a:xfrm>
            <a:off x="7543800" y="4498848"/>
            <a:ext cx="704088" cy="256032"/>
          </a:xfrm>
          <a:prstGeom prst="roundRect">
            <a:avLst>
              <a:gd name="adj" fmla="val 14286"/>
            </a:avLst>
          </a:prstGeom>
          <a:solidFill>
            <a:srgbClr val="F59E0B">
              <a:alpha val="80000"/>
            </a:srgbClr>
          </a:solidFill>
          <a:ln w="12700">
            <a:solidFill>
              <a:srgbClr val="F59E0B"/>
            </a:solidFill>
            <a:prstDash val="solid"/>
          </a:ln>
        </p:spPr>
      </p:sp>
      <p:sp>
        <p:nvSpPr>
          <p:cNvPr id="37" name="Text 35"/>
          <p:cNvSpPr/>
          <p:nvPr/>
        </p:nvSpPr>
        <p:spPr>
          <a:xfrm>
            <a:off x="7543800" y="4498848"/>
            <a:ext cx="704088" cy="256032"/>
          </a:xfrm>
          <a:prstGeom prst="rect">
            <a:avLst/>
          </a:prstGeom>
          <a:noFill/>
          <a:ln/>
        </p:spPr>
        <p:txBody>
          <a:bodyPr wrap="square" lIns="0" tIns="0" rIns="0" bIns="0" rtlCol="0" anchor="ctr"/>
          <a:lstStyle/>
          <a:p>
            <a:pPr algn="ctr" indent="0" marL="0">
              <a:buNone/>
            </a:pPr>
            <a:r>
              <a:rPr lang="en-US" sz="900" b="1" dirty="0">
                <a:solidFill>
                  <a:srgbClr val="FFFFFF"/>
                </a:solidFill>
              </a:rPr>
              <a:t>Medium</a:t>
            </a:r>
            <a:endParaRPr lang="en-US" sz="900" dirty="0"/>
          </a:p>
        </p:txBody>
      </p:sp>
      <p:sp>
        <p:nvSpPr>
          <p:cNvPr id="38" name="Text 36"/>
          <p:cNvSpPr/>
          <p:nvPr/>
        </p:nvSpPr>
        <p:spPr>
          <a:xfrm>
            <a:off x="658368" y="4389120"/>
            <a:ext cx="6858000" cy="256032"/>
          </a:xfrm>
          <a:prstGeom prst="rect">
            <a:avLst/>
          </a:prstGeom>
          <a:noFill/>
          <a:ln/>
        </p:spPr>
        <p:txBody>
          <a:bodyPr wrap="square" lIns="0" tIns="0" rIns="0" bIns="0" rtlCol="0" anchor="ctr"/>
          <a:lstStyle/>
          <a:p>
            <a:pPr indent="0" marL="0">
              <a:buNone/>
            </a:pPr>
            <a:r>
              <a:rPr lang="en-US" sz="1200" b="1" dirty="0">
                <a:solidFill>
                  <a:srgbClr val="FFFFFF"/>
                </a:solidFill>
              </a:rPr>
              <a:t>Confidence Calibration</a:t>
            </a:r>
            <a:endParaRPr lang="en-US" sz="1200" dirty="0"/>
          </a:p>
        </p:txBody>
      </p:sp>
      <p:sp>
        <p:nvSpPr>
          <p:cNvPr id="39" name="Text 37"/>
          <p:cNvSpPr/>
          <p:nvPr/>
        </p:nvSpPr>
        <p:spPr>
          <a:xfrm>
            <a:off x="658368" y="4645152"/>
            <a:ext cx="6858000" cy="228600"/>
          </a:xfrm>
          <a:prstGeom prst="rect">
            <a:avLst/>
          </a:prstGeom>
          <a:noFill/>
          <a:ln/>
        </p:spPr>
        <p:txBody>
          <a:bodyPr wrap="square" lIns="0" tIns="0" rIns="0" bIns="0" rtlCol="0" anchor="ctr"/>
          <a:lstStyle/>
          <a:p>
            <a:pPr indent="0" marL="0">
              <a:buNone/>
            </a:pPr>
            <a:r>
              <a:rPr lang="en-US" sz="950" dirty="0">
                <a:solidFill>
                  <a:srgbClr val="CBD5E1"/>
                </a:solidFill>
              </a:rPr>
              <a:t>User feedback loop for continuous confidence refinement</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19</a:t>
            </a:r>
            <a:endParaRPr lang="en-US" sz="900" dirty="0"/>
          </a:p>
        </p:txBody>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Numbers That Matter</a:t>
            </a:r>
            <a:endParaRPr lang="en-US" sz="3000" dirty="0"/>
          </a:p>
        </p:txBody>
      </p:sp>
      <p:sp>
        <p:nvSpPr>
          <p:cNvPr id="4" name="Shape 2"/>
          <p:cNvSpPr/>
          <p:nvPr/>
        </p:nvSpPr>
        <p:spPr>
          <a:xfrm>
            <a:off x="457200" y="1005840"/>
            <a:ext cx="1920240" cy="1188720"/>
          </a:xfrm>
          <a:prstGeom prst="rect">
            <a:avLst/>
          </a:prstGeom>
          <a:solidFill>
            <a:srgbClr val="1A1A2E"/>
          </a:solidFill>
          <a:ln w="12700">
            <a:solidFill>
              <a:srgbClr val="F59E0B"/>
            </a:solidFill>
            <a:prstDash val="solid"/>
          </a:ln>
          <a:effectLst>
            <a:outerShdw sx="100000" sy="100000" kx="0" ky="0" algn="bl" rotWithShape="0" blurRad="152400" dist="50800" dir="8100000">
              <a:srgbClr val="000000">
                <a:alpha val="30000"/>
              </a:srgbClr>
            </a:outerShdw>
          </a:effectLst>
        </p:spPr>
      </p:sp>
      <p:sp>
        <p:nvSpPr>
          <p:cNvPr id="5" name="Shape 3"/>
          <p:cNvSpPr/>
          <p:nvPr/>
        </p:nvSpPr>
        <p:spPr>
          <a:xfrm>
            <a:off x="457200" y="1005840"/>
            <a:ext cx="1920240" cy="54864"/>
          </a:xfrm>
          <a:prstGeom prst="rect">
            <a:avLst/>
          </a:prstGeom>
          <a:solidFill>
            <a:srgbClr val="F59E0B"/>
          </a:solidFill>
          <a:ln w="12700">
            <a:solidFill>
              <a:srgbClr val="F59E0B"/>
            </a:solidFill>
            <a:prstDash val="solid"/>
          </a:ln>
        </p:spPr>
      </p:sp>
      <p:sp>
        <p:nvSpPr>
          <p:cNvPr id="6" name="Text 4"/>
          <p:cNvSpPr/>
          <p:nvPr/>
        </p:nvSpPr>
        <p:spPr>
          <a:xfrm>
            <a:off x="457200" y="1143000"/>
            <a:ext cx="1920240" cy="594360"/>
          </a:xfrm>
          <a:prstGeom prst="rect">
            <a:avLst/>
          </a:prstGeom>
          <a:noFill/>
          <a:ln/>
        </p:spPr>
        <p:txBody>
          <a:bodyPr wrap="square" lIns="0" tIns="0" rIns="0" bIns="0" rtlCol="0" anchor="ctr"/>
          <a:lstStyle/>
          <a:p>
            <a:pPr algn="ctr" indent="0" marL="0">
              <a:buNone/>
            </a:pPr>
            <a:r>
              <a:rPr lang="en-US" sz="3200" b="1" dirty="0">
                <a:solidFill>
                  <a:srgbClr val="F59E0B"/>
                </a:solidFill>
              </a:rPr>
              <a:t>22/20</a:t>
            </a:r>
            <a:endParaRPr lang="en-US" sz="3200" dirty="0"/>
          </a:p>
        </p:txBody>
      </p:sp>
      <p:sp>
        <p:nvSpPr>
          <p:cNvPr id="7" name="Text 5"/>
          <p:cNvSpPr/>
          <p:nvPr/>
        </p:nvSpPr>
        <p:spPr>
          <a:xfrm>
            <a:off x="457200" y="173736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CodePath Score</a:t>
            </a:r>
            <a:endParaRPr lang="en-US" sz="1000" dirty="0"/>
          </a:p>
          <a:p>
            <a:pPr algn="ctr" indent="0" marL="0">
              <a:buNone/>
            </a:pPr>
            <a:r>
              <a:rPr lang="en-US" sz="1000" dirty="0">
                <a:solidFill>
                  <a:srgbClr val="CBD5E1"/>
                </a:solidFill>
              </a:rPr>
              <a:t>110% · Honor Grade</a:t>
            </a:r>
            <a:endParaRPr lang="en-US" sz="1000" dirty="0"/>
          </a:p>
        </p:txBody>
      </p:sp>
      <p:sp>
        <p:nvSpPr>
          <p:cNvPr id="8" name="Shape 6"/>
          <p:cNvSpPr/>
          <p:nvPr/>
        </p:nvSpPr>
        <p:spPr>
          <a:xfrm>
            <a:off x="2560320" y="1005840"/>
            <a:ext cx="1920240" cy="118872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9" name="Shape 7"/>
          <p:cNvSpPr/>
          <p:nvPr/>
        </p:nvSpPr>
        <p:spPr>
          <a:xfrm>
            <a:off x="2560320" y="1005840"/>
            <a:ext cx="1920240" cy="54864"/>
          </a:xfrm>
          <a:prstGeom prst="rect">
            <a:avLst/>
          </a:prstGeom>
          <a:solidFill>
            <a:srgbClr val="7C3AED"/>
          </a:solidFill>
          <a:ln w="12700">
            <a:solidFill>
              <a:srgbClr val="7C3AED"/>
            </a:solidFill>
            <a:prstDash val="solid"/>
          </a:ln>
        </p:spPr>
      </p:sp>
      <p:sp>
        <p:nvSpPr>
          <p:cNvPr id="10" name="Text 8"/>
          <p:cNvSpPr/>
          <p:nvPr/>
        </p:nvSpPr>
        <p:spPr>
          <a:xfrm>
            <a:off x="2560320" y="1143000"/>
            <a:ext cx="1920240" cy="594360"/>
          </a:xfrm>
          <a:prstGeom prst="rect">
            <a:avLst/>
          </a:prstGeom>
          <a:noFill/>
          <a:ln/>
        </p:spPr>
        <p:txBody>
          <a:bodyPr wrap="square" lIns="0" tIns="0" rIns="0" bIns="0" rtlCol="0" anchor="ctr"/>
          <a:lstStyle/>
          <a:p>
            <a:pPr algn="ctr" indent="0" marL="0">
              <a:buNone/>
            </a:pPr>
            <a:r>
              <a:rPr lang="en-US" sz="3200" b="1" dirty="0">
                <a:solidFill>
                  <a:srgbClr val="7C3AED"/>
                </a:solidFill>
              </a:rPr>
              <a:t>100+</a:t>
            </a:r>
            <a:endParaRPr lang="en-US" sz="3200" dirty="0"/>
          </a:p>
        </p:txBody>
      </p:sp>
      <p:sp>
        <p:nvSpPr>
          <p:cNvPr id="11" name="Text 9"/>
          <p:cNvSpPr/>
          <p:nvPr/>
        </p:nvSpPr>
        <p:spPr>
          <a:xfrm>
            <a:off x="2560320" y="173736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Autonomous AI</a:t>
            </a:r>
            <a:endParaRPr lang="en-US" sz="1000" dirty="0"/>
          </a:p>
          <a:p>
            <a:pPr algn="ctr" indent="0" marL="0">
              <a:buNone/>
            </a:pPr>
            <a:r>
              <a:rPr lang="en-US" sz="1000" dirty="0">
                <a:solidFill>
                  <a:srgbClr val="CBD5E1"/>
                </a:solidFill>
              </a:rPr>
              <a:t>Tool Operations</a:t>
            </a:r>
            <a:endParaRPr lang="en-US" sz="1000" dirty="0"/>
          </a:p>
        </p:txBody>
      </p:sp>
      <p:sp>
        <p:nvSpPr>
          <p:cNvPr id="12" name="Shape 10"/>
          <p:cNvSpPr/>
          <p:nvPr/>
        </p:nvSpPr>
        <p:spPr>
          <a:xfrm>
            <a:off x="4663440" y="1005840"/>
            <a:ext cx="1920240" cy="118872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13" name="Shape 11"/>
          <p:cNvSpPr/>
          <p:nvPr/>
        </p:nvSpPr>
        <p:spPr>
          <a:xfrm>
            <a:off x="4663440" y="1005840"/>
            <a:ext cx="1920240" cy="54864"/>
          </a:xfrm>
          <a:prstGeom prst="rect">
            <a:avLst/>
          </a:prstGeom>
          <a:solidFill>
            <a:srgbClr val="10B981"/>
          </a:solidFill>
          <a:ln w="12700">
            <a:solidFill>
              <a:srgbClr val="10B981"/>
            </a:solidFill>
            <a:prstDash val="solid"/>
          </a:ln>
        </p:spPr>
      </p:sp>
      <p:sp>
        <p:nvSpPr>
          <p:cNvPr id="14" name="Text 12"/>
          <p:cNvSpPr/>
          <p:nvPr/>
        </p:nvSpPr>
        <p:spPr>
          <a:xfrm>
            <a:off x="4663440" y="1143000"/>
            <a:ext cx="1920240" cy="594360"/>
          </a:xfrm>
          <a:prstGeom prst="rect">
            <a:avLst/>
          </a:prstGeom>
          <a:noFill/>
          <a:ln/>
        </p:spPr>
        <p:txBody>
          <a:bodyPr wrap="square" lIns="0" tIns="0" rIns="0" bIns="0" rtlCol="0" anchor="ctr"/>
          <a:lstStyle/>
          <a:p>
            <a:pPr algn="ctr" indent="0" marL="0">
              <a:buNone/>
            </a:pPr>
            <a:r>
              <a:rPr lang="en-US" sz="3200" b="1" dirty="0">
                <a:solidFill>
                  <a:srgbClr val="10B981"/>
                </a:solidFill>
              </a:rPr>
              <a:t>4/4</a:t>
            </a:r>
            <a:endParaRPr lang="en-US" sz="3200" dirty="0"/>
          </a:p>
        </p:txBody>
      </p:sp>
      <p:sp>
        <p:nvSpPr>
          <p:cNvPr id="15" name="Text 13"/>
          <p:cNvSpPr/>
          <p:nvPr/>
        </p:nvSpPr>
        <p:spPr>
          <a:xfrm>
            <a:off x="4663440" y="173736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Test Profiles</a:t>
            </a:r>
            <a:endParaRPr lang="en-US" sz="1000" dirty="0"/>
          </a:p>
          <a:p>
            <a:pPr algn="ctr" indent="0" marL="0">
              <a:buNone/>
            </a:pPr>
            <a:r>
              <a:rPr lang="en-US" sz="1000" dirty="0">
                <a:solidFill>
                  <a:srgbClr val="CBD5E1"/>
                </a:solidFill>
              </a:rPr>
              <a:t>PASSED</a:t>
            </a:r>
            <a:endParaRPr lang="en-US" sz="1000" dirty="0"/>
          </a:p>
        </p:txBody>
      </p:sp>
      <p:sp>
        <p:nvSpPr>
          <p:cNvPr id="16" name="Shape 14"/>
          <p:cNvSpPr/>
          <p:nvPr/>
        </p:nvSpPr>
        <p:spPr>
          <a:xfrm>
            <a:off x="6766560" y="1005840"/>
            <a:ext cx="1920240" cy="118872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17" name="Shape 15"/>
          <p:cNvSpPr/>
          <p:nvPr/>
        </p:nvSpPr>
        <p:spPr>
          <a:xfrm>
            <a:off x="6766560" y="1005840"/>
            <a:ext cx="1920240" cy="54864"/>
          </a:xfrm>
          <a:prstGeom prst="rect">
            <a:avLst/>
          </a:prstGeom>
          <a:solidFill>
            <a:srgbClr val="06B6D4"/>
          </a:solidFill>
          <a:ln w="12700">
            <a:solidFill>
              <a:srgbClr val="06B6D4"/>
            </a:solidFill>
            <a:prstDash val="solid"/>
          </a:ln>
        </p:spPr>
      </p:sp>
      <p:sp>
        <p:nvSpPr>
          <p:cNvPr id="18" name="Text 16"/>
          <p:cNvSpPr/>
          <p:nvPr/>
        </p:nvSpPr>
        <p:spPr>
          <a:xfrm>
            <a:off x="6766560" y="1143000"/>
            <a:ext cx="1920240" cy="594360"/>
          </a:xfrm>
          <a:prstGeom prst="rect">
            <a:avLst/>
          </a:prstGeom>
          <a:noFill/>
          <a:ln/>
        </p:spPr>
        <p:txBody>
          <a:bodyPr wrap="square" lIns="0" tIns="0" rIns="0" bIns="0" rtlCol="0" anchor="ctr"/>
          <a:lstStyle/>
          <a:p>
            <a:pPr algn="ctr" indent="0" marL="0">
              <a:buNone/>
            </a:pPr>
            <a:r>
              <a:rPr lang="en-US" sz="3200" b="1" dirty="0">
                <a:solidFill>
                  <a:srgbClr val="06B6D4"/>
                </a:solidFill>
              </a:rPr>
              <a:t>53</a:t>
            </a:r>
            <a:endParaRPr lang="en-US" sz="3200" dirty="0"/>
          </a:p>
        </p:txBody>
      </p:sp>
      <p:sp>
        <p:nvSpPr>
          <p:cNvPr id="19" name="Text 17"/>
          <p:cNvSpPr/>
          <p:nvPr/>
        </p:nvSpPr>
        <p:spPr>
          <a:xfrm>
            <a:off x="6766560" y="173736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Tracks Indexed</a:t>
            </a:r>
            <a:endParaRPr lang="en-US" sz="1000" dirty="0"/>
          </a:p>
          <a:p>
            <a:pPr algn="ctr" indent="0" marL="0">
              <a:buNone/>
            </a:pPr>
            <a:r>
              <a:rPr lang="en-US" sz="1000" dirty="0">
                <a:solidFill>
                  <a:srgbClr val="CBD5E1"/>
                </a:solidFill>
              </a:rPr>
              <a:t>in R2 Library</a:t>
            </a:r>
            <a:endParaRPr lang="en-US" sz="1000" dirty="0"/>
          </a:p>
        </p:txBody>
      </p:sp>
      <p:sp>
        <p:nvSpPr>
          <p:cNvPr id="20" name="Shape 18"/>
          <p:cNvSpPr/>
          <p:nvPr/>
        </p:nvSpPr>
        <p:spPr>
          <a:xfrm>
            <a:off x="457200" y="2423160"/>
            <a:ext cx="1920240" cy="1188720"/>
          </a:xfrm>
          <a:prstGeom prst="rect">
            <a:avLst/>
          </a:prstGeom>
          <a:solidFill>
            <a:srgbClr val="1A1A2E"/>
          </a:solidFill>
          <a:ln w="12700">
            <a:solidFill>
              <a:srgbClr val="7C3AED"/>
            </a:solidFill>
            <a:prstDash val="solid"/>
          </a:ln>
          <a:effectLst>
            <a:outerShdw sx="100000" sy="100000" kx="0" ky="0" algn="bl" rotWithShape="0" blurRad="152400" dist="50800" dir="8100000">
              <a:srgbClr val="000000">
                <a:alpha val="30000"/>
              </a:srgbClr>
            </a:outerShdw>
          </a:effectLst>
        </p:spPr>
      </p:sp>
      <p:sp>
        <p:nvSpPr>
          <p:cNvPr id="21" name="Shape 19"/>
          <p:cNvSpPr/>
          <p:nvPr/>
        </p:nvSpPr>
        <p:spPr>
          <a:xfrm>
            <a:off x="457200" y="2423160"/>
            <a:ext cx="1920240" cy="54864"/>
          </a:xfrm>
          <a:prstGeom prst="rect">
            <a:avLst/>
          </a:prstGeom>
          <a:solidFill>
            <a:srgbClr val="7C3AED"/>
          </a:solidFill>
          <a:ln w="12700">
            <a:solidFill>
              <a:srgbClr val="7C3AED"/>
            </a:solidFill>
            <a:prstDash val="solid"/>
          </a:ln>
        </p:spPr>
      </p:sp>
      <p:sp>
        <p:nvSpPr>
          <p:cNvPr id="22" name="Text 20"/>
          <p:cNvSpPr/>
          <p:nvPr/>
        </p:nvSpPr>
        <p:spPr>
          <a:xfrm>
            <a:off x="457200" y="2560320"/>
            <a:ext cx="1920240" cy="594360"/>
          </a:xfrm>
          <a:prstGeom prst="rect">
            <a:avLst/>
          </a:prstGeom>
          <a:noFill/>
          <a:ln/>
        </p:spPr>
        <p:txBody>
          <a:bodyPr wrap="square" lIns="0" tIns="0" rIns="0" bIns="0" rtlCol="0" anchor="ctr"/>
          <a:lstStyle/>
          <a:p>
            <a:pPr algn="ctr" indent="0" marL="0">
              <a:buNone/>
            </a:pPr>
            <a:r>
              <a:rPr lang="en-US" sz="3200" b="1" dirty="0">
                <a:solidFill>
                  <a:srgbClr val="7C3AED"/>
                </a:solidFill>
              </a:rPr>
              <a:t>78%</a:t>
            </a:r>
            <a:endParaRPr lang="en-US" sz="3200" dirty="0"/>
          </a:p>
        </p:txBody>
      </p:sp>
      <p:sp>
        <p:nvSpPr>
          <p:cNvPr id="23" name="Text 21"/>
          <p:cNvSpPr/>
          <p:nvPr/>
        </p:nvSpPr>
        <p:spPr>
          <a:xfrm>
            <a:off x="457200" y="315468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TypeScript</a:t>
            </a:r>
            <a:endParaRPr lang="en-US" sz="1000" dirty="0"/>
          </a:p>
          <a:p>
            <a:pPr algn="ctr" indent="0" marL="0">
              <a:buNone/>
            </a:pPr>
            <a:r>
              <a:rPr lang="en-US" sz="1000" dirty="0">
                <a:solidFill>
                  <a:srgbClr val="CBD5E1"/>
                </a:solidFill>
              </a:rPr>
              <a:t>Coverage</a:t>
            </a:r>
            <a:endParaRPr lang="en-US" sz="1000" dirty="0"/>
          </a:p>
        </p:txBody>
      </p:sp>
      <p:sp>
        <p:nvSpPr>
          <p:cNvPr id="24" name="Shape 22"/>
          <p:cNvSpPr/>
          <p:nvPr/>
        </p:nvSpPr>
        <p:spPr>
          <a:xfrm>
            <a:off x="2560320" y="2423160"/>
            <a:ext cx="1920240" cy="1188720"/>
          </a:xfrm>
          <a:prstGeom prst="rect">
            <a:avLst/>
          </a:prstGeom>
          <a:solidFill>
            <a:srgbClr val="1A1A2E"/>
          </a:solidFill>
          <a:ln w="12700">
            <a:solidFill>
              <a:srgbClr val="06B6D4"/>
            </a:solidFill>
            <a:prstDash val="solid"/>
          </a:ln>
          <a:effectLst>
            <a:outerShdw sx="100000" sy="100000" kx="0" ky="0" algn="bl" rotWithShape="0" blurRad="152400" dist="50800" dir="8100000">
              <a:srgbClr val="000000">
                <a:alpha val="30000"/>
              </a:srgbClr>
            </a:outerShdw>
          </a:effectLst>
        </p:spPr>
      </p:sp>
      <p:sp>
        <p:nvSpPr>
          <p:cNvPr id="25" name="Shape 23"/>
          <p:cNvSpPr/>
          <p:nvPr/>
        </p:nvSpPr>
        <p:spPr>
          <a:xfrm>
            <a:off x="2560320" y="2423160"/>
            <a:ext cx="1920240" cy="54864"/>
          </a:xfrm>
          <a:prstGeom prst="rect">
            <a:avLst/>
          </a:prstGeom>
          <a:solidFill>
            <a:srgbClr val="06B6D4"/>
          </a:solidFill>
          <a:ln w="12700">
            <a:solidFill>
              <a:srgbClr val="06B6D4"/>
            </a:solidFill>
            <a:prstDash val="solid"/>
          </a:ln>
        </p:spPr>
      </p:sp>
      <p:sp>
        <p:nvSpPr>
          <p:cNvPr id="26" name="Text 24"/>
          <p:cNvSpPr/>
          <p:nvPr/>
        </p:nvSpPr>
        <p:spPr>
          <a:xfrm>
            <a:off x="2560320" y="2560320"/>
            <a:ext cx="1920240" cy="594360"/>
          </a:xfrm>
          <a:prstGeom prst="rect">
            <a:avLst/>
          </a:prstGeom>
          <a:noFill/>
          <a:ln/>
        </p:spPr>
        <p:txBody>
          <a:bodyPr wrap="square" lIns="0" tIns="0" rIns="0" bIns="0" rtlCol="0" anchor="ctr"/>
          <a:lstStyle/>
          <a:p>
            <a:pPr algn="ctr" indent="0" marL="0">
              <a:buNone/>
            </a:pPr>
            <a:r>
              <a:rPr lang="en-US" sz="3200" b="1" dirty="0">
                <a:solidFill>
                  <a:srgbClr val="06B6D4"/>
                </a:solidFill>
              </a:rPr>
              <a:t>0.599</a:t>
            </a:r>
            <a:endParaRPr lang="en-US" sz="3200" dirty="0"/>
          </a:p>
        </p:txBody>
      </p:sp>
      <p:sp>
        <p:nvSpPr>
          <p:cNvPr id="27" name="Text 25"/>
          <p:cNvSpPr/>
          <p:nvPr/>
        </p:nvSpPr>
        <p:spPr>
          <a:xfrm>
            <a:off x="2560320" y="315468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Average</a:t>
            </a:r>
            <a:endParaRPr lang="en-US" sz="1000" dirty="0"/>
          </a:p>
          <a:p>
            <a:pPr algn="ctr" indent="0" marL="0">
              <a:buNone/>
            </a:pPr>
            <a:r>
              <a:rPr lang="en-US" sz="1000" dirty="0">
                <a:solidFill>
                  <a:srgbClr val="CBD5E1"/>
                </a:solidFill>
              </a:rPr>
              <a:t>Confidence</a:t>
            </a:r>
            <a:endParaRPr lang="en-US" sz="1000" dirty="0"/>
          </a:p>
        </p:txBody>
      </p:sp>
      <p:sp>
        <p:nvSpPr>
          <p:cNvPr id="28" name="Shape 26"/>
          <p:cNvSpPr/>
          <p:nvPr/>
        </p:nvSpPr>
        <p:spPr>
          <a:xfrm>
            <a:off x="4663440" y="2423160"/>
            <a:ext cx="1920240" cy="1188720"/>
          </a:xfrm>
          <a:prstGeom prst="rect">
            <a:avLst/>
          </a:prstGeom>
          <a:solidFill>
            <a:srgbClr val="1A1A2E"/>
          </a:solidFill>
          <a:ln w="12700">
            <a:solidFill>
              <a:srgbClr val="F59E0B"/>
            </a:solidFill>
            <a:prstDash val="solid"/>
          </a:ln>
          <a:effectLst>
            <a:outerShdw sx="100000" sy="100000" kx="0" ky="0" algn="bl" rotWithShape="0" blurRad="152400" dist="50800" dir="8100000">
              <a:srgbClr val="000000">
                <a:alpha val="30000"/>
              </a:srgbClr>
            </a:outerShdw>
          </a:effectLst>
        </p:spPr>
      </p:sp>
      <p:sp>
        <p:nvSpPr>
          <p:cNvPr id="29" name="Shape 27"/>
          <p:cNvSpPr/>
          <p:nvPr/>
        </p:nvSpPr>
        <p:spPr>
          <a:xfrm>
            <a:off x="4663440" y="2423160"/>
            <a:ext cx="1920240" cy="54864"/>
          </a:xfrm>
          <a:prstGeom prst="rect">
            <a:avLst/>
          </a:prstGeom>
          <a:solidFill>
            <a:srgbClr val="F59E0B"/>
          </a:solidFill>
          <a:ln w="12700">
            <a:solidFill>
              <a:srgbClr val="F59E0B"/>
            </a:solidFill>
            <a:prstDash val="solid"/>
          </a:ln>
        </p:spPr>
      </p:sp>
      <p:sp>
        <p:nvSpPr>
          <p:cNvPr id="30" name="Text 28"/>
          <p:cNvSpPr/>
          <p:nvPr/>
        </p:nvSpPr>
        <p:spPr>
          <a:xfrm>
            <a:off x="4663440" y="2560320"/>
            <a:ext cx="1920240" cy="594360"/>
          </a:xfrm>
          <a:prstGeom prst="rect">
            <a:avLst/>
          </a:prstGeom>
          <a:noFill/>
          <a:ln/>
        </p:spPr>
        <p:txBody>
          <a:bodyPr wrap="square" lIns="0" tIns="0" rIns="0" bIns="0" rtlCol="0" anchor="ctr"/>
          <a:lstStyle/>
          <a:p>
            <a:pPr algn="ctr" indent="0" marL="0">
              <a:buNone/>
            </a:pPr>
            <a:r>
              <a:rPr lang="en-US" sz="3200" b="1" dirty="0">
                <a:solidFill>
                  <a:srgbClr val="F59E0B"/>
                </a:solidFill>
              </a:rPr>
              <a:t>46.4%</a:t>
            </a:r>
            <a:endParaRPr lang="en-US" sz="3200" dirty="0"/>
          </a:p>
        </p:txBody>
      </p:sp>
      <p:sp>
        <p:nvSpPr>
          <p:cNvPr id="31" name="Text 29"/>
          <p:cNvSpPr/>
          <p:nvPr/>
        </p:nvSpPr>
        <p:spPr>
          <a:xfrm>
            <a:off x="4663440" y="315468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Walkspan IoU</a:t>
            </a:r>
            <a:endParaRPr lang="en-US" sz="1000" dirty="0"/>
          </a:p>
          <a:p>
            <a:pPr algn="ctr" indent="0" marL="0">
              <a:buNone/>
            </a:pPr>
            <a:r>
              <a:rPr lang="en-US" sz="1000" dirty="0">
                <a:solidFill>
                  <a:srgbClr val="CBD5E1"/>
                </a:solidFill>
              </a:rPr>
              <a:t>CV Pipeline</a:t>
            </a:r>
            <a:endParaRPr lang="en-US" sz="1000" dirty="0"/>
          </a:p>
        </p:txBody>
      </p:sp>
      <p:sp>
        <p:nvSpPr>
          <p:cNvPr id="32" name="Shape 30"/>
          <p:cNvSpPr/>
          <p:nvPr/>
        </p:nvSpPr>
        <p:spPr>
          <a:xfrm>
            <a:off x="6766560" y="2423160"/>
            <a:ext cx="1920240" cy="1188720"/>
          </a:xfrm>
          <a:prstGeom prst="rect">
            <a:avLst/>
          </a:prstGeom>
          <a:solidFill>
            <a:srgbClr val="1A1A2E"/>
          </a:solidFill>
          <a:ln w="12700">
            <a:solidFill>
              <a:srgbClr val="10B981"/>
            </a:solidFill>
            <a:prstDash val="solid"/>
          </a:ln>
          <a:effectLst>
            <a:outerShdw sx="100000" sy="100000" kx="0" ky="0" algn="bl" rotWithShape="0" blurRad="152400" dist="50800" dir="8100000">
              <a:srgbClr val="000000">
                <a:alpha val="30000"/>
              </a:srgbClr>
            </a:outerShdw>
          </a:effectLst>
        </p:spPr>
      </p:sp>
      <p:sp>
        <p:nvSpPr>
          <p:cNvPr id="33" name="Shape 31"/>
          <p:cNvSpPr/>
          <p:nvPr/>
        </p:nvSpPr>
        <p:spPr>
          <a:xfrm>
            <a:off x="6766560" y="2423160"/>
            <a:ext cx="1920240" cy="54864"/>
          </a:xfrm>
          <a:prstGeom prst="rect">
            <a:avLst/>
          </a:prstGeom>
          <a:solidFill>
            <a:srgbClr val="10B981"/>
          </a:solidFill>
          <a:ln w="12700">
            <a:solidFill>
              <a:srgbClr val="10B981"/>
            </a:solidFill>
            <a:prstDash val="solid"/>
          </a:ln>
        </p:spPr>
      </p:sp>
      <p:sp>
        <p:nvSpPr>
          <p:cNvPr id="34" name="Text 32"/>
          <p:cNvSpPr/>
          <p:nvPr/>
        </p:nvSpPr>
        <p:spPr>
          <a:xfrm>
            <a:off x="6766560" y="2560320"/>
            <a:ext cx="1920240" cy="594360"/>
          </a:xfrm>
          <a:prstGeom prst="rect">
            <a:avLst/>
          </a:prstGeom>
          <a:noFill/>
          <a:ln/>
        </p:spPr>
        <p:txBody>
          <a:bodyPr wrap="square" lIns="0" tIns="0" rIns="0" bIns="0" rtlCol="0" anchor="ctr"/>
          <a:lstStyle/>
          <a:p>
            <a:pPr algn="ctr" indent="0" marL="0">
              <a:buNone/>
            </a:pPr>
            <a:r>
              <a:rPr lang="en-US" sz="3200" b="1" dirty="0">
                <a:solidFill>
                  <a:srgbClr val="10B981"/>
                </a:solidFill>
              </a:rPr>
              <a:t>2,000+</a:t>
            </a:r>
            <a:endParaRPr lang="en-US" sz="3200" dirty="0"/>
          </a:p>
        </p:txBody>
      </p:sp>
      <p:sp>
        <p:nvSpPr>
          <p:cNvPr id="35" name="Text 33"/>
          <p:cNvSpPr/>
          <p:nvPr/>
        </p:nvSpPr>
        <p:spPr>
          <a:xfrm>
            <a:off x="6766560" y="3154680"/>
            <a:ext cx="1920240" cy="365760"/>
          </a:xfrm>
          <a:prstGeom prst="rect">
            <a:avLst/>
          </a:prstGeom>
          <a:noFill/>
          <a:ln/>
        </p:spPr>
        <p:txBody>
          <a:bodyPr wrap="square" lIns="0" tIns="0" rIns="0" bIns="0" rtlCol="0" anchor="ctr"/>
          <a:lstStyle/>
          <a:p>
            <a:pPr algn="ctr" indent="0" marL="0">
              <a:buNone/>
            </a:pPr>
            <a:r>
              <a:rPr lang="en-US" sz="1000" dirty="0">
                <a:solidFill>
                  <a:srgbClr val="CBD5E1"/>
                </a:solidFill>
              </a:rPr>
              <a:t>Customers</a:t>
            </a:r>
            <a:endParaRPr lang="en-US" sz="1000" dirty="0"/>
          </a:p>
          <a:p>
            <a:pPr algn="ctr" indent="0" marL="0">
              <a:buNone/>
            </a:pPr>
            <a:r>
              <a:rPr lang="en-US" sz="1000" dirty="0">
                <a:solidFill>
                  <a:srgbClr val="CBD5E1"/>
                </a:solidFill>
              </a:rPr>
              <a:t>Dhimix Pro Svcs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1B4B"/>
        </a:solidFill>
      </p:bgPr>
    </p:bg>
    <p:spTree>
      <p:nvGrpSpPr>
        <p:cNvPr id="1" name=""/>
        <p:cNvGrpSpPr/>
        <p:nvPr/>
      </p:nvGrpSpPr>
      <p:grpSpPr>
        <a:xfrm>
          <a:off x="0" y="0"/>
          <a:ext cx="0" cy="0"/>
          <a:chOff x="0" y="0"/>
          <a:chExt cx="0" cy="0"/>
        </a:xfrm>
      </p:grpSpPr>
      <p:sp>
        <p:nvSpPr>
          <p:cNvPr id="2" name="Text 0"/>
          <p:cNvSpPr/>
          <p:nvPr/>
        </p:nvSpPr>
        <p:spPr>
          <a:xfrm>
            <a:off x="8686800" y="4754880"/>
            <a:ext cx="365760" cy="274320"/>
          </a:xfrm>
          <a:prstGeom prst="rect">
            <a:avLst/>
          </a:prstGeom>
          <a:noFill/>
          <a:ln/>
        </p:spPr>
        <p:txBody>
          <a:bodyPr wrap="square" rtlCol="0" anchor="ctr"/>
          <a:lstStyle/>
          <a:p>
            <a:pPr algn="r" indent="0" marL="0">
              <a:buNone/>
            </a:pPr>
            <a:r>
              <a:rPr lang="en-US" sz="900" dirty="0">
                <a:solidFill>
                  <a:srgbClr val="94A3B8"/>
                </a:solidFill>
              </a:rPr>
              <a:t>20</a:t>
            </a:r>
            <a:endParaRPr lang="en-US" sz="900" dirty="0"/>
          </a:p>
        </p:txBody>
      </p:sp>
      <p:sp>
        <p:nvSpPr>
          <p:cNvPr id="3" name="Shape 1"/>
          <p:cNvSpPr/>
          <p:nvPr/>
        </p:nvSpPr>
        <p:spPr>
          <a:xfrm>
            <a:off x="0" y="0"/>
            <a:ext cx="73152" cy="5143500"/>
          </a:xfrm>
          <a:prstGeom prst="rect">
            <a:avLst/>
          </a:prstGeom>
          <a:solidFill>
            <a:srgbClr val="7C3AED"/>
          </a:solidFill>
          <a:ln w="12700">
            <a:solidFill>
              <a:srgbClr val="7C3AED"/>
            </a:solidFill>
            <a:prstDash val="solid"/>
          </a:ln>
        </p:spPr>
      </p:sp>
      <p:sp>
        <p:nvSpPr>
          <p:cNvPr id="4" name="Shape 2"/>
          <p:cNvSpPr/>
          <p:nvPr/>
        </p:nvSpPr>
        <p:spPr>
          <a:xfrm>
            <a:off x="3657600" y="914400"/>
            <a:ext cx="4572000" cy="3657600"/>
          </a:xfrm>
          <a:prstGeom prst="ellipse">
            <a:avLst/>
          </a:prstGeom>
          <a:solidFill>
            <a:srgbClr val="7C3AED">
              <a:alpha val="12000"/>
            </a:srgbClr>
          </a:solidFill>
          <a:ln w="12700">
            <a:solidFill>
              <a:srgbClr val="7C3AED">
                <a:alpha val="12000"/>
              </a:srgbClr>
            </a:solidFill>
            <a:prstDash val="solid"/>
          </a:ln>
        </p:spPr>
      </p:sp>
      <p:sp>
        <p:nvSpPr>
          <p:cNvPr id="5" name="Text 3"/>
          <p:cNvSpPr/>
          <p:nvPr/>
        </p:nvSpPr>
        <p:spPr>
          <a:xfrm>
            <a:off x="457200" y="640080"/>
            <a:ext cx="8229600" cy="914400"/>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6" name="Text 4"/>
          <p:cNvSpPr/>
          <p:nvPr/>
        </p:nvSpPr>
        <p:spPr>
          <a:xfrm>
            <a:off x="457200" y="1600200"/>
            <a:ext cx="8229600" cy="502920"/>
          </a:xfrm>
          <a:prstGeom prst="rect">
            <a:avLst/>
          </a:prstGeom>
          <a:noFill/>
          <a:ln/>
        </p:spPr>
        <p:txBody>
          <a:bodyPr wrap="square" rtlCol="0" anchor="ctr"/>
          <a:lstStyle/>
          <a:p>
            <a:pPr algn="ctr" indent="0" marL="0">
              <a:buNone/>
            </a:pPr>
            <a:r>
              <a:rPr lang="en-US" sz="1600" i="1" dirty="0">
                <a:solidFill>
                  <a:srgbClr val="DDD6FE"/>
                </a:solidFill>
              </a:rPr>
              <a:t>"Explainability is not a feature. It is architecture."</a:t>
            </a:r>
            <a:endParaRPr lang="en-US" sz="1600" dirty="0"/>
          </a:p>
        </p:txBody>
      </p:sp>
      <p:sp>
        <p:nvSpPr>
          <p:cNvPr id="7" name="Shape 5"/>
          <p:cNvSpPr/>
          <p:nvPr/>
        </p:nvSpPr>
        <p:spPr>
          <a:xfrm>
            <a:off x="2743200" y="2240280"/>
            <a:ext cx="3657600" cy="27432"/>
          </a:xfrm>
          <a:prstGeom prst="rect">
            <a:avLst/>
          </a:prstGeom>
          <a:solidFill>
            <a:srgbClr val="06B6D4"/>
          </a:solidFill>
          <a:ln w="12700">
            <a:solidFill>
              <a:srgbClr val="06B6D4"/>
            </a:solidFill>
            <a:prstDash val="solid"/>
          </a:ln>
        </p:spPr>
      </p:sp>
      <p:sp>
        <p:nvSpPr>
          <p:cNvPr id="8" name="Text 6"/>
          <p:cNvSpPr/>
          <p:nvPr/>
        </p:nvSpPr>
        <p:spPr>
          <a:xfrm>
            <a:off x="1828800" y="2468880"/>
            <a:ext cx="5486400" cy="320040"/>
          </a:xfrm>
          <a:prstGeom prst="rect">
            <a:avLst/>
          </a:prstGeom>
          <a:noFill/>
          <a:ln/>
        </p:spPr>
        <p:txBody>
          <a:bodyPr wrap="square" rtlCol="0" anchor="ctr"/>
          <a:lstStyle/>
          <a:p>
            <a:pPr algn="ctr" indent="0" marL="0">
              <a:buNone/>
            </a:pPr>
            <a:r>
              <a:rPr lang="en-US" sz="1200" b="1" dirty="0">
                <a:solidFill>
                  <a:srgbClr val="FFFFFF"/>
                </a:solidFill>
              </a:rPr>
              <a:t>Dhimy Jean</a:t>
            </a:r>
            <a:endParaRPr lang="en-US" sz="1200" dirty="0"/>
          </a:p>
        </p:txBody>
      </p:sp>
      <p:sp>
        <p:nvSpPr>
          <p:cNvPr id="9" name="Text 7"/>
          <p:cNvSpPr/>
          <p:nvPr/>
        </p:nvSpPr>
        <p:spPr>
          <a:xfrm>
            <a:off x="1828800" y="2807208"/>
            <a:ext cx="5486400" cy="320040"/>
          </a:xfrm>
          <a:prstGeom prst="rect">
            <a:avLst/>
          </a:prstGeom>
          <a:noFill/>
          <a:ln/>
        </p:spPr>
        <p:txBody>
          <a:bodyPr wrap="square" rtlCol="0" anchor="ctr"/>
          <a:lstStyle/>
          <a:p>
            <a:pPr algn="ctr" indent="0" marL="0">
              <a:buNone/>
            </a:pPr>
            <a:r>
              <a:rPr lang="en-US" sz="1200" dirty="0">
                <a:solidFill>
                  <a:srgbClr val="94A3B8"/>
                </a:solidFill>
              </a:rPr>
              <a:t>BMCC CS · CodePath AI110</a:t>
            </a:r>
            <a:endParaRPr lang="en-US" sz="1200" dirty="0"/>
          </a:p>
        </p:txBody>
      </p:sp>
      <p:sp>
        <p:nvSpPr>
          <p:cNvPr id="10" name="Text 8"/>
          <p:cNvSpPr/>
          <p:nvPr/>
        </p:nvSpPr>
        <p:spPr>
          <a:xfrm>
            <a:off x="1828800" y="3145536"/>
            <a:ext cx="5486400" cy="320040"/>
          </a:xfrm>
          <a:prstGeom prst="rect">
            <a:avLst/>
          </a:prstGeom>
          <a:noFill/>
          <a:ln/>
        </p:spPr>
        <p:txBody>
          <a:bodyPr wrap="square" rtlCol="0" anchor="ctr"/>
          <a:lstStyle/>
          <a:p>
            <a:pPr algn="ctr" indent="0" marL="0">
              <a:buNone/>
            </a:pPr>
            <a:r>
              <a:rPr lang="en-US" sz="1200" dirty="0">
                <a:solidFill>
                  <a:srgbClr val="DDD6FE"/>
                </a:solidFill>
              </a:rPr>
              <a:t>dhimysoft@gmail.com</a:t>
            </a:r>
            <a:endParaRPr lang="en-US" sz="1200" dirty="0"/>
          </a:p>
        </p:txBody>
      </p:sp>
      <p:sp>
        <p:nvSpPr>
          <p:cNvPr id="11" name="Text 9"/>
          <p:cNvSpPr/>
          <p:nvPr/>
        </p:nvSpPr>
        <p:spPr>
          <a:xfrm>
            <a:off x="1828800" y="3483864"/>
            <a:ext cx="5486400" cy="320040"/>
          </a:xfrm>
          <a:prstGeom prst="rect">
            <a:avLst/>
          </a:prstGeom>
          <a:noFill/>
          <a:ln/>
        </p:spPr>
        <p:txBody>
          <a:bodyPr wrap="square" rtlCol="0" anchor="ctr"/>
          <a:lstStyle/>
          <a:p>
            <a:pPr algn="ctr" indent="0" marL="0">
              <a:buNone/>
            </a:pPr>
            <a:r>
              <a:rPr lang="en-US" sz="1200" dirty="0">
                <a:solidFill>
                  <a:srgbClr val="DDD6FE"/>
                </a:solidFill>
              </a:rPr>
              <a:t>linkedin.com/in/dhimy-jean</a:t>
            </a:r>
            <a:endParaRPr lang="en-US" sz="1200" dirty="0"/>
          </a:p>
        </p:txBody>
      </p:sp>
      <p:sp>
        <p:nvSpPr>
          <p:cNvPr id="12" name="Text 10"/>
          <p:cNvSpPr/>
          <p:nvPr/>
        </p:nvSpPr>
        <p:spPr>
          <a:xfrm>
            <a:off x="1828800" y="3822192"/>
            <a:ext cx="5486400" cy="320040"/>
          </a:xfrm>
          <a:prstGeom prst="rect">
            <a:avLst/>
          </a:prstGeom>
          <a:noFill/>
          <a:ln/>
        </p:spPr>
        <p:txBody>
          <a:bodyPr wrap="square" rtlCol="0" anchor="ctr"/>
          <a:lstStyle/>
          <a:p>
            <a:pPr algn="ctr" indent="0" marL="0">
              <a:buNone/>
            </a:pPr>
            <a:r>
              <a:rPr lang="en-US" sz="1200" dirty="0">
                <a:solidFill>
                  <a:srgbClr val="DDD6FE"/>
                </a:solidFill>
              </a:rPr>
              <a:t>github.com/dhimysoft</a:t>
            </a:r>
            <a:endParaRPr lang="en-US" sz="1200" dirty="0"/>
          </a:p>
        </p:txBody>
      </p:sp>
      <p:sp>
        <p:nvSpPr>
          <p:cNvPr id="13" name="Text 11"/>
          <p:cNvSpPr/>
          <p:nvPr/>
        </p:nvSpPr>
        <p:spPr>
          <a:xfrm>
            <a:off x="1828800" y="4297680"/>
            <a:ext cx="5486400" cy="320040"/>
          </a:xfrm>
          <a:prstGeom prst="rect">
            <a:avLst/>
          </a:prstGeom>
          <a:noFill/>
          <a:ln/>
        </p:spPr>
        <p:txBody>
          <a:bodyPr wrap="square" rtlCol="0" anchor="ctr"/>
          <a:lstStyle/>
          <a:p>
            <a:pPr algn="ctr" indent="0" marL="0">
              <a:buNone/>
            </a:pPr>
            <a:r>
              <a:rPr lang="en-US" sz="1200" b="1" dirty="0">
                <a:solidFill>
                  <a:srgbClr val="06B6D4"/>
                </a:solidFill>
              </a:rPr>
              <a:t>dhimysoft/dhimix-ai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DHIMIX AI — Engineering Intelligence Through Systems</dc:title>
  <dc:subject>PptxGenJS Presentation</dc:subject>
  <dc:creator>Dhimy Jean</dc:creator>
  <cp:lastModifiedBy>Dhimy Jean</cp:lastModifiedBy>
  <cp:revision>1</cp:revision>
  <dcterms:created xsi:type="dcterms:W3CDTF">2026-05-28T17:31:10Z</dcterms:created>
  <dcterms:modified xsi:type="dcterms:W3CDTF">2026-05-28T17:31:10Z</dcterms:modified>
</cp:coreProperties>
</file>